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ecap" id="{4adefcb3-61d6-625c-bf22-63c68b0ed023}">
          <p14:sldIdLst>
            <p14:sldId id="256"/>
            <p14:sldId id="257"/>
          </p14:sldIdLst>
        </p14:section>
        <p14:section name="Problem" id="{dd4b4a14-0b9f-5830-f16d-7044d0e8c5a9}">
          <p14:sldIdLst>
            <p14:sldId id="258"/>
            <p14:sldId id="259"/>
          </p14:sldIdLst>
        </p14:section>
        <p14:section name="Solution" id="{f6354bd2-c98f-c35d-b730-381b700ce511}">
          <p14:sldIdLst>
            <p14:sldId id="260"/>
            <p14:sldId id="261"/>
          </p14:sldIdLst>
        </p14:section>
        <p14:section name="Deep Dive" id="{8cfb0071-07c0-1c96-dc9e-57f1dd90de4b}">
          <p14:sldIdLst>
            <p14:sldId id="262"/>
            <p14:sldId id="263"/>
            <p14:sldId id="264"/>
            <p14:sldId id="265"/>
            <p14:sldId id="266"/>
            <p14:sldId id="267"/>
            <p14:sldId id="268"/>
          </p14:sldIdLst>
        </p14:section>
        <p14:section name="Impact" id="{fe74fa7c-5c96-efb3-2d5b-5faa2d15b290}">
          <p14:sldIdLst>
            <p14:sldId id="269"/>
            <p14:sldId id="270"/>
            <p14:sldId id="271"/>
            <p14:sldId id="272"/>
          </p14:sldIdLst>
        </p14:section>
        <p14:section name="Next" id="{8acb30bd-33c0-6d41-a17e-fd4d2099a006}">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This is Review 2 of ULTRON. In Review 1 we showed the vision: a Jarvis-style companion. Today we show what it has become: an agentic AI that actually operates a Windows laptop - opening and closing apps, creating folders, typing, searching - from a sentence in Telugu and English. I'll cover the real-time problem, how the agent works, what is unique, and then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Review 1 presented ULTRON as a gesture-controlled, memory-aware companion with a keyword-based intent router. In our own future-scope slide we said the next step was smarter intents - replacing keywords with an LLM. That is exactly what version 2 delivers: Gemini function calling decides which tool to run. The project has moved from a companion that mostly talks, to an agent that 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real-time and everyday. When you work on a laptop, tiny chores - open an app, find a folder, search something, take a screenshot - each need several clicks and window switches, and every switch breaks your flow. Chatbots don't help here, because they only tell you how to do it. And many of us naturally mix Telugu and English, which rigid command grammars cannot parse. The strip at the bottom shows one illustrative task: by hand it is many separate actions; with ULTRON it is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problem on the previous slide maps to a concrete design decision in the code. Repetition is solved by function calling over 27 tools. Broken flow is solved by a tray app you summon with Ctrl+Shift+U. The language gap is handled in the system prompt - the model is told to speak the user's Telugu plus English mix. And 'bots that only talk' is solved by instructing the model to never just describe, always execute through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chatbot takes input and returns text. An agent perceives a goal, chooses actions, performs them in the environment, observes the result, and then responds. In ULTRON the environment is the Windows laptop, the actions are the 27 tools, and Gemini is the decision-maker. That difference - the model's output is an action, not just words - is what we mean by agentic.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v2 architecture. Input comes from the chat box or voice. The React and Three.js renderer shows the orb and chat. The preload script is a secure IPC bridge - it exposes only a window.ultron API to the UI. The Electron main process hosts the Agent: the reasoning loop, the 27-way tool dispatcher, and model rotation. Externally the agent talks to the Gemini API for decisions and to Windows itself through cmd, PowerShell, the file system and user32. Responses flow back up the same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steps. One: the UI sends the message over IPC. Two: the main process builds a Gemini chat with the system prompt, recent history, and the 27 tool declarations. Three: Gemini does not answer in text - it returns function calls with a name and JSON arguments. Four: executeTool runs each call on Windows. Five: the result strings go back to Gemini as function responses. Six: Gemini writes a short confirmation. The trace at the bottom shows one real command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'operating all the apps'. To open: the name is normalised, looked up in an alias map of 21 entries, and launched with the Windows start command. Store-style apps use URI schemes like ms-clock: or spotify:. If the name is unknown we fall back to 'start &lt;name&gt;', so anything registered with Windows can still open. To close: the alias is mapped to a process name - for example calculator becomes CalculatorApp - and taskkill force-closes it, retrying without the .exe extension. Two awareness tools, list_running_apps and list_installed_apps, let the agent check state before acting.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ULTRON can do is declared to Gemini as a function. Apps, files and folders, browser and search, keyboard input, window and system, media, and a few productivity helpers. Adding a capability means adding one declaration and one case in the dispatcher - the model learns to use it automatically from the description. The big number at the end is the total: 27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examples. The first three come straight from our README. Notepad: the model calls write_notepad, we save the text to a temp file and open it in Notepad. Folder: a relative path like 'Projects' is resolved to the Desktop and created. YouTube: the query is URL-encoded and opened in the default browser. The last row is the chained case: Gemini can return several function calls in one response and ULTRON runs them in order - opening Chrome, then searching. I will show the first few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 tools use different Windows mechanisms. The shell start command launches apps and URLs. PowerShell with .NET SendKeys types text and presses shortcuts - we escape special characters so text is typed literally. Media keys use an inline C# call to user32 keybd_event. Screenshots use System.Drawing CopyFromScreen. File operations use Node's fs module. And run_powershell is the escape hatch for anything else. No third-party automation library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Real-time use breaks when an API hits its rate limit. ULTRON keeps a list of eight Gemini model candidates. If a request fails with a rate-limit, quota, resource-exhausted or model-not-found error, switchModel moves to the next one and retries the same message - up to eight attempts. Only then do we show a friendly message. Tool failures are caught individually and returned to the model, which is instructed to try an alternative. History is capped so context stays small and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mock-up reflects the actual v2 window. On the left the Three.js orb with a status dot and the current Gemini model. On the right the chat panel: each assistant reply lists the tools it used, so actions are transparent. Voice uses the browser Web Speech API in English-India with interim results, so subtitles appear live and the final phrase is sent automatically. The app lives in the system tray and Ctrl+Shift+U shows or hides it from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things set ULTRON apart. First and most important, it acts - the model's output is a tool call, not just text. Second, it is built for code-mixed Telugu and English. Third, it does not stall: eight Gemini models rotate when limits hit. Fourth, it is an always-available desktop presence with voice and a tray shortcut. Fifth, it is extensible: no training and no hand-written grammar - a new capability is one declaration plus one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extends the background-work slide from Review 1 using the same three categories. Conversational assistants understand language but are closed platforms with limited desktop control. Automation tools control the desktop but need scripts written by the user. ULTRON combines natural language with real control. The Telugu plus English row is a design goal of our system prompt, not a claim about benchmarks.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ULTRON evolves across reviews. Version 1, presented in Review 1, was the companion: orb, gestures, memory. Version 2, today, is the agent: tool calling, 27 tools, Telugu plus English, rotation, tray and voice. To be transparent: gesture control and SQLite memory were part of the v1 prototype and are not yet merged into the v2 code - bringing them back is part of version 3, along with an iterative planning loop and safety confirmations.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be upfront about limits, because they define version 3. Delete and run_powershell currently run without asking the user - we will add confirmations. Volume is approximate because it simulates key presses. Spotify and alarm tools open the app but do not automate the search or alarm yet. Window layout is best-effort using Win+Arrow keys. The agent runs one round of tool calls per message and keeps chat history only in memory. Finally, the API key is read from a .env file and must never be committed to version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demo in this order: it starts simple and ends with the screenshot. Before starting, make sure the .env file contains the Gemini key, run npm install and npm run dev - or launch the packaged portable exe. Keep Chrome and Notepad closed at the start so the open and close actions are visible. If a model is rate-limited, point at the model tag in the orb status - it will rotate by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directions for version 3. An iterative loop so ULTRON can plan multi-step tasks and re-plan after each result. Safety guardrails with confirmation before destructive actions. Persistent memory, bringing back the SQLite work from Review 1. Gesture control and wake-word for hands-free use. Screen vision - send a screenshot to Gemini so the agent can see what is on the display. And Android control, the original long-term 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To summarise: the real-time problem is repetitive desktop chores, broken flow and a language gap. ULTRON answers it with an agentic design - Gemini function calling over 27 Windows tools - built for Telugu plus English, resilient through model rotation. We welcome your questions and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rtlCol="0"/>
          <a:lstStyle>
            <a:lvl1pPr indent="0" marL="0">
              <a:buNone/>
              <a:defRPr lang="en-US" sz="1100" b="1" spc="300" kern="0" dirty="0">
                <a:solidFill>
                  <a:schemeClr val="accent1"/>
                </a:solidFill>
              </a:defRPr>
            </a:lvl1pPr>
          </a:lstStyle>
          <a:p>
            <a:pPr indent="0" marL="0">
              <a:buNone/>
            </a:pPr>
            <a:endParaRPr lang="en-US" sz="1100" dirty="0"/>
          </a:p>
        </p:txBody>
      </p:sp>
      <p:sp>
        <p:nvSpPr>
          <p:cNvPr id="3" name="Text 0"/>
          <p:cNvSpPr/>
          <p:nvPr>
            <p:ph idx="101" type="title" hasCustomPrompt="1"/>
          </p:nvPr>
        </p:nvSpPr>
        <p:spPr>
          <a:xfrm>
            <a:off x="548640" y="640080"/>
            <a:ext cx="11091672" cy="68580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4" name="Text 0"/>
          <p:cNvSpPr txBox="1"/>
          <p:nvPr/>
        </p:nvSpPr>
        <p:spPr>
          <a:xfrm>
            <a:off x="548640" y="6437376"/>
            <a:ext cx="5486400" cy="228600"/>
          </a:xfrm>
          <a:prstGeom prst="rect">
            <a:avLst/>
          </a:prstGeom>
          <a:noFill/>
          <a:ln/>
        </p:spPr>
        <p:txBody>
          <a:bodyPr wrap="square" lIns="0" tIns="0" rIns="0" bIns="0" rtlCol="0" anchor="ctr"/>
          <a:lstStyle/>
          <a:p>
            <a:pPr indent="0" marL="0">
              <a:buNone/>
            </a:pPr>
            <a:r>
              <a:rPr lang="en-US" sz="1000" dirty="0">
                <a:solidFill>
                  <a:schemeClr val="tx2"/>
                </a:solidFill>
              </a:rPr>
              <a:t>ULTRON  ·  PROJECT REVIEW 2</a:t>
            </a:r>
            <a:endParaRPr lang="en-US" sz="1000" dirty="0"/>
          </a:p>
        </p:txBody>
      </p:sp>
      <p:sp>
        <p:nvSpPr>
          <p:cNvPr id="25" name="Slide Number Placeholder 0"/>
          <p:cNvSpPr>
            <a:spLocks noGrp="1"/>
          </p:cNvSpPr>
          <p:nvPr>
            <p:ph type="sldNum" sz="quarter" idx="4294967295"/>
          </p:nvPr>
        </p:nvSpPr>
        <p:spPr>
          <a:xfrm>
            <a:off x="10972800" y="6437376"/>
            <a:ext cx="667512"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ERO">
    <p:bg>
      <p:bgPr>
        <a:solidFill>
          <a:schemeClr val="bg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37376"/>
            <a:ext cx="667512"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github.com/ZAHEER-R/Ultron" TargetMode="External"/><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slideLayout" Target="../slideLayouts/slideLayout2.xml"/><Relationship Id="rId1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2.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2.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2.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github.com/ZAHEER-R/Ultron" TargetMode="External"/><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2.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github.com/ZAHEER-R/Ultron" TargetMode="External"/><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731520" y="822960"/>
            <a:ext cx="548640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PROJECT REVIEW — 2</a:t>
            </a:r>
            <a:endParaRPr lang="en-US" sz="1200" dirty="0"/>
          </a:p>
        </p:txBody>
      </p:sp>
      <p:sp>
        <p:nvSpPr>
          <p:cNvPr id="4" name="Text 1"/>
          <p:cNvSpPr txBox="1"/>
          <p:nvPr/>
        </p:nvSpPr>
        <p:spPr>
          <a:xfrm>
            <a:off x="731520" y="1417320"/>
            <a:ext cx="7680960" cy="914400"/>
          </a:xfrm>
          <a:prstGeom prst="rect">
            <a:avLst/>
          </a:prstGeom>
          <a:noFill/>
          <a:ln/>
        </p:spPr>
        <p:txBody>
          <a:bodyPr wrap="square" lIns="0" tIns="0" rIns="0" bIns="0" rtlCol="0" anchor="t"/>
          <a:lstStyle/>
          <a:p>
            <a:pPr indent="0" marL="0">
              <a:buNone/>
            </a:pPr>
            <a:r>
              <a:rPr lang="en-US" sz="5400" b="1" spc="400" kern="0" dirty="0">
                <a:solidFill>
                  <a:schemeClr val="tx1"/>
                </a:solidFill>
                <a:latin typeface="Cambria" pitchFamily="34" charset="0"/>
                <a:ea typeface="Cambria" pitchFamily="34" charset="-122"/>
                <a:cs typeface="Cambria" pitchFamily="34" charset="-120"/>
              </a:rPr>
              <a:t>U . L . T . R . O . N</a:t>
            </a:r>
            <a:endParaRPr lang="en-US" sz="5400" dirty="0"/>
          </a:p>
        </p:txBody>
      </p:sp>
      <p:sp>
        <p:nvSpPr>
          <p:cNvPr id="5" name="Text 2"/>
          <p:cNvSpPr txBox="1"/>
          <p:nvPr/>
        </p:nvSpPr>
        <p:spPr>
          <a:xfrm>
            <a:off x="731520" y="2514600"/>
            <a:ext cx="7498080" cy="457200"/>
          </a:xfrm>
          <a:prstGeom prst="rect">
            <a:avLst/>
          </a:prstGeom>
          <a:noFill/>
          <a:ln/>
        </p:spPr>
        <p:txBody>
          <a:bodyPr wrap="square" lIns="0" tIns="0" rIns="0" bIns="0" rtlCol="0" anchor="t"/>
          <a:lstStyle/>
          <a:p>
            <a:pPr indent="0" marL="0">
              <a:buNone/>
            </a:pPr>
            <a:r>
              <a:rPr lang="en-US" sz="2400" b="1" dirty="0">
                <a:solidFill>
                  <a:schemeClr val="accent2"/>
                </a:solidFill>
              </a:rPr>
              <a:t>An Agentic AI Desktop Controller</a:t>
            </a:r>
            <a:endParaRPr lang="en-US" sz="2400" dirty="0"/>
          </a:p>
        </p:txBody>
      </p:sp>
      <p:sp>
        <p:nvSpPr>
          <p:cNvPr id="6" name="Text 3"/>
          <p:cNvSpPr txBox="1"/>
          <p:nvPr/>
        </p:nvSpPr>
        <p:spPr>
          <a:xfrm>
            <a:off x="731520" y="3063240"/>
            <a:ext cx="6949440" cy="822960"/>
          </a:xfrm>
          <a:prstGeom prst="rect">
            <a:avLst/>
          </a:prstGeom>
          <a:noFill/>
          <a:ln/>
        </p:spPr>
        <p:txBody>
          <a:bodyPr wrap="square" lIns="0" tIns="0" rIns="0" bIns="0" rtlCol="0" anchor="t"/>
          <a:lstStyle/>
          <a:p>
            <a:pPr indent="0" marL="0">
              <a:buNone/>
            </a:pPr>
            <a:r>
              <a:rPr lang="en-US" sz="1600" dirty="0">
                <a:solidFill>
                  <a:schemeClr val="tx2"/>
                </a:solidFill>
              </a:rPr>
              <a:t>Speak or type in Telugu + English — ULTRON decides which tools to use, then opens, closes and operates your Windows apps for you.</a:t>
            </a:r>
            <a:endParaRPr lang="en-US" sz="1600" dirty="0"/>
          </a:p>
        </p:txBody>
      </p:sp>
      <p:sp>
        <p:nvSpPr>
          <p:cNvPr id="7" name="team-card"/>
          <p:cNvSpPr/>
          <p:nvPr/>
        </p:nvSpPr>
        <p:spPr>
          <a:xfrm>
            <a:off x="731520" y="4251960"/>
            <a:ext cx="6949440" cy="1325880"/>
          </a:xfrm>
          <a:prstGeom prst="roundRect">
            <a:avLst>
              <a:gd name="adj" fmla="val 5517"/>
            </a:avLst>
          </a:prstGeom>
          <a:solidFill>
            <a:schemeClr val="bg2"/>
          </a:solidFill>
          <a:ln w="9525">
            <a:solidFill>
              <a:schemeClr val="accent3"/>
            </a:solidFill>
            <a:prstDash val="solid"/>
          </a:ln>
        </p:spPr>
      </p:sp>
      <p:sp>
        <p:nvSpPr>
          <p:cNvPr id="8" name="Text 5"/>
          <p:cNvSpPr txBox="1"/>
          <p:nvPr/>
        </p:nvSpPr>
        <p:spPr>
          <a:xfrm>
            <a:off x="960120" y="4389120"/>
            <a:ext cx="1828800" cy="228600"/>
          </a:xfrm>
          <a:prstGeom prst="rect">
            <a:avLst/>
          </a:prstGeom>
          <a:noFill/>
          <a:ln/>
        </p:spPr>
        <p:txBody>
          <a:bodyPr wrap="square" lIns="0" tIns="0" rIns="0" bIns="0" rtlCol="0" anchor="t"/>
          <a:lstStyle/>
          <a:p>
            <a:pPr indent="0" marL="0">
              <a:buNone/>
            </a:pPr>
            <a:r>
              <a:rPr lang="en-US" sz="1000" b="1" spc="300" kern="0" dirty="0">
                <a:solidFill>
                  <a:schemeClr val="accent1"/>
                </a:solidFill>
              </a:rPr>
              <a:t>TEAM</a:t>
            </a:r>
            <a:endParaRPr lang="en-US" sz="1000" dirty="0"/>
          </a:p>
        </p:txBody>
      </p:sp>
      <p:sp>
        <p:nvSpPr>
          <p:cNvPr id="9" name="Text 6"/>
          <p:cNvSpPr txBox="1"/>
          <p:nvPr/>
        </p:nvSpPr>
        <p:spPr>
          <a:xfrm>
            <a:off x="960120" y="4681728"/>
            <a:ext cx="3108960" cy="731520"/>
          </a:xfrm>
          <a:prstGeom prst="rect">
            <a:avLst/>
          </a:prstGeom>
          <a:noFill/>
          <a:ln/>
        </p:spPr>
        <p:txBody>
          <a:bodyPr wrap="square" lIns="0" tIns="0" rIns="0" bIns="0" rtlCol="0" anchor="t"/>
          <a:lstStyle/>
          <a:p>
            <a:pPr indent="0" marL="0">
              <a:buNone/>
            </a:pPr>
            <a:r>
              <a:rPr lang="en-US" sz="1500" b="1" dirty="0">
                <a:solidFill>
                  <a:schemeClr val="tx1"/>
                </a:solidFill>
              </a:rPr>
              <a:t>Rachakula Zaheer</a:t>
            </a:r>
            <a:endParaRPr lang="en-US" sz="1500" dirty="0"/>
          </a:p>
          <a:p>
            <a:pPr indent="0" marL="0">
              <a:buNone/>
            </a:pPr>
            <a:r>
              <a:rPr lang="en-US" sz="1500" dirty="0">
                <a:solidFill>
                  <a:schemeClr val="tx2"/>
                </a:solidFill>
              </a:rPr>
              <a:t>Reg. No: 24MIS0203</a:t>
            </a:r>
            <a:endParaRPr lang="en-US" sz="1500" dirty="0"/>
          </a:p>
        </p:txBody>
      </p:sp>
      <p:sp>
        <p:nvSpPr>
          <p:cNvPr id="10" name="Text 7"/>
          <p:cNvSpPr txBox="1"/>
          <p:nvPr/>
        </p:nvSpPr>
        <p:spPr>
          <a:xfrm>
            <a:off x="4206240" y="4681728"/>
            <a:ext cx="3108960" cy="731520"/>
          </a:xfrm>
          <a:prstGeom prst="rect">
            <a:avLst/>
          </a:prstGeom>
          <a:noFill/>
          <a:ln/>
        </p:spPr>
        <p:txBody>
          <a:bodyPr wrap="square" lIns="0" tIns="0" rIns="0" bIns="0" rtlCol="0" anchor="t"/>
          <a:lstStyle/>
          <a:p>
            <a:pPr indent="0" marL="0">
              <a:buNone/>
            </a:pPr>
            <a:r>
              <a:rPr lang="en-US" sz="1500" b="1" dirty="0">
                <a:solidFill>
                  <a:schemeClr val="tx1"/>
                </a:solidFill>
              </a:rPr>
              <a:t>S. Manoj Goud</a:t>
            </a:r>
            <a:endParaRPr lang="en-US" sz="1500" dirty="0"/>
          </a:p>
          <a:p>
            <a:pPr indent="0" marL="0">
              <a:buNone/>
            </a:pPr>
            <a:r>
              <a:rPr lang="en-US" sz="1500" dirty="0">
                <a:solidFill>
                  <a:schemeClr val="tx2"/>
                </a:solidFill>
              </a:rPr>
              <a:t>Reg. No: 24MIS0267</a:t>
            </a:r>
            <a:endParaRPr lang="en-US" sz="1500" dirty="0"/>
          </a:p>
        </p:txBody>
      </p:sp>
      <p:sp>
        <p:nvSpPr>
          <p:cNvPr id="11" name="Text 8"/>
          <p:cNvSpPr txBox="1"/>
          <p:nvPr/>
        </p:nvSpPr>
        <p:spPr>
          <a:xfrm>
            <a:off x="731520" y="5852160"/>
            <a:ext cx="8229600" cy="274320"/>
          </a:xfrm>
          <a:prstGeom prst="rect">
            <a:avLst/>
          </a:prstGeom>
          <a:noFill/>
          <a:ln/>
        </p:spPr>
        <p:txBody>
          <a:bodyPr wrap="square" lIns="0" tIns="0" rIns="0" bIns="0" rtlCol="0" anchor="t"/>
          <a:lstStyle/>
          <a:p>
            <a:pPr indent="0" marL="0">
              <a:buNone/>
            </a:pPr>
            <a:r>
              <a:rPr lang="en-US" sz="1200" dirty="0">
                <a:solidFill>
                  <a:schemeClr val="tx2"/>
                </a:solidFill>
              </a:rPr>
              <a:t>ISWE302P · Artificial Intelligence Lab  |  Faculty: Nivedita S  |  Slot: L59 + L60  |  VIT Vellore</a:t>
            </a:r>
            <a:endParaRPr lang="en-US" sz="1200" dirty="0"/>
          </a:p>
        </p:txBody>
      </p:sp>
      <p:sp>
        <p:nvSpPr>
          <p:cNvPr id="12" name="Text 9"/>
          <p:cNvSpPr txBox="1"/>
          <p:nvPr/>
        </p:nvSpPr>
        <p:spPr>
          <a:xfrm>
            <a:off x="731520" y="6199632"/>
            <a:ext cx="8229600" cy="274320"/>
          </a:xfrm>
          <a:prstGeom prst="rect">
            <a:avLst/>
          </a:prstGeom>
          <a:noFill/>
          <a:ln/>
        </p:spPr>
        <p:txBody>
          <a:bodyPr wrap="square" lIns="0" tIns="0" rIns="0" bIns="0" rtlCol="0" anchor="t"/>
          <a:lstStyle/>
          <a:p>
            <a:pPr indent="0" marL="0">
              <a:buNone/>
            </a:pPr>
            <a:r>
              <a:rPr lang="en-US" sz="1300" dirty="0">
                <a:solidFill>
                  <a:schemeClr val="tx2"/>
                </a:solidFill>
              </a:rPr>
              <a:t>GitHub:  </a:t>
            </a:r>
            <a:pPr indent="0" marL="0">
              <a:buNone/>
            </a:pPr>
            <a:r>
              <a:rPr lang="en-US" sz="1300" b="1" u="sng" dirty="0">
                <a:solidFill>
                  <a:schemeClr val="accent2"/>
                </a:solidFill>
                <a:hlinkClick r:id="rId1" invalidUrl="" action="" tgtFrame="" tooltip="Open the ULTRON repository" history="1" highlightClick="0" endSnd="0">
                  <a:extLst>
                    <a:ext uri="{A12FA001-AC4F-418D-AE19-62706E023703}">
                      <ahyp:hlinkClr xmlns:ahyp="http://schemas.microsoft.com/office/drawing/2018/hyperlinkcolor" val="tx"/>
                    </a:ext>
                  </a:extLst>
                </a:hlinkClick>
              </a:rPr>
              <a:t>github.com/ZAHEER-R/Ultron</a:t>
            </a:r>
            <a:endParaRPr lang="en-US" sz="1300" dirty="0"/>
          </a:p>
        </p:txBody>
      </p:sp>
      <p:sp>
        <p:nvSpPr>
          <p:cNvPr id="13" name="orb-ring"/>
          <p:cNvSpPr/>
          <p:nvPr/>
        </p:nvSpPr>
        <p:spPr>
          <a:xfrm>
            <a:off x="8115300" y="1851660"/>
            <a:ext cx="3154680" cy="3154680"/>
          </a:xfrm>
          <a:prstGeom prst="ellipse">
            <a:avLst/>
          </a:prstGeom>
          <a:ln w="12700">
            <a:solidFill>
              <a:schemeClr val="accent1">
                <a:alpha val="20000"/>
              </a:schemeClr>
            </a:solidFill>
            <a:prstDash val="solid"/>
          </a:ln>
        </p:spPr>
      </p:sp>
      <p:sp>
        <p:nvSpPr>
          <p:cNvPr id="14" name="orb-ring"/>
          <p:cNvSpPr/>
          <p:nvPr/>
        </p:nvSpPr>
        <p:spPr>
          <a:xfrm>
            <a:off x="8423910" y="2160270"/>
            <a:ext cx="2537460" cy="2537460"/>
          </a:xfrm>
          <a:prstGeom prst="ellipse">
            <a:avLst/>
          </a:prstGeom>
          <a:ln w="12700">
            <a:solidFill>
              <a:schemeClr val="accent1">
                <a:alpha val="35000"/>
              </a:schemeClr>
            </a:solidFill>
            <a:prstDash val="solid"/>
          </a:ln>
        </p:spPr>
      </p:sp>
      <p:sp>
        <p:nvSpPr>
          <p:cNvPr id="15" name="orb-ring"/>
          <p:cNvSpPr/>
          <p:nvPr/>
        </p:nvSpPr>
        <p:spPr>
          <a:xfrm>
            <a:off x="8732520" y="2468880"/>
            <a:ext cx="1920240" cy="1920240"/>
          </a:xfrm>
          <a:prstGeom prst="ellipse">
            <a:avLst/>
          </a:prstGeom>
          <a:ln w="12700">
            <a:solidFill>
              <a:schemeClr val="accent1">
                <a:alpha val="55000"/>
              </a:schemeClr>
            </a:solidFill>
            <a:prstDash val="solid"/>
          </a:ln>
        </p:spPr>
      </p:sp>
      <p:sp>
        <p:nvSpPr>
          <p:cNvPr id="16" name="orb-glow"/>
          <p:cNvSpPr/>
          <p:nvPr/>
        </p:nvSpPr>
        <p:spPr>
          <a:xfrm>
            <a:off x="8595360" y="2331720"/>
            <a:ext cx="2194560" cy="2194560"/>
          </a:xfrm>
          <a:prstGeom prst="ellipse">
            <a:avLst/>
          </a:prstGeom>
          <a:solidFill>
            <a:schemeClr val="accent1">
              <a:alpha val="12000"/>
            </a:schemeClr>
          </a:solidFill>
          <a:ln/>
        </p:spPr>
      </p:sp>
      <p:sp>
        <p:nvSpPr>
          <p:cNvPr id="17" name="orb-core"/>
          <p:cNvSpPr/>
          <p:nvPr/>
        </p:nvSpPr>
        <p:spPr>
          <a:xfrm>
            <a:off x="9006840" y="2743200"/>
            <a:ext cx="1371600" cy="1371600"/>
          </a:xfrm>
          <a:prstGeom prst="ellipse">
            <a:avLst/>
          </a:prstGeom>
          <a:solidFill>
            <a:schemeClr val="accent1"/>
          </a:solidFill>
          <a:ln w="19050">
            <a:solidFill>
              <a:schemeClr val="accent2"/>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t"/>
          <a:lstStyle/>
          <a:p>
            <a:pPr indent="0" marL="0">
              <a:buNone/>
            </a:pPr>
            <a:r>
              <a:rPr lang="en-US" sz="1100" b="1" spc="300" kern="0" dirty="0">
                <a:solidFill>
                  <a:schemeClr val="accent1"/>
                </a:solidFill>
              </a:rPr>
              <a:t>RECAP &amp; PROGRESS</a:t>
            </a:r>
            <a:endParaRPr lang="en-US" sz="1100" dirty="0"/>
          </a:p>
        </p:txBody>
      </p:sp>
      <p:sp>
        <p:nvSpPr>
          <p:cNvPr id="3" name="Text 0"/>
          <p:cNvSpPr/>
          <p:nvPr>
            <p:ph idx="101" type="title" hasCustomPrompt="1"/>
          </p:nvPr>
        </p:nvSpPr>
        <p:spPr>
          <a:xfrm>
            <a:off x="548640" y="640080"/>
            <a:ext cx="11091672" cy="685800"/>
          </a:xfrm>
          <a:prstGeom prst="rect">
            <a:avLst/>
          </a:prstGeom>
          <a:noFill/>
          <a:ln/>
        </p:spPr>
        <p:txBody>
          <a:bodyPr wrap="square" lIns="0" tIns="0" rIns="0" bIns="0" rtlCol="0" anchor="t"/>
          <a:lstStyle/>
          <a:p>
            <a:pPr algn="l" indent="0" marL="0">
              <a:buNone/>
            </a:pPr>
            <a:r>
              <a:rPr lang="en-US" sz="3400" b="1" dirty="0">
                <a:solidFill>
                  <a:schemeClr val="tx1"/>
                </a:solidFill>
              </a:rPr>
              <a:t>From Review 1 to Review 2</a:t>
            </a:r>
            <a:endParaRPr lang="en-US" sz="3400" dirty="0"/>
          </a:p>
        </p:txBody>
      </p:sp>
      <p:sp>
        <p:nvSpPr>
          <p:cNvPr id="5" name="r1-card"/>
          <p:cNvSpPr/>
          <p:nvPr/>
        </p:nvSpPr>
        <p:spPr>
          <a:xfrm>
            <a:off x="548640" y="1554480"/>
            <a:ext cx="4983480" cy="3703320"/>
          </a:xfrm>
          <a:prstGeom prst="roundRect">
            <a:avLst>
              <a:gd name="adj" fmla="val 1975"/>
            </a:avLst>
          </a:prstGeom>
          <a:solidFill>
            <a:schemeClr val="bg2"/>
          </a:solidFill>
          <a:ln w="9525">
            <a:solidFill>
              <a:schemeClr val="accent3"/>
            </a:solidFill>
            <a:prstDash val="solid"/>
          </a:ln>
        </p:spPr>
      </p:sp>
      <p:sp>
        <p:nvSpPr>
          <p:cNvPr id="6" name="Text 3"/>
          <p:cNvSpPr txBox="1"/>
          <p:nvPr/>
        </p:nvSpPr>
        <p:spPr>
          <a:xfrm>
            <a:off x="822960" y="1755648"/>
            <a:ext cx="4389120" cy="228600"/>
          </a:xfrm>
          <a:prstGeom prst="rect">
            <a:avLst/>
          </a:prstGeom>
          <a:noFill/>
          <a:ln/>
        </p:spPr>
        <p:txBody>
          <a:bodyPr wrap="square" lIns="0" tIns="0" rIns="0" bIns="0" rtlCol="0" anchor="t"/>
          <a:lstStyle/>
          <a:p>
            <a:pPr indent="0" marL="0">
              <a:buNone/>
            </a:pPr>
            <a:r>
              <a:rPr lang="en-US" sz="1100" b="1" spc="200" kern="0" dirty="0">
                <a:solidFill>
                  <a:schemeClr val="tx2"/>
                </a:solidFill>
              </a:rPr>
              <a:t>REVIEW 1 — THE VISION</a:t>
            </a:r>
            <a:endParaRPr lang="en-US" sz="1100" dirty="0"/>
          </a:p>
        </p:txBody>
      </p:sp>
      <p:sp>
        <p:nvSpPr>
          <p:cNvPr id="7" name="Text 4"/>
          <p:cNvSpPr txBox="1"/>
          <p:nvPr/>
        </p:nvSpPr>
        <p:spPr>
          <a:xfrm>
            <a:off x="822960" y="2057400"/>
            <a:ext cx="4389120" cy="41148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A companion that talks</a:t>
            </a:r>
            <a:endParaRPr lang="en-US" sz="2200" dirty="0"/>
          </a:p>
        </p:txBody>
      </p:sp>
      <p:sp>
        <p:nvSpPr>
          <p:cNvPr id="8" name="Text 5"/>
          <p:cNvSpPr txBox="1"/>
          <p:nvPr/>
        </p:nvSpPr>
        <p:spPr>
          <a:xfrm>
            <a:off x="822960" y="2697480"/>
            <a:ext cx="4480560" cy="237744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chemeClr val="tx2"/>
                </a:solidFill>
              </a:rPr>
              <a:t>Gesture-controlled 3D orb (MediaPipe pinch)</a:t>
            </a:r>
            <a:endParaRPr lang="en-US" sz="1500" dirty="0"/>
          </a:p>
          <a:p>
            <a:pPr marL="342900" indent="-342900">
              <a:spcAft>
                <a:spcPts val="900"/>
              </a:spcAft>
              <a:buSzPct val="100000"/>
              <a:buChar char="•"/>
            </a:pPr>
            <a:r>
              <a:rPr lang="en-US" sz="1500" dirty="0">
                <a:solidFill>
                  <a:schemeClr val="tx2"/>
                </a:solidFill>
              </a:rPr>
              <a:t>Persistent memory in SQLite</a:t>
            </a:r>
            <a:endParaRPr lang="en-US" sz="1500" dirty="0"/>
          </a:p>
          <a:p>
            <a:pPr marL="342900" indent="-342900">
              <a:spcAft>
                <a:spcPts val="900"/>
              </a:spcAft>
              <a:buSzPct val="100000"/>
              <a:buChar char="•"/>
            </a:pPr>
            <a:r>
              <a:rPr lang="en-US" sz="1500" dirty="0">
                <a:solidFill>
                  <a:schemeClr val="tx2"/>
                </a:solidFill>
              </a:rPr>
              <a:t>Keyword-based intent detector (“open Chrome”)</a:t>
            </a:r>
            <a:endParaRPr lang="en-US" sz="1500" dirty="0"/>
          </a:p>
          <a:p>
            <a:pPr marL="342900" indent="-342900">
              <a:spcAft>
                <a:spcPts val="900"/>
              </a:spcAft>
              <a:buSzPct val="100000"/>
              <a:buChar char="•"/>
            </a:pPr>
            <a:r>
              <a:rPr lang="en-US" sz="1500" dirty="0">
                <a:solidFill>
                  <a:schemeClr val="tx2"/>
                </a:solidFill>
              </a:rPr>
              <a:t>Next.js front end with Gemini chat</a:t>
            </a:r>
            <a:endParaRPr lang="en-US" sz="1500" dirty="0"/>
          </a:p>
        </p:txBody>
      </p:sp>
      <p:sp>
        <p:nvSpPr>
          <p:cNvPr id="9" name="r2-card"/>
          <p:cNvSpPr/>
          <p:nvPr/>
        </p:nvSpPr>
        <p:spPr>
          <a:xfrm>
            <a:off x="6656832" y="1554480"/>
            <a:ext cx="4983480" cy="3703320"/>
          </a:xfrm>
          <a:prstGeom prst="roundRect">
            <a:avLst>
              <a:gd name="adj" fmla="val 1975"/>
            </a:avLst>
          </a:prstGeom>
          <a:solidFill>
            <a:schemeClr val="accent4"/>
          </a:solidFill>
          <a:ln w="15875">
            <a:solidFill>
              <a:schemeClr val="accent1"/>
            </a:solidFill>
            <a:prstDash val="solid"/>
          </a:ln>
        </p:spPr>
      </p:sp>
      <p:sp>
        <p:nvSpPr>
          <p:cNvPr id="10" name="Text 7"/>
          <p:cNvSpPr txBox="1"/>
          <p:nvPr/>
        </p:nvSpPr>
        <p:spPr>
          <a:xfrm>
            <a:off x="6931152" y="1755648"/>
            <a:ext cx="4389120" cy="228600"/>
          </a:xfrm>
          <a:prstGeom prst="rect">
            <a:avLst/>
          </a:prstGeom>
          <a:noFill/>
          <a:ln/>
        </p:spPr>
        <p:txBody>
          <a:bodyPr wrap="square" lIns="0" tIns="0" rIns="0" bIns="0" rtlCol="0" anchor="t"/>
          <a:lstStyle/>
          <a:p>
            <a:pPr indent="0" marL="0">
              <a:buNone/>
            </a:pPr>
            <a:r>
              <a:rPr lang="en-US" sz="1100" b="1" spc="200" kern="0" dirty="0">
                <a:solidFill>
                  <a:schemeClr val="accent1"/>
                </a:solidFill>
              </a:rPr>
              <a:t>REVIEW 2 — THE AGENT (v2)</a:t>
            </a:r>
            <a:endParaRPr lang="en-US" sz="1100" dirty="0"/>
          </a:p>
        </p:txBody>
      </p:sp>
      <p:sp>
        <p:nvSpPr>
          <p:cNvPr id="11" name="Text 8"/>
          <p:cNvSpPr txBox="1"/>
          <p:nvPr/>
        </p:nvSpPr>
        <p:spPr>
          <a:xfrm>
            <a:off x="6931152" y="2057400"/>
            <a:ext cx="4389120" cy="41148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An agent that acts</a:t>
            </a:r>
            <a:endParaRPr lang="en-US" sz="2200" dirty="0"/>
          </a:p>
        </p:txBody>
      </p:sp>
      <p:sp>
        <p:nvSpPr>
          <p:cNvPr id="12" name="Text 9"/>
          <p:cNvSpPr txBox="1"/>
          <p:nvPr/>
        </p:nvSpPr>
        <p:spPr>
          <a:xfrm>
            <a:off x="6931152" y="2697480"/>
            <a:ext cx="4526280" cy="246888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chemeClr val="tx1"/>
                </a:solidFill>
              </a:rPr>
              <a:t>Gemini function calling picks the tool</a:t>
            </a:r>
            <a:endParaRPr lang="en-US" sz="1500" dirty="0"/>
          </a:p>
          <a:p>
            <a:pPr marL="342900" indent="-342900">
              <a:spcAft>
                <a:spcPts val="900"/>
              </a:spcAft>
              <a:buSzPct val="100000"/>
              <a:buChar char="•"/>
            </a:pPr>
            <a:r>
              <a:rPr lang="en-US" sz="1500" dirty="0">
                <a:solidFill>
                  <a:schemeClr val="tx1"/>
                </a:solidFill>
              </a:rPr>
              <a:t>27 Windows tools: apps, files, browser, keys, media</a:t>
            </a:r>
            <a:endParaRPr lang="en-US" sz="1500" dirty="0"/>
          </a:p>
          <a:p>
            <a:pPr marL="342900" indent="-342900">
              <a:spcAft>
                <a:spcPts val="900"/>
              </a:spcAft>
              <a:buSzPct val="100000"/>
              <a:buChar char="•"/>
            </a:pPr>
            <a:r>
              <a:rPr lang="en-US" sz="1500" dirty="0">
                <a:solidFill>
                  <a:schemeClr val="tx1"/>
                </a:solidFill>
              </a:rPr>
              <a:t>Telugu + English code-mixed commands</a:t>
            </a:r>
            <a:endParaRPr lang="en-US" sz="1500" dirty="0"/>
          </a:p>
          <a:p>
            <a:pPr marL="342900" indent="-342900">
              <a:spcAft>
                <a:spcPts val="900"/>
              </a:spcAft>
              <a:buSzPct val="100000"/>
              <a:buChar char="•"/>
            </a:pPr>
            <a:r>
              <a:rPr lang="en-US" sz="1500" dirty="0">
                <a:solidFill>
                  <a:schemeClr val="tx1"/>
                </a:solidFill>
              </a:rPr>
              <a:t>Auto-rotation across 8 Gemini models</a:t>
            </a:r>
            <a:endParaRPr lang="en-US" sz="1500" dirty="0"/>
          </a:p>
          <a:p>
            <a:pPr marL="342900" indent="-342900">
              <a:spcAft>
                <a:spcPts val="900"/>
              </a:spcAft>
              <a:buSzPct val="100000"/>
              <a:buChar char="•"/>
            </a:pPr>
            <a:r>
              <a:rPr lang="en-US" sz="1500" dirty="0">
                <a:solidFill>
                  <a:schemeClr val="tx1"/>
                </a:solidFill>
              </a:rPr>
              <a:t>Electron tray app, Ctrl + Shift + U, live voice subtitles</a:t>
            </a:r>
            <a:endParaRPr lang="en-US" sz="1500" dirty="0"/>
          </a:p>
        </p:txBody>
      </p:sp>
      <p:sp>
        <p:nvSpPr>
          <p:cNvPr id="13" name="shift-arrow-circle"/>
          <p:cNvSpPr/>
          <p:nvPr/>
        </p:nvSpPr>
        <p:spPr>
          <a:xfrm>
            <a:off x="5760720" y="3108960"/>
            <a:ext cx="658368" cy="658368"/>
          </a:xfrm>
          <a:prstGeom prst="ellipse">
            <a:avLst/>
          </a:prstGeom>
          <a:solidFill>
            <a:schemeClr val="accent1"/>
          </a:solidFill>
          <a:ln/>
        </p:spPr>
      </p:sp>
      <p:pic>
        <p:nvPicPr>
          <p:cNvPr id="14" name="Image 0" descr="Progress icon">    </p:cNvPr>
          <p:cNvPicPr>
            <a:picLocks noChangeAspect="1"/>
          </p:cNvPicPr>
          <p:nvPr/>
        </p:nvPicPr>
        <p:blipFill>
          <a:blip r:embed="rId1"/>
          <a:stretch>
            <a:fillRect/>
          </a:stretch>
        </p:blipFill>
        <p:spPr>
          <a:xfrm>
            <a:off x="5925312" y="3273552"/>
            <a:ext cx="329184" cy="329184"/>
          </a:xfrm>
          <a:prstGeom prst="rect">
            <a:avLst/>
          </a:prstGeom>
        </p:spPr>
      </p:pic>
      <p:sp>
        <p:nvSpPr>
          <p:cNvPr id="15" name="key-shift"/>
          <p:cNvSpPr/>
          <p:nvPr/>
        </p:nvSpPr>
        <p:spPr>
          <a:xfrm>
            <a:off x="548640" y="5468112"/>
            <a:ext cx="11091672" cy="777240"/>
          </a:xfrm>
          <a:prstGeom prst="roundRect">
            <a:avLst>
              <a:gd name="adj" fmla="val 9412"/>
            </a:avLst>
          </a:prstGeom>
          <a:solidFill>
            <a:schemeClr val="accent4"/>
          </a:solidFill>
          <a:ln w="9525">
            <a:solidFill>
              <a:schemeClr val="accent1"/>
            </a:solidFill>
            <a:prstDash val="solid"/>
          </a:ln>
        </p:spPr>
      </p:sp>
      <p:sp>
        <p:nvSpPr>
          <p:cNvPr id="16" name="Text 12"/>
          <p:cNvSpPr txBox="1"/>
          <p:nvPr/>
        </p:nvSpPr>
        <p:spPr>
          <a:xfrm>
            <a:off x="822960" y="5559552"/>
            <a:ext cx="10561320" cy="594360"/>
          </a:xfrm>
          <a:prstGeom prst="rect">
            <a:avLst/>
          </a:prstGeom>
          <a:noFill/>
          <a:ln/>
        </p:spPr>
        <p:txBody>
          <a:bodyPr wrap="square" lIns="0" tIns="0" rIns="0" bIns="0" rtlCol="0" anchor="ctr"/>
          <a:lstStyle/>
          <a:p>
            <a:pPr indent="0" marL="0">
              <a:buNone/>
            </a:pPr>
            <a:r>
              <a:rPr lang="en-US" sz="1500" b="1" dirty="0">
                <a:solidFill>
                  <a:schemeClr val="accent1"/>
                </a:solidFill>
              </a:rPr>
              <a:t>Key shift:  </a:t>
            </a:r>
            <a:pPr indent="0" marL="0">
              <a:buNone/>
            </a:pPr>
            <a:r>
              <a:rPr lang="en-US" sz="1500" dirty="0">
                <a:solidFill>
                  <a:schemeClr val="tx1"/>
                </a:solidFill>
              </a:rPr>
              <a:t>keyword matching → LLM-driven tool calling. The “smarter intents” item from our Review 1 future scope is now delivered.</a:t>
            </a:r>
            <a:endParaRPr lang="en-US" sz="1500" dirty="0"/>
          </a:p>
        </p:txBody>
      </p:sp>
      <p:sp>
        <p:nvSpPr>
          <p:cNvPr id="25" name="Slide Number Placeholder 0"/>
          <p:cNvSpPr>
            <a:spLocks noGrp="1"/>
          </p:cNvSpPr>
          <p:nvPr>
            <p:ph type="sldNum" sz="quarter" idx="4294967295"/>
          </p:nvPr>
        </p:nvSpPr>
        <p:spPr>
          <a:xfrm>
            <a:off x="10972800" y="6437376"/>
            <a:ext cx="667512"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t"/>
          <a:lstStyle/>
          <a:p>
            <a:pPr indent="0" marL="0">
              <a:buNone/>
            </a:pPr>
            <a:r>
              <a:rPr lang="en-US" sz="1100" b="1" spc="300" kern="0" dirty="0">
                <a:solidFill>
                  <a:schemeClr val="accent1"/>
                </a:solidFill>
              </a:rPr>
              <a:t>PROBLEM STATEMENT</a:t>
            </a:r>
            <a:endParaRPr lang="en-US" sz="1100" dirty="0"/>
          </a:p>
        </p:txBody>
      </p:sp>
      <p:sp>
        <p:nvSpPr>
          <p:cNvPr id="3" name="Text 0"/>
          <p:cNvSpPr/>
          <p:nvPr>
            <p:ph idx="101" type="title" hasCustomPrompt="1"/>
          </p:nvPr>
        </p:nvSpPr>
        <p:spPr>
          <a:xfrm>
            <a:off x="548640" y="640080"/>
            <a:ext cx="11091672" cy="685800"/>
          </a:xfrm>
          <a:prstGeom prst="rect">
            <a:avLst/>
          </a:prstGeom>
          <a:noFill/>
          <a:ln/>
        </p:spPr>
        <p:txBody>
          <a:bodyPr wrap="square" lIns="0" tIns="0" rIns="0" bIns="0" rtlCol="0" anchor="t"/>
          <a:lstStyle/>
          <a:p>
            <a:pPr algn="l" indent="0" marL="0">
              <a:buNone/>
            </a:pPr>
            <a:r>
              <a:rPr lang="en-US" sz="3400" b="1" dirty="0">
                <a:solidFill>
                  <a:schemeClr val="tx1"/>
                </a:solidFill>
              </a:rPr>
              <a:t>The Real-Time Problem</a:t>
            </a:r>
            <a:endParaRPr lang="en-US" sz="3400" dirty="0"/>
          </a:p>
        </p:txBody>
      </p:sp>
      <p:sp>
        <p:nvSpPr>
          <p:cNvPr id="5" name="problem-card"/>
          <p:cNvSpPr/>
          <p:nvPr/>
        </p:nvSpPr>
        <p:spPr>
          <a:xfrm>
            <a:off x="548640" y="1554480"/>
            <a:ext cx="2606040" cy="3154680"/>
          </a:xfrm>
          <a:prstGeom prst="roundRect">
            <a:avLst>
              <a:gd name="adj" fmla="val 2807"/>
            </a:avLst>
          </a:prstGeom>
          <a:solidFill>
            <a:schemeClr val="bg2"/>
          </a:solidFill>
          <a:ln w="9525">
            <a:solidFill>
              <a:schemeClr val="accent3"/>
            </a:solidFill>
            <a:prstDash val="solid"/>
          </a:ln>
        </p:spPr>
      </p:sp>
      <p:sp>
        <p:nvSpPr>
          <p:cNvPr id="6" name="icon-circle"/>
          <p:cNvSpPr/>
          <p:nvPr/>
        </p:nvSpPr>
        <p:spPr>
          <a:xfrm>
            <a:off x="777240" y="1783080"/>
            <a:ext cx="603504" cy="603504"/>
          </a:xfrm>
          <a:prstGeom prst="ellipse">
            <a:avLst/>
          </a:prstGeom>
          <a:solidFill>
            <a:schemeClr val="accent4"/>
          </a:solidFill>
          <a:ln w="9525">
            <a:solidFill>
              <a:schemeClr val="accent3"/>
            </a:solidFill>
            <a:prstDash val="solid"/>
          </a:ln>
        </p:spPr>
      </p:sp>
      <p:pic>
        <p:nvPicPr>
          <p:cNvPr id="7" name="Image 0" descr="Repeat icon">    </p:cNvPr>
          <p:cNvPicPr>
            <a:picLocks noChangeAspect="1"/>
          </p:cNvPicPr>
          <p:nvPr/>
        </p:nvPicPr>
        <p:blipFill>
          <a:blip r:embed="rId1"/>
          <a:stretch>
            <a:fillRect/>
          </a:stretch>
        </p:blipFill>
        <p:spPr>
          <a:xfrm>
            <a:off x="922081" y="1927921"/>
            <a:ext cx="313822" cy="313822"/>
          </a:xfrm>
          <a:prstGeom prst="rect">
            <a:avLst/>
          </a:prstGeom>
        </p:spPr>
      </p:pic>
      <p:sp>
        <p:nvSpPr>
          <p:cNvPr id="8" name="Text 4"/>
          <p:cNvSpPr txBox="1"/>
          <p:nvPr/>
        </p:nvSpPr>
        <p:spPr>
          <a:xfrm>
            <a:off x="777240" y="2560320"/>
            <a:ext cx="2194560" cy="36576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Repetitive chores</a:t>
            </a:r>
            <a:endParaRPr lang="en-US" sz="1900" dirty="0"/>
          </a:p>
        </p:txBody>
      </p:sp>
      <p:sp>
        <p:nvSpPr>
          <p:cNvPr id="9" name="Text 5"/>
          <p:cNvSpPr txBox="1"/>
          <p:nvPr/>
        </p:nvSpPr>
        <p:spPr>
          <a:xfrm>
            <a:off x="777240" y="3017520"/>
            <a:ext cx="2194560" cy="1600200"/>
          </a:xfrm>
          <a:prstGeom prst="rect">
            <a:avLst/>
          </a:prstGeom>
          <a:noFill/>
          <a:ln/>
        </p:spPr>
        <p:txBody>
          <a:bodyPr wrap="square" lIns="0" tIns="0" rIns="0" bIns="0" rtlCol="0" anchor="t"/>
          <a:lstStyle/>
          <a:p>
            <a:pPr indent="0" marL="0">
              <a:buNone/>
            </a:pPr>
            <a:r>
              <a:rPr lang="en-US" sz="1400" dirty="0">
                <a:solidFill>
                  <a:schemeClr val="tx2"/>
                </a:solidFill>
              </a:rPr>
              <a:t>Opening apps, finding folders, searching, screenshots — each small task costs several clicks and window switches.</a:t>
            </a:r>
            <a:endParaRPr lang="en-US" sz="1400" dirty="0"/>
          </a:p>
        </p:txBody>
      </p:sp>
      <p:sp>
        <p:nvSpPr>
          <p:cNvPr id="10" name="problem-card"/>
          <p:cNvSpPr/>
          <p:nvPr/>
        </p:nvSpPr>
        <p:spPr>
          <a:xfrm>
            <a:off x="3376879" y="1554480"/>
            <a:ext cx="2606040" cy="3154680"/>
          </a:xfrm>
          <a:prstGeom prst="roundRect">
            <a:avLst>
              <a:gd name="adj" fmla="val 2807"/>
            </a:avLst>
          </a:prstGeom>
          <a:solidFill>
            <a:schemeClr val="bg2"/>
          </a:solidFill>
          <a:ln w="9525">
            <a:solidFill>
              <a:schemeClr val="accent3"/>
            </a:solidFill>
            <a:prstDash val="solid"/>
          </a:ln>
        </p:spPr>
      </p:sp>
      <p:sp>
        <p:nvSpPr>
          <p:cNvPr id="11" name="icon-circle"/>
          <p:cNvSpPr/>
          <p:nvPr/>
        </p:nvSpPr>
        <p:spPr>
          <a:xfrm>
            <a:off x="3605479" y="1783080"/>
            <a:ext cx="603504" cy="603504"/>
          </a:xfrm>
          <a:prstGeom prst="ellipse">
            <a:avLst/>
          </a:prstGeom>
          <a:solidFill>
            <a:schemeClr val="accent4"/>
          </a:solidFill>
          <a:ln w="9525">
            <a:solidFill>
              <a:schemeClr val="accent3"/>
            </a:solidFill>
            <a:prstDash val="solid"/>
          </a:ln>
        </p:spPr>
      </p:sp>
      <p:pic>
        <p:nvPicPr>
          <p:cNvPr id="12" name="Image 1" descr="Zap icon">    </p:cNvPr>
          <p:cNvPicPr>
            <a:picLocks noChangeAspect="1"/>
          </p:cNvPicPr>
          <p:nvPr/>
        </p:nvPicPr>
        <p:blipFill>
          <a:blip r:embed="rId2"/>
          <a:stretch>
            <a:fillRect/>
          </a:stretch>
        </p:blipFill>
        <p:spPr>
          <a:xfrm>
            <a:off x="3750320" y="1927921"/>
            <a:ext cx="313822" cy="313822"/>
          </a:xfrm>
          <a:prstGeom prst="rect">
            <a:avLst/>
          </a:prstGeom>
        </p:spPr>
      </p:pic>
      <p:sp>
        <p:nvSpPr>
          <p:cNvPr id="13" name="Text 8"/>
          <p:cNvSpPr txBox="1"/>
          <p:nvPr/>
        </p:nvSpPr>
        <p:spPr>
          <a:xfrm>
            <a:off x="3605479" y="2560320"/>
            <a:ext cx="2194560" cy="36576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Broken flow</a:t>
            </a:r>
            <a:endParaRPr lang="en-US" sz="1900" dirty="0"/>
          </a:p>
        </p:txBody>
      </p:sp>
      <p:sp>
        <p:nvSpPr>
          <p:cNvPr id="14" name="Text 9"/>
          <p:cNvSpPr txBox="1"/>
          <p:nvPr/>
        </p:nvSpPr>
        <p:spPr>
          <a:xfrm>
            <a:off x="3605479" y="3017520"/>
            <a:ext cx="2194560" cy="1600200"/>
          </a:xfrm>
          <a:prstGeom prst="rect">
            <a:avLst/>
          </a:prstGeom>
          <a:noFill/>
          <a:ln/>
        </p:spPr>
        <p:txBody>
          <a:bodyPr wrap="square" lIns="0" tIns="0" rIns="0" bIns="0" rtlCol="0" anchor="t"/>
          <a:lstStyle/>
          <a:p>
            <a:pPr indent="0" marL="0">
              <a:buNone/>
            </a:pPr>
            <a:r>
              <a:rPr lang="en-US" sz="1400" dirty="0">
                <a:solidFill>
                  <a:schemeClr val="tx2"/>
                </a:solidFill>
              </a:rPr>
              <a:t>Every switch away from the work in hand interrupts concentration — and it happens while the user is mid-task.</a:t>
            </a:r>
            <a:endParaRPr lang="en-US" sz="1400" dirty="0"/>
          </a:p>
        </p:txBody>
      </p:sp>
      <p:sp>
        <p:nvSpPr>
          <p:cNvPr id="15" name="problem-card"/>
          <p:cNvSpPr/>
          <p:nvPr/>
        </p:nvSpPr>
        <p:spPr>
          <a:xfrm>
            <a:off x="6205118" y="1554480"/>
            <a:ext cx="2606040" cy="3154680"/>
          </a:xfrm>
          <a:prstGeom prst="roundRect">
            <a:avLst>
              <a:gd name="adj" fmla="val 2807"/>
            </a:avLst>
          </a:prstGeom>
          <a:solidFill>
            <a:schemeClr val="bg2"/>
          </a:solidFill>
          <a:ln w="9525">
            <a:solidFill>
              <a:schemeClr val="accent3"/>
            </a:solidFill>
            <a:prstDash val="solid"/>
          </a:ln>
        </p:spPr>
      </p:sp>
      <p:sp>
        <p:nvSpPr>
          <p:cNvPr id="16" name="icon-circle"/>
          <p:cNvSpPr/>
          <p:nvPr/>
        </p:nvSpPr>
        <p:spPr>
          <a:xfrm>
            <a:off x="6433718" y="1783080"/>
            <a:ext cx="603504" cy="603504"/>
          </a:xfrm>
          <a:prstGeom prst="ellipse">
            <a:avLst/>
          </a:prstGeom>
          <a:solidFill>
            <a:schemeClr val="accent4"/>
          </a:solidFill>
          <a:ln w="9525">
            <a:solidFill>
              <a:schemeClr val="accent3"/>
            </a:solidFill>
            <a:prstDash val="solid"/>
          </a:ln>
        </p:spPr>
      </p:sp>
      <p:pic>
        <p:nvPicPr>
          <p:cNvPr id="17" name="Image 2" descr="Languages icon">    </p:cNvPr>
          <p:cNvPicPr>
            <a:picLocks noChangeAspect="1"/>
          </p:cNvPicPr>
          <p:nvPr/>
        </p:nvPicPr>
        <p:blipFill>
          <a:blip r:embed="rId3"/>
          <a:stretch>
            <a:fillRect/>
          </a:stretch>
        </p:blipFill>
        <p:spPr>
          <a:xfrm>
            <a:off x="6578559" y="1927921"/>
            <a:ext cx="313822" cy="313822"/>
          </a:xfrm>
          <a:prstGeom prst="rect">
            <a:avLst/>
          </a:prstGeom>
        </p:spPr>
      </p:pic>
      <p:sp>
        <p:nvSpPr>
          <p:cNvPr id="18" name="Text 12"/>
          <p:cNvSpPr txBox="1"/>
          <p:nvPr/>
        </p:nvSpPr>
        <p:spPr>
          <a:xfrm>
            <a:off x="6433718" y="2560320"/>
            <a:ext cx="2194560" cy="36576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Language gap</a:t>
            </a:r>
            <a:endParaRPr lang="en-US" sz="1900" dirty="0"/>
          </a:p>
        </p:txBody>
      </p:sp>
      <p:sp>
        <p:nvSpPr>
          <p:cNvPr id="19" name="Text 13"/>
          <p:cNvSpPr txBox="1"/>
          <p:nvPr/>
        </p:nvSpPr>
        <p:spPr>
          <a:xfrm>
            <a:off x="6433718" y="3017520"/>
            <a:ext cx="2194560" cy="1600200"/>
          </a:xfrm>
          <a:prstGeom prst="rect">
            <a:avLst/>
          </a:prstGeom>
          <a:noFill/>
          <a:ln/>
        </p:spPr>
        <p:txBody>
          <a:bodyPr wrap="square" lIns="0" tIns="0" rIns="0" bIns="0" rtlCol="0" anchor="t"/>
          <a:lstStyle/>
          <a:p>
            <a:pPr indent="0" marL="0">
              <a:buNone/>
            </a:pPr>
            <a:r>
              <a:rPr lang="en-US" sz="1400" dirty="0">
                <a:solidFill>
                  <a:schemeClr val="tx2"/>
                </a:solidFill>
              </a:rPr>
              <a:t>Rigid command grammars cannot parse code-mixed speech such as “Chrome open చెయ్”.</a:t>
            </a:r>
            <a:endParaRPr lang="en-US" sz="1400" dirty="0"/>
          </a:p>
        </p:txBody>
      </p:sp>
      <p:sp>
        <p:nvSpPr>
          <p:cNvPr id="20" name="problem-card"/>
          <p:cNvSpPr/>
          <p:nvPr/>
        </p:nvSpPr>
        <p:spPr>
          <a:xfrm>
            <a:off x="9033358" y="1554480"/>
            <a:ext cx="2606040" cy="3154680"/>
          </a:xfrm>
          <a:prstGeom prst="roundRect">
            <a:avLst>
              <a:gd name="adj" fmla="val 2807"/>
            </a:avLst>
          </a:prstGeom>
          <a:solidFill>
            <a:schemeClr val="bg2"/>
          </a:solidFill>
          <a:ln w="9525">
            <a:solidFill>
              <a:schemeClr val="accent3"/>
            </a:solidFill>
            <a:prstDash val="solid"/>
          </a:ln>
        </p:spPr>
      </p:sp>
      <p:sp>
        <p:nvSpPr>
          <p:cNvPr id="21" name="icon-circle"/>
          <p:cNvSpPr/>
          <p:nvPr/>
        </p:nvSpPr>
        <p:spPr>
          <a:xfrm>
            <a:off x="9261958" y="1783080"/>
            <a:ext cx="603504" cy="603504"/>
          </a:xfrm>
          <a:prstGeom prst="ellipse">
            <a:avLst/>
          </a:prstGeom>
          <a:solidFill>
            <a:schemeClr val="accent4"/>
          </a:solidFill>
          <a:ln w="9525">
            <a:solidFill>
              <a:schemeClr val="accent3"/>
            </a:solidFill>
            <a:prstDash val="solid"/>
          </a:ln>
        </p:spPr>
      </p:sp>
      <p:pic>
        <p:nvPicPr>
          <p:cNvPr id="22" name="Image 3" descr="MessageSquare icon">    </p:cNvPr>
          <p:cNvPicPr>
            <a:picLocks noChangeAspect="1"/>
          </p:cNvPicPr>
          <p:nvPr/>
        </p:nvPicPr>
        <p:blipFill>
          <a:blip r:embed="rId4"/>
          <a:stretch>
            <a:fillRect/>
          </a:stretch>
        </p:blipFill>
        <p:spPr>
          <a:xfrm>
            <a:off x="9406799" y="1927921"/>
            <a:ext cx="313822" cy="313822"/>
          </a:xfrm>
          <a:prstGeom prst="rect">
            <a:avLst/>
          </a:prstGeom>
        </p:spPr>
      </p:pic>
      <p:sp>
        <p:nvSpPr>
          <p:cNvPr id="23" name="Text 16"/>
          <p:cNvSpPr txBox="1"/>
          <p:nvPr/>
        </p:nvSpPr>
        <p:spPr>
          <a:xfrm>
            <a:off x="9261958" y="2560320"/>
            <a:ext cx="2194560" cy="36576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Bots that only talk</a:t>
            </a:r>
            <a:endParaRPr lang="en-US" sz="1900" dirty="0"/>
          </a:p>
        </p:txBody>
      </p:sp>
      <p:sp>
        <p:nvSpPr>
          <p:cNvPr id="24" name="Text 17"/>
          <p:cNvSpPr txBox="1"/>
          <p:nvPr/>
        </p:nvSpPr>
        <p:spPr>
          <a:xfrm>
            <a:off x="9261958" y="3017520"/>
            <a:ext cx="2194560" cy="1600200"/>
          </a:xfrm>
          <a:prstGeom prst="rect">
            <a:avLst/>
          </a:prstGeom>
          <a:noFill/>
          <a:ln/>
        </p:spPr>
        <p:txBody>
          <a:bodyPr wrap="square" lIns="0" tIns="0" rIns="0" bIns="0" rtlCol="0" anchor="t"/>
          <a:lstStyle/>
          <a:p>
            <a:pPr indent="0" marL="0">
              <a:buNone/>
            </a:pPr>
            <a:r>
              <a:rPr lang="en-US" sz="1400" dirty="0">
                <a:solidFill>
                  <a:schemeClr val="tx2"/>
                </a:solidFill>
              </a:rPr>
              <a:t>Chat assistants explain how to do something. They cannot press the buttons — the user still does the work.</a:t>
            </a:r>
            <a:endParaRPr lang="en-US" sz="1400" dirty="0"/>
          </a:p>
        </p:txBody>
      </p:sp>
      <p:sp>
        <p:nvSpPr>
          <p:cNvPr id="25" name="by-hand"/>
          <p:cNvSpPr/>
          <p:nvPr/>
        </p:nvSpPr>
        <p:spPr>
          <a:xfrm>
            <a:off x="548640" y="4937760"/>
            <a:ext cx="5989320" cy="1280160"/>
          </a:xfrm>
          <a:prstGeom prst="roundRect">
            <a:avLst>
              <a:gd name="adj" fmla="val 5714"/>
            </a:avLst>
          </a:prstGeom>
          <a:solidFill>
            <a:schemeClr val="bg2"/>
          </a:solidFill>
          <a:ln w="9525">
            <a:solidFill>
              <a:schemeClr val="accent3"/>
            </a:solidFill>
            <a:prstDash val="solid"/>
          </a:ln>
        </p:spPr>
      </p:sp>
      <p:sp>
        <p:nvSpPr>
          <p:cNvPr id="26" name="Text 19"/>
          <p:cNvSpPr txBox="1"/>
          <p:nvPr/>
        </p:nvSpPr>
        <p:spPr>
          <a:xfrm>
            <a:off x="822960" y="5074920"/>
            <a:ext cx="5394960" cy="228600"/>
          </a:xfrm>
          <a:prstGeom prst="rect">
            <a:avLst/>
          </a:prstGeom>
          <a:noFill/>
          <a:ln/>
        </p:spPr>
        <p:txBody>
          <a:bodyPr wrap="square" lIns="0" tIns="0" rIns="0" bIns="0" rtlCol="0" anchor="t"/>
          <a:lstStyle/>
          <a:p>
            <a:pPr indent="0" marL="0">
              <a:buNone/>
            </a:pPr>
            <a:r>
              <a:rPr lang="en-US" sz="1000" b="1" spc="200" kern="0" dirty="0">
                <a:solidFill>
                  <a:schemeClr val="tx2"/>
                </a:solidFill>
              </a:rPr>
              <a:t>ILLUSTRATIVE TASK, BY HAND</a:t>
            </a:r>
            <a:endParaRPr lang="en-US" sz="1000" dirty="0"/>
          </a:p>
        </p:txBody>
      </p:sp>
      <p:sp>
        <p:nvSpPr>
          <p:cNvPr id="27" name="Text 20"/>
          <p:cNvSpPr txBox="1"/>
          <p:nvPr/>
        </p:nvSpPr>
        <p:spPr>
          <a:xfrm>
            <a:off x="822960" y="5349240"/>
            <a:ext cx="5440680" cy="777240"/>
          </a:xfrm>
          <a:prstGeom prst="rect">
            <a:avLst/>
          </a:prstGeom>
          <a:noFill/>
          <a:ln/>
        </p:spPr>
        <p:txBody>
          <a:bodyPr wrap="square" lIns="0" tIns="0" rIns="0" bIns="0" rtlCol="0" anchor="t"/>
          <a:lstStyle/>
          <a:p>
            <a:pPr indent="0" marL="0">
              <a:buNone/>
            </a:pPr>
            <a:r>
              <a:rPr lang="en-US" sz="1400" dirty="0">
                <a:solidFill>
                  <a:schemeClr val="tx1"/>
                </a:solidFill>
              </a:rPr>
              <a:t>“Open Chrome, search Telugu songs on YouTube, take a screenshot” = 3 windows, typing, clicking and switching.</a:t>
            </a:r>
            <a:endParaRPr lang="en-US" sz="1400" dirty="0"/>
          </a:p>
        </p:txBody>
      </p:sp>
      <p:sp>
        <p:nvSpPr>
          <p:cNvPr id="28" name="arrow"/>
          <p:cNvSpPr/>
          <p:nvPr/>
        </p:nvSpPr>
        <p:spPr>
          <a:xfrm>
            <a:off x="6629400" y="5577840"/>
            <a:ext cx="502920" cy="0"/>
          </a:xfrm>
          <a:prstGeom prst="line">
            <a:avLst/>
          </a:prstGeom>
          <a:noFill/>
          <a:ln w="22225">
            <a:solidFill>
              <a:schemeClr val="accent1"/>
            </a:solidFill>
            <a:prstDash val="solid"/>
            <a:tailEnd type="triangle"/>
          </a:ln>
        </p:spPr>
      </p:sp>
      <p:sp>
        <p:nvSpPr>
          <p:cNvPr id="29" name="with-ultron"/>
          <p:cNvSpPr/>
          <p:nvPr/>
        </p:nvSpPr>
        <p:spPr>
          <a:xfrm>
            <a:off x="7223760" y="4937760"/>
            <a:ext cx="4416552" cy="1280160"/>
          </a:xfrm>
          <a:prstGeom prst="roundRect">
            <a:avLst>
              <a:gd name="adj" fmla="val 5714"/>
            </a:avLst>
          </a:prstGeom>
          <a:solidFill>
            <a:schemeClr val="accent4"/>
          </a:solidFill>
          <a:ln w="15875">
            <a:solidFill>
              <a:schemeClr val="accent1"/>
            </a:solidFill>
            <a:prstDash val="solid"/>
          </a:ln>
        </p:spPr>
      </p:sp>
      <p:sp>
        <p:nvSpPr>
          <p:cNvPr id="30" name="Text 23"/>
          <p:cNvSpPr txBox="1"/>
          <p:nvPr/>
        </p:nvSpPr>
        <p:spPr>
          <a:xfrm>
            <a:off x="7498080" y="5074920"/>
            <a:ext cx="384048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WITH ULTRON</a:t>
            </a:r>
            <a:endParaRPr lang="en-US" sz="1000" dirty="0"/>
          </a:p>
        </p:txBody>
      </p:sp>
      <p:sp>
        <p:nvSpPr>
          <p:cNvPr id="31" name="Text 24"/>
          <p:cNvSpPr txBox="1"/>
          <p:nvPr/>
        </p:nvSpPr>
        <p:spPr>
          <a:xfrm>
            <a:off x="7498080" y="5349240"/>
            <a:ext cx="3931920" cy="777240"/>
          </a:xfrm>
          <a:prstGeom prst="rect">
            <a:avLst/>
          </a:prstGeom>
          <a:noFill/>
          <a:ln/>
        </p:spPr>
        <p:txBody>
          <a:bodyPr wrap="square" lIns="0" tIns="0" rIns="0" bIns="0" rtlCol="0" anchor="t"/>
          <a:lstStyle/>
          <a:p>
            <a:pPr indent="0" marL="0">
              <a:buNone/>
            </a:pPr>
            <a:r>
              <a:rPr lang="en-US" sz="1500" b="1" dirty="0">
                <a:solidFill>
                  <a:schemeClr val="tx1"/>
                </a:solidFill>
              </a:rPr>
              <a:t>One sentence. ULTRON chains the tools and confirms in a line.</a:t>
            </a:r>
            <a:endParaRPr lang="en-US" sz="1500" dirty="0"/>
          </a:p>
        </p:txBody>
      </p:sp>
      <p:sp>
        <p:nvSpPr>
          <p:cNvPr id="25" name="Slide Number Placeholder 0"/>
          <p:cNvSpPr>
            <a:spLocks noGrp="1"/>
          </p:cNvSpPr>
          <p:nvPr>
            <p:ph type="sldNum" sz="quarter" idx="4294967295"/>
          </p:nvPr>
        </p:nvSpPr>
        <p:spPr>
          <a:xfrm>
            <a:off x="10972800" y="6437376"/>
            <a:ext cx="667512"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t"/>
          <a:lstStyle/>
          <a:p>
            <a:pPr indent="0" marL="0">
              <a:buNone/>
            </a:pPr>
            <a:r>
              <a:rPr lang="en-US" sz="1100" b="1" spc="300" kern="0" dirty="0">
                <a:solidFill>
                  <a:schemeClr val="accent1"/>
                </a:solidFill>
              </a:rPr>
              <a:t>PROBLEM → SOLUTION</a:t>
            </a:r>
            <a:endParaRPr lang="en-US" sz="1100" dirty="0"/>
          </a:p>
        </p:txBody>
      </p:sp>
      <p:sp>
        <p:nvSpPr>
          <p:cNvPr id="3" name="Text 0"/>
          <p:cNvSpPr/>
          <p:nvPr>
            <p:ph idx="101" type="title" hasCustomPrompt="1"/>
          </p:nvPr>
        </p:nvSpPr>
        <p:spPr>
          <a:xfrm>
            <a:off x="548640" y="640080"/>
            <a:ext cx="11091672" cy="685800"/>
          </a:xfrm>
          <a:prstGeom prst="rect">
            <a:avLst/>
          </a:prstGeom>
          <a:noFill/>
          <a:ln/>
        </p:spPr>
        <p:txBody>
          <a:bodyPr wrap="square" lIns="0" tIns="0" rIns="0" bIns="0" rtlCol="0" anchor="t"/>
          <a:lstStyle/>
          <a:p>
            <a:pPr algn="l" indent="0" marL="0">
              <a:buNone/>
            </a:pPr>
            <a:r>
              <a:rPr lang="en-US" sz="3400" b="1" dirty="0">
                <a:solidFill>
                  <a:schemeClr val="tx1"/>
                </a:solidFill>
              </a:rPr>
              <a:t>How ULTRON Answers Each Problem</a:t>
            </a:r>
            <a:endParaRPr lang="en-US" sz="3400" dirty="0"/>
          </a:p>
        </p:txBody>
      </p:sp>
      <p:sp>
        <p:nvSpPr>
          <p:cNvPr id="5" name="Text 2"/>
          <p:cNvSpPr txBox="1"/>
          <p:nvPr/>
        </p:nvSpPr>
        <p:spPr>
          <a:xfrm>
            <a:off x="777240" y="1508760"/>
            <a:ext cx="2743200" cy="228600"/>
          </a:xfrm>
          <a:prstGeom prst="rect">
            <a:avLst/>
          </a:prstGeom>
          <a:noFill/>
          <a:ln/>
        </p:spPr>
        <p:txBody>
          <a:bodyPr wrap="square" lIns="0" tIns="0" rIns="0" bIns="0" rtlCol="0" anchor="t"/>
          <a:lstStyle/>
          <a:p>
            <a:pPr indent="0" marL="0">
              <a:buNone/>
            </a:pPr>
            <a:r>
              <a:rPr lang="en-US" sz="1000" b="1" spc="200" kern="0" dirty="0">
                <a:solidFill>
                  <a:schemeClr val="tx2"/>
                </a:solidFill>
              </a:rPr>
              <a:t>REAL-TIME PROBLEM</a:t>
            </a:r>
            <a:endParaRPr lang="en-US" sz="1000" dirty="0"/>
          </a:p>
        </p:txBody>
      </p:sp>
      <p:sp>
        <p:nvSpPr>
          <p:cNvPr id="6" name="Text 3"/>
          <p:cNvSpPr txBox="1"/>
          <p:nvPr/>
        </p:nvSpPr>
        <p:spPr>
          <a:xfrm>
            <a:off x="3977640" y="1508760"/>
            <a:ext cx="365760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ULTRON'S ANSWER</a:t>
            </a:r>
            <a:endParaRPr lang="en-US" sz="1000" dirty="0"/>
          </a:p>
        </p:txBody>
      </p:sp>
      <p:sp>
        <p:nvSpPr>
          <p:cNvPr id="7" name="Text 4"/>
          <p:cNvSpPr txBox="1"/>
          <p:nvPr/>
        </p:nvSpPr>
        <p:spPr>
          <a:xfrm>
            <a:off x="8732520" y="1508760"/>
            <a:ext cx="2926080" cy="228600"/>
          </a:xfrm>
          <a:prstGeom prst="rect">
            <a:avLst/>
          </a:prstGeom>
          <a:noFill/>
          <a:ln/>
        </p:spPr>
        <p:txBody>
          <a:bodyPr wrap="square" lIns="0" tIns="0" rIns="0" bIns="0" rtlCol="0" anchor="t"/>
          <a:lstStyle/>
          <a:p>
            <a:pPr indent="0" marL="0">
              <a:buNone/>
            </a:pPr>
            <a:r>
              <a:rPr lang="en-US" sz="1000" b="1" spc="200" kern="0" dirty="0">
                <a:solidFill>
                  <a:schemeClr val="tx2"/>
                </a:solidFill>
              </a:rPr>
              <a:t>WHERE IT LIVES IN THE CODE</a:t>
            </a:r>
            <a:endParaRPr lang="en-US" sz="1000" dirty="0"/>
          </a:p>
        </p:txBody>
      </p:sp>
      <p:sp>
        <p:nvSpPr>
          <p:cNvPr id="8" name="map-row"/>
          <p:cNvSpPr/>
          <p:nvPr/>
        </p:nvSpPr>
        <p:spPr>
          <a:xfrm>
            <a:off x="548640" y="1810512"/>
            <a:ext cx="11091672" cy="960120"/>
          </a:xfrm>
          <a:prstGeom prst="roundRect">
            <a:avLst>
              <a:gd name="adj" fmla="val 7619"/>
            </a:avLst>
          </a:prstGeom>
          <a:solidFill>
            <a:schemeClr val="bg2"/>
          </a:solidFill>
          <a:ln w="9525">
            <a:solidFill>
              <a:schemeClr val="accent3"/>
            </a:solidFill>
            <a:prstDash val="solid"/>
          </a:ln>
        </p:spPr>
      </p:sp>
      <p:sp>
        <p:nvSpPr>
          <p:cNvPr id="9" name="Text 6"/>
          <p:cNvSpPr txBox="1"/>
          <p:nvPr/>
        </p:nvSpPr>
        <p:spPr>
          <a:xfrm>
            <a:off x="777240" y="1810512"/>
            <a:ext cx="2834640" cy="96012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Repetitive chores</a:t>
            </a:r>
            <a:endParaRPr lang="en-US" sz="1800" dirty="0"/>
          </a:p>
        </p:txBody>
      </p:sp>
      <p:sp>
        <p:nvSpPr>
          <p:cNvPr id="10" name="arrow"/>
          <p:cNvSpPr/>
          <p:nvPr/>
        </p:nvSpPr>
        <p:spPr>
          <a:xfrm>
            <a:off x="3520440" y="2290572"/>
            <a:ext cx="365760" cy="0"/>
          </a:xfrm>
          <a:prstGeom prst="line">
            <a:avLst/>
          </a:prstGeom>
          <a:noFill/>
          <a:ln w="22225">
            <a:solidFill>
              <a:schemeClr val="accent1"/>
            </a:solidFill>
            <a:prstDash val="solid"/>
            <a:tailEnd type="triangle"/>
          </a:ln>
        </p:spPr>
      </p:sp>
      <p:sp>
        <p:nvSpPr>
          <p:cNvPr id="11" name="Text 8"/>
          <p:cNvSpPr txBox="1"/>
          <p:nvPr/>
        </p:nvSpPr>
        <p:spPr>
          <a:xfrm>
            <a:off x="4069080" y="1810512"/>
            <a:ext cx="4434840" cy="960120"/>
          </a:xfrm>
          <a:prstGeom prst="rect">
            <a:avLst/>
          </a:prstGeom>
          <a:noFill/>
          <a:ln/>
        </p:spPr>
        <p:txBody>
          <a:bodyPr wrap="square" lIns="0" tIns="0" rIns="0" bIns="0" rtlCol="0" anchor="ctr"/>
          <a:lstStyle/>
          <a:p>
            <a:pPr indent="0" marL="0">
              <a:buNone/>
            </a:pPr>
            <a:r>
              <a:rPr lang="en-US" sz="1400" dirty="0">
                <a:solidFill>
                  <a:schemeClr val="tx1"/>
                </a:solidFill>
              </a:rPr>
              <a:t>One sentence triggers a chain of real tools — the model plans, ULTRON executes.</a:t>
            </a:r>
            <a:endParaRPr lang="en-US" sz="1400" dirty="0"/>
          </a:p>
        </p:txBody>
      </p:sp>
      <p:sp>
        <p:nvSpPr>
          <p:cNvPr id="12" name="Text 9"/>
          <p:cNvSpPr txBox="1"/>
          <p:nvPr/>
        </p:nvSpPr>
        <p:spPr>
          <a:xfrm>
            <a:off x="8732520" y="1810512"/>
            <a:ext cx="2788920" cy="960120"/>
          </a:xfrm>
          <a:prstGeom prst="rect">
            <a:avLst/>
          </a:prstGeom>
          <a:noFill/>
          <a:ln/>
        </p:spPr>
        <p:txBody>
          <a:bodyPr wrap="square" lIns="0" tIns="0" rIns="0" bIns="0" rtlCol="0" anchor="ctr"/>
          <a:lstStyle/>
          <a:p>
            <a:pPr indent="0" marL="0">
              <a:buNone/>
            </a:pPr>
            <a:r>
              <a:rPr lang="en-US" sz="1200" dirty="0">
                <a:solidFill>
                  <a:schemeClr val="accent2"/>
                </a:solidFill>
                <a:latin typeface="Courier New" pitchFamily="34" charset="0"/>
                <a:ea typeface="Courier New" pitchFamily="34" charset="-122"/>
                <a:cs typeface="Courier New" pitchFamily="34" charset="-120"/>
              </a:rPr>
              <a:t>agent.ts · 27 function declarations</a:t>
            </a:r>
            <a:endParaRPr lang="en-US" sz="1200" dirty="0"/>
          </a:p>
        </p:txBody>
      </p:sp>
      <p:sp>
        <p:nvSpPr>
          <p:cNvPr id="13" name="map-row"/>
          <p:cNvSpPr/>
          <p:nvPr/>
        </p:nvSpPr>
        <p:spPr>
          <a:xfrm>
            <a:off x="548640" y="2907792"/>
            <a:ext cx="11091672" cy="960120"/>
          </a:xfrm>
          <a:prstGeom prst="roundRect">
            <a:avLst>
              <a:gd name="adj" fmla="val 7619"/>
            </a:avLst>
          </a:prstGeom>
          <a:solidFill>
            <a:schemeClr val="bg2"/>
          </a:solidFill>
          <a:ln w="9525">
            <a:solidFill>
              <a:schemeClr val="accent3"/>
            </a:solidFill>
            <a:prstDash val="solid"/>
          </a:ln>
        </p:spPr>
      </p:sp>
      <p:sp>
        <p:nvSpPr>
          <p:cNvPr id="14" name="Text 11"/>
          <p:cNvSpPr txBox="1"/>
          <p:nvPr/>
        </p:nvSpPr>
        <p:spPr>
          <a:xfrm>
            <a:off x="777240" y="2907792"/>
            <a:ext cx="2834640" cy="96012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Broken flow</a:t>
            </a:r>
            <a:endParaRPr lang="en-US" sz="1800" dirty="0"/>
          </a:p>
        </p:txBody>
      </p:sp>
      <p:sp>
        <p:nvSpPr>
          <p:cNvPr id="15" name="arrow"/>
          <p:cNvSpPr/>
          <p:nvPr/>
        </p:nvSpPr>
        <p:spPr>
          <a:xfrm>
            <a:off x="3520440" y="3387852"/>
            <a:ext cx="365760" cy="0"/>
          </a:xfrm>
          <a:prstGeom prst="line">
            <a:avLst/>
          </a:prstGeom>
          <a:noFill/>
          <a:ln w="22225">
            <a:solidFill>
              <a:schemeClr val="accent1"/>
            </a:solidFill>
            <a:prstDash val="solid"/>
            <a:tailEnd type="triangle"/>
          </a:ln>
        </p:spPr>
      </p:sp>
      <p:sp>
        <p:nvSpPr>
          <p:cNvPr id="16" name="Text 13"/>
          <p:cNvSpPr txBox="1"/>
          <p:nvPr/>
        </p:nvSpPr>
        <p:spPr>
          <a:xfrm>
            <a:off x="4069080" y="2907792"/>
            <a:ext cx="4434840" cy="960120"/>
          </a:xfrm>
          <a:prstGeom prst="rect">
            <a:avLst/>
          </a:prstGeom>
          <a:noFill/>
          <a:ln/>
        </p:spPr>
        <p:txBody>
          <a:bodyPr wrap="square" lIns="0" tIns="0" rIns="0" bIns="0" rtlCol="0" anchor="ctr"/>
          <a:lstStyle/>
          <a:p>
            <a:pPr indent="0" marL="0">
              <a:buNone/>
            </a:pPr>
            <a:r>
              <a:rPr lang="en-US" sz="1400" dirty="0">
                <a:solidFill>
                  <a:schemeClr val="tx1"/>
                </a:solidFill>
              </a:rPr>
              <a:t>Always-on tray app, summoned or hidden anywhere with Ctrl + Shift + U.</a:t>
            </a:r>
            <a:endParaRPr lang="en-US" sz="1400" dirty="0"/>
          </a:p>
        </p:txBody>
      </p:sp>
      <p:sp>
        <p:nvSpPr>
          <p:cNvPr id="17" name="Text 14"/>
          <p:cNvSpPr txBox="1"/>
          <p:nvPr/>
        </p:nvSpPr>
        <p:spPr>
          <a:xfrm>
            <a:off x="8732520" y="2907792"/>
            <a:ext cx="2788920" cy="960120"/>
          </a:xfrm>
          <a:prstGeom prst="rect">
            <a:avLst/>
          </a:prstGeom>
          <a:noFill/>
          <a:ln/>
        </p:spPr>
        <p:txBody>
          <a:bodyPr wrap="square" lIns="0" tIns="0" rIns="0" bIns="0" rtlCol="0" anchor="ctr"/>
          <a:lstStyle/>
          <a:p>
            <a:pPr indent="0" marL="0">
              <a:buNone/>
            </a:pPr>
            <a:r>
              <a:rPr lang="en-US" sz="1200" dirty="0">
                <a:solidFill>
                  <a:schemeClr val="accent2"/>
                </a:solidFill>
                <a:latin typeface="Courier New" pitchFamily="34" charset="0"/>
                <a:ea typeface="Courier New" pitchFamily="34" charset="-122"/>
                <a:cs typeface="Courier New" pitchFamily="34" charset="-120"/>
              </a:rPr>
              <a:t>main.ts · Tray + globalShortcut</a:t>
            </a:r>
            <a:endParaRPr lang="en-US" sz="1200" dirty="0"/>
          </a:p>
        </p:txBody>
      </p:sp>
      <p:sp>
        <p:nvSpPr>
          <p:cNvPr id="18" name="map-row"/>
          <p:cNvSpPr/>
          <p:nvPr/>
        </p:nvSpPr>
        <p:spPr>
          <a:xfrm>
            <a:off x="548640" y="4005072"/>
            <a:ext cx="11091672" cy="960120"/>
          </a:xfrm>
          <a:prstGeom prst="roundRect">
            <a:avLst>
              <a:gd name="adj" fmla="val 7619"/>
            </a:avLst>
          </a:prstGeom>
          <a:solidFill>
            <a:schemeClr val="bg2"/>
          </a:solidFill>
          <a:ln w="9525">
            <a:solidFill>
              <a:schemeClr val="accent3"/>
            </a:solidFill>
            <a:prstDash val="solid"/>
          </a:ln>
        </p:spPr>
      </p:sp>
      <p:sp>
        <p:nvSpPr>
          <p:cNvPr id="19" name="Text 16"/>
          <p:cNvSpPr txBox="1"/>
          <p:nvPr/>
        </p:nvSpPr>
        <p:spPr>
          <a:xfrm>
            <a:off x="777240" y="4005072"/>
            <a:ext cx="2834640" cy="96012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Language gap</a:t>
            </a:r>
            <a:endParaRPr lang="en-US" sz="1800" dirty="0"/>
          </a:p>
        </p:txBody>
      </p:sp>
      <p:sp>
        <p:nvSpPr>
          <p:cNvPr id="20" name="arrow"/>
          <p:cNvSpPr/>
          <p:nvPr/>
        </p:nvSpPr>
        <p:spPr>
          <a:xfrm>
            <a:off x="3520440" y="4485132"/>
            <a:ext cx="365760" cy="0"/>
          </a:xfrm>
          <a:prstGeom prst="line">
            <a:avLst/>
          </a:prstGeom>
          <a:noFill/>
          <a:ln w="22225">
            <a:solidFill>
              <a:schemeClr val="accent1"/>
            </a:solidFill>
            <a:prstDash val="solid"/>
            <a:tailEnd type="triangle"/>
          </a:ln>
        </p:spPr>
      </p:sp>
      <p:sp>
        <p:nvSpPr>
          <p:cNvPr id="21" name="Text 18"/>
          <p:cNvSpPr txBox="1"/>
          <p:nvPr/>
        </p:nvSpPr>
        <p:spPr>
          <a:xfrm>
            <a:off x="4069080" y="4005072"/>
            <a:ext cx="4434840" cy="960120"/>
          </a:xfrm>
          <a:prstGeom prst="rect">
            <a:avLst/>
          </a:prstGeom>
          <a:noFill/>
          <a:ln/>
        </p:spPr>
        <p:txBody>
          <a:bodyPr wrap="square" lIns="0" tIns="0" rIns="0" bIns="0" rtlCol="0" anchor="ctr"/>
          <a:lstStyle/>
          <a:p>
            <a:pPr indent="0" marL="0">
              <a:buNone/>
            </a:pPr>
            <a:r>
              <a:rPr lang="en-US" sz="1400" dirty="0">
                <a:solidFill>
                  <a:schemeClr val="tx1"/>
                </a:solidFill>
              </a:rPr>
              <a:t>Gemini parses code-mixed input; the system prompt makes it reply in the same mix.</a:t>
            </a:r>
            <a:endParaRPr lang="en-US" sz="1400" dirty="0"/>
          </a:p>
        </p:txBody>
      </p:sp>
      <p:sp>
        <p:nvSpPr>
          <p:cNvPr id="22" name="Text 19"/>
          <p:cNvSpPr txBox="1"/>
          <p:nvPr/>
        </p:nvSpPr>
        <p:spPr>
          <a:xfrm>
            <a:off x="8732520" y="4005072"/>
            <a:ext cx="2788920" cy="960120"/>
          </a:xfrm>
          <a:prstGeom prst="rect">
            <a:avLst/>
          </a:prstGeom>
          <a:noFill/>
          <a:ln/>
        </p:spPr>
        <p:txBody>
          <a:bodyPr wrap="square" lIns="0" tIns="0" rIns="0" bIns="0" rtlCol="0" anchor="ctr"/>
          <a:lstStyle/>
          <a:p>
            <a:pPr indent="0" marL="0">
              <a:buNone/>
            </a:pPr>
            <a:r>
              <a:rPr lang="en-US" sz="1200" dirty="0">
                <a:solidFill>
                  <a:schemeClr val="accent2"/>
                </a:solidFill>
                <a:latin typeface="Courier New" pitchFamily="34" charset="0"/>
                <a:ea typeface="Courier New" pitchFamily="34" charset="-122"/>
                <a:cs typeface="Courier New" pitchFamily="34" charset="-120"/>
              </a:rPr>
              <a:t>agent.ts · SYSTEM_PROMPT</a:t>
            </a:r>
            <a:endParaRPr lang="en-US" sz="1200" dirty="0"/>
          </a:p>
        </p:txBody>
      </p:sp>
      <p:sp>
        <p:nvSpPr>
          <p:cNvPr id="23" name="map-row"/>
          <p:cNvSpPr/>
          <p:nvPr/>
        </p:nvSpPr>
        <p:spPr>
          <a:xfrm>
            <a:off x="548640" y="5102352"/>
            <a:ext cx="11091672" cy="960120"/>
          </a:xfrm>
          <a:prstGeom prst="roundRect">
            <a:avLst>
              <a:gd name="adj" fmla="val 7619"/>
            </a:avLst>
          </a:prstGeom>
          <a:solidFill>
            <a:schemeClr val="bg2"/>
          </a:solidFill>
          <a:ln w="9525">
            <a:solidFill>
              <a:schemeClr val="accent3"/>
            </a:solidFill>
            <a:prstDash val="solid"/>
          </a:ln>
        </p:spPr>
      </p:sp>
      <p:sp>
        <p:nvSpPr>
          <p:cNvPr id="24" name="Text 21"/>
          <p:cNvSpPr txBox="1"/>
          <p:nvPr/>
        </p:nvSpPr>
        <p:spPr>
          <a:xfrm>
            <a:off x="777240" y="5102352"/>
            <a:ext cx="2834640" cy="96012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Bots that only talk</a:t>
            </a:r>
            <a:endParaRPr lang="en-US" sz="1800" dirty="0"/>
          </a:p>
        </p:txBody>
      </p:sp>
      <p:sp>
        <p:nvSpPr>
          <p:cNvPr id="25" name="arrow"/>
          <p:cNvSpPr/>
          <p:nvPr/>
        </p:nvSpPr>
        <p:spPr>
          <a:xfrm>
            <a:off x="3520440" y="5582412"/>
            <a:ext cx="365760" cy="0"/>
          </a:xfrm>
          <a:prstGeom prst="line">
            <a:avLst/>
          </a:prstGeom>
          <a:noFill/>
          <a:ln w="22225">
            <a:solidFill>
              <a:schemeClr val="accent1"/>
            </a:solidFill>
            <a:prstDash val="solid"/>
            <a:tailEnd type="triangle"/>
          </a:ln>
        </p:spPr>
      </p:sp>
      <p:sp>
        <p:nvSpPr>
          <p:cNvPr id="26" name="Text 23"/>
          <p:cNvSpPr txBox="1"/>
          <p:nvPr/>
        </p:nvSpPr>
        <p:spPr>
          <a:xfrm>
            <a:off x="4069080" y="5102352"/>
            <a:ext cx="4434840" cy="960120"/>
          </a:xfrm>
          <a:prstGeom prst="rect">
            <a:avLst/>
          </a:prstGeom>
          <a:noFill/>
          <a:ln/>
        </p:spPr>
        <p:txBody>
          <a:bodyPr wrap="square" lIns="0" tIns="0" rIns="0" bIns="0" rtlCol="0" anchor="ctr"/>
          <a:lstStyle/>
          <a:p>
            <a:pPr indent="0" marL="0">
              <a:buNone/>
            </a:pPr>
            <a:r>
              <a:rPr lang="en-US" sz="1400" dirty="0">
                <a:solidFill>
                  <a:schemeClr val="tx1"/>
                </a:solidFill>
              </a:rPr>
              <a:t>“Never just describe — execute.” Actions go through tools, results return to the model.</a:t>
            </a:r>
            <a:endParaRPr lang="en-US" sz="1400" dirty="0"/>
          </a:p>
        </p:txBody>
      </p:sp>
      <p:sp>
        <p:nvSpPr>
          <p:cNvPr id="27" name="Text 24"/>
          <p:cNvSpPr txBox="1"/>
          <p:nvPr/>
        </p:nvSpPr>
        <p:spPr>
          <a:xfrm>
            <a:off x="8732520" y="5102352"/>
            <a:ext cx="2788920" cy="960120"/>
          </a:xfrm>
          <a:prstGeom prst="rect">
            <a:avLst/>
          </a:prstGeom>
          <a:noFill/>
          <a:ln/>
        </p:spPr>
        <p:txBody>
          <a:bodyPr wrap="square" lIns="0" tIns="0" rIns="0" bIns="0" rtlCol="0" anchor="ctr"/>
          <a:lstStyle/>
          <a:p>
            <a:pPr indent="0" marL="0">
              <a:buNone/>
            </a:pPr>
            <a:r>
              <a:rPr lang="en-US" sz="1200" dirty="0">
                <a:solidFill>
                  <a:schemeClr val="accent2"/>
                </a:solidFill>
                <a:latin typeface="Courier New" pitchFamily="34" charset="0"/>
                <a:ea typeface="Courier New" pitchFamily="34" charset="-122"/>
                <a:cs typeface="Courier New" pitchFamily="34" charset="-120"/>
              </a:rPr>
              <a:t>agent.ts · executeTool() + process()</a:t>
            </a:r>
            <a:endParaRPr lang="en-US" sz="1200" dirty="0"/>
          </a:p>
        </p:txBody>
      </p:sp>
      <p:sp>
        <p:nvSpPr>
          <p:cNvPr id="25" name="Slide Number Placeholder 0"/>
          <p:cNvSpPr>
            <a:spLocks noGrp="1"/>
          </p:cNvSpPr>
          <p:nvPr>
            <p:ph type="sldNum" sz="quarter" idx="4294967295"/>
          </p:nvPr>
        </p:nvSpPr>
        <p:spPr>
          <a:xfrm>
            <a:off x="10972800" y="6437376"/>
            <a:ext cx="667512"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t"/>
          <a:lstStyle/>
          <a:p>
            <a:pPr indent="0" marL="0">
              <a:buNone/>
            </a:pPr>
            <a:r>
              <a:rPr lang="en-US" sz="1100" b="1" spc="300" kern="0" dirty="0">
                <a:solidFill>
                  <a:schemeClr val="accent1"/>
                </a:solidFill>
              </a:rPr>
              <a:t>AGENTIC AI</a:t>
            </a:r>
            <a:endParaRPr lang="en-US" sz="1100" dirty="0"/>
          </a:p>
        </p:txBody>
      </p:sp>
      <p:sp>
        <p:nvSpPr>
          <p:cNvPr id="3" name="Text 0"/>
          <p:cNvSpPr/>
          <p:nvPr>
            <p:ph idx="101" type="title" hasCustomPrompt="1"/>
          </p:nvPr>
        </p:nvSpPr>
        <p:spPr>
          <a:xfrm>
            <a:off x="548640" y="640080"/>
            <a:ext cx="11091672" cy="685800"/>
          </a:xfrm>
          <a:prstGeom prst="rect">
            <a:avLst/>
          </a:prstGeom>
          <a:noFill/>
          <a:ln/>
        </p:spPr>
        <p:txBody>
          <a:bodyPr wrap="square" lIns="0" tIns="0" rIns="0" bIns="0" rtlCol="0" anchor="t"/>
          <a:lstStyle/>
          <a:p>
            <a:pPr algn="l" indent="0" marL="0">
              <a:buNone/>
            </a:pPr>
            <a:r>
              <a:rPr lang="en-US" sz="3400" b="1" dirty="0">
                <a:solidFill>
                  <a:schemeClr val="tx1"/>
                </a:solidFill>
              </a:rPr>
              <a:t>What Makes ULTRON “Agentic”?</a:t>
            </a:r>
            <a:endParaRPr lang="en-US" sz="3400" dirty="0"/>
          </a:p>
        </p:txBody>
      </p:sp>
      <p:sp>
        <p:nvSpPr>
          <p:cNvPr id="5" name="Text 2"/>
          <p:cNvSpPr txBox="1"/>
          <p:nvPr/>
        </p:nvSpPr>
        <p:spPr>
          <a:xfrm>
            <a:off x="3291840" y="1508760"/>
            <a:ext cx="3657600" cy="274320"/>
          </a:xfrm>
          <a:prstGeom prst="rect">
            <a:avLst/>
          </a:prstGeom>
          <a:noFill/>
          <a:ln/>
        </p:spPr>
        <p:txBody>
          <a:bodyPr wrap="square" lIns="0" tIns="0" rIns="0" bIns="0" rtlCol="0" anchor="t"/>
          <a:lstStyle/>
          <a:p>
            <a:pPr indent="0" marL="0">
              <a:buNone/>
            </a:pPr>
            <a:r>
              <a:rPr lang="en-US" sz="1200" b="1" spc="300" kern="0" dirty="0">
                <a:solidFill>
                  <a:schemeClr val="tx2"/>
                </a:solidFill>
              </a:rPr>
              <a:t>CHATBOT</a:t>
            </a:r>
            <a:endParaRPr lang="en-US" sz="1200" dirty="0"/>
          </a:p>
        </p:txBody>
      </p:sp>
      <p:sp>
        <p:nvSpPr>
          <p:cNvPr id="6" name="Text 3"/>
          <p:cNvSpPr txBox="1"/>
          <p:nvPr/>
        </p:nvSpPr>
        <p:spPr>
          <a:xfrm>
            <a:off x="7498080" y="1508760"/>
            <a:ext cx="411480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ULTRON AGENT</a:t>
            </a:r>
            <a:endParaRPr lang="en-US" sz="1200" dirty="0"/>
          </a:p>
        </p:txBody>
      </p:sp>
      <p:sp>
        <p:nvSpPr>
          <p:cNvPr id="7" name="dim-card"/>
          <p:cNvSpPr/>
          <p:nvPr/>
        </p:nvSpPr>
        <p:spPr>
          <a:xfrm>
            <a:off x="548640" y="1874520"/>
            <a:ext cx="2514600" cy="941832"/>
          </a:xfrm>
          <a:prstGeom prst="roundRect">
            <a:avLst>
              <a:gd name="adj" fmla="val 7767"/>
            </a:avLst>
          </a:prstGeom>
          <a:solidFill>
            <a:schemeClr val="bg2"/>
          </a:solidFill>
          <a:ln w="9525">
            <a:solidFill>
              <a:schemeClr val="accent3"/>
            </a:solidFill>
            <a:prstDash val="solid"/>
          </a:ln>
        </p:spPr>
      </p:sp>
      <p:sp>
        <p:nvSpPr>
          <p:cNvPr id="8" name="icon-circle"/>
          <p:cNvSpPr/>
          <p:nvPr/>
        </p:nvSpPr>
        <p:spPr>
          <a:xfrm>
            <a:off x="731520" y="2093976"/>
            <a:ext cx="502920" cy="502920"/>
          </a:xfrm>
          <a:prstGeom prst="ellipse">
            <a:avLst/>
          </a:prstGeom>
          <a:solidFill>
            <a:schemeClr val="accent4"/>
          </a:solidFill>
          <a:ln w="9525">
            <a:solidFill>
              <a:schemeClr val="accent3"/>
            </a:solidFill>
            <a:prstDash val="solid"/>
          </a:ln>
        </p:spPr>
      </p:sp>
      <p:pic>
        <p:nvPicPr>
          <p:cNvPr id="9" name="Image 0" descr="MessageSquare icon">    </p:cNvPr>
          <p:cNvPicPr>
            <a:picLocks noChangeAspect="1"/>
          </p:cNvPicPr>
          <p:nvPr/>
        </p:nvPicPr>
        <p:blipFill>
          <a:blip r:embed="rId1"/>
          <a:stretch>
            <a:fillRect/>
          </a:stretch>
        </p:blipFill>
        <p:spPr>
          <a:xfrm>
            <a:off x="852221" y="2214677"/>
            <a:ext cx="261518" cy="261518"/>
          </a:xfrm>
          <a:prstGeom prst="rect">
            <a:avLst/>
          </a:prstGeom>
        </p:spPr>
      </p:pic>
      <p:sp>
        <p:nvSpPr>
          <p:cNvPr id="10" name="Text 6"/>
          <p:cNvSpPr txBox="1"/>
          <p:nvPr/>
        </p:nvSpPr>
        <p:spPr>
          <a:xfrm>
            <a:off x="1371600" y="1874520"/>
            <a:ext cx="1645920" cy="941832"/>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Output</a:t>
            </a:r>
            <a:endParaRPr lang="en-US" sz="1700" dirty="0"/>
          </a:p>
        </p:txBody>
      </p:sp>
      <p:sp>
        <p:nvSpPr>
          <p:cNvPr id="11" name="chatbot-cell"/>
          <p:cNvSpPr/>
          <p:nvPr/>
        </p:nvSpPr>
        <p:spPr>
          <a:xfrm>
            <a:off x="3246120" y="1874520"/>
            <a:ext cx="3931920" cy="941832"/>
          </a:xfrm>
          <a:prstGeom prst="roundRect">
            <a:avLst>
              <a:gd name="adj" fmla="val 7767"/>
            </a:avLst>
          </a:prstGeom>
          <a:solidFill>
            <a:schemeClr val="bg2"/>
          </a:solidFill>
          <a:ln w="9525">
            <a:solidFill>
              <a:schemeClr val="accent3"/>
            </a:solidFill>
            <a:prstDash val="solid"/>
          </a:ln>
        </p:spPr>
      </p:sp>
      <p:sp>
        <p:nvSpPr>
          <p:cNvPr id="12" name="Text 8"/>
          <p:cNvSpPr txBox="1"/>
          <p:nvPr/>
        </p:nvSpPr>
        <p:spPr>
          <a:xfrm>
            <a:off x="3474720" y="1874520"/>
            <a:ext cx="3520440" cy="941832"/>
          </a:xfrm>
          <a:prstGeom prst="rect">
            <a:avLst/>
          </a:prstGeom>
          <a:noFill/>
          <a:ln/>
        </p:spPr>
        <p:txBody>
          <a:bodyPr wrap="square" lIns="0" tIns="0" rIns="0" bIns="0" rtlCol="0" anchor="ctr"/>
          <a:lstStyle/>
          <a:p>
            <a:pPr indent="0" marL="0">
              <a:buNone/>
            </a:pPr>
            <a:r>
              <a:rPr lang="en-US" sz="1500" dirty="0">
                <a:solidFill>
                  <a:schemeClr val="tx2"/>
                </a:solidFill>
              </a:rPr>
              <a:t>A text answer</a:t>
            </a:r>
            <a:endParaRPr lang="en-US" sz="1500" dirty="0"/>
          </a:p>
        </p:txBody>
      </p:sp>
      <p:sp>
        <p:nvSpPr>
          <p:cNvPr id="13" name="agent-cell"/>
          <p:cNvSpPr/>
          <p:nvPr/>
        </p:nvSpPr>
        <p:spPr>
          <a:xfrm>
            <a:off x="7360920" y="1874520"/>
            <a:ext cx="4279392" cy="941832"/>
          </a:xfrm>
          <a:prstGeom prst="roundRect">
            <a:avLst>
              <a:gd name="adj" fmla="val 7767"/>
            </a:avLst>
          </a:prstGeom>
          <a:solidFill>
            <a:schemeClr val="accent4"/>
          </a:solidFill>
          <a:ln w="15875">
            <a:solidFill>
              <a:schemeClr val="accent1"/>
            </a:solidFill>
            <a:prstDash val="solid"/>
          </a:ln>
        </p:spPr>
      </p:sp>
      <p:sp>
        <p:nvSpPr>
          <p:cNvPr id="14" name="Text 10"/>
          <p:cNvSpPr txBox="1"/>
          <p:nvPr/>
        </p:nvSpPr>
        <p:spPr>
          <a:xfrm>
            <a:off x="7589520" y="1874520"/>
            <a:ext cx="3840480" cy="941832"/>
          </a:xfrm>
          <a:prstGeom prst="rect">
            <a:avLst/>
          </a:prstGeom>
          <a:noFill/>
          <a:ln/>
        </p:spPr>
        <p:txBody>
          <a:bodyPr wrap="square" lIns="0" tIns="0" rIns="0" bIns="0" rtlCol="0" anchor="ctr"/>
          <a:lstStyle/>
          <a:p>
            <a:pPr indent="0" marL="0">
              <a:buNone/>
            </a:pPr>
            <a:r>
              <a:rPr lang="en-US" sz="1500" b="1" dirty="0">
                <a:solidFill>
                  <a:schemeClr val="tx1"/>
                </a:solidFill>
              </a:rPr>
              <a:t>A completed action plus a one-line confirmation</a:t>
            </a:r>
            <a:endParaRPr lang="en-US" sz="1500" dirty="0"/>
          </a:p>
        </p:txBody>
      </p:sp>
      <p:sp>
        <p:nvSpPr>
          <p:cNvPr id="15" name="dim-card"/>
          <p:cNvSpPr/>
          <p:nvPr/>
        </p:nvSpPr>
        <p:spPr>
          <a:xfrm>
            <a:off x="548640" y="2953512"/>
            <a:ext cx="2514600" cy="941832"/>
          </a:xfrm>
          <a:prstGeom prst="roundRect">
            <a:avLst>
              <a:gd name="adj" fmla="val 7767"/>
            </a:avLst>
          </a:prstGeom>
          <a:solidFill>
            <a:schemeClr val="bg2"/>
          </a:solidFill>
          <a:ln w="9525">
            <a:solidFill>
              <a:schemeClr val="accent3"/>
            </a:solidFill>
            <a:prstDash val="solid"/>
          </a:ln>
        </p:spPr>
      </p:sp>
      <p:sp>
        <p:nvSpPr>
          <p:cNvPr id="16" name="icon-circle"/>
          <p:cNvSpPr/>
          <p:nvPr/>
        </p:nvSpPr>
        <p:spPr>
          <a:xfrm>
            <a:off x="731520" y="3172968"/>
            <a:ext cx="502920" cy="502920"/>
          </a:xfrm>
          <a:prstGeom prst="ellipse">
            <a:avLst/>
          </a:prstGeom>
          <a:solidFill>
            <a:schemeClr val="accent4"/>
          </a:solidFill>
          <a:ln w="9525">
            <a:solidFill>
              <a:schemeClr val="accent3"/>
            </a:solidFill>
            <a:prstDash val="solid"/>
          </a:ln>
        </p:spPr>
      </p:sp>
      <p:pic>
        <p:nvPicPr>
          <p:cNvPr id="17" name="Image 1" descr="Hand icon">    </p:cNvPr>
          <p:cNvPicPr>
            <a:picLocks noChangeAspect="1"/>
          </p:cNvPicPr>
          <p:nvPr/>
        </p:nvPicPr>
        <p:blipFill>
          <a:blip r:embed="rId2"/>
          <a:stretch>
            <a:fillRect/>
          </a:stretch>
        </p:blipFill>
        <p:spPr>
          <a:xfrm>
            <a:off x="852221" y="3293669"/>
            <a:ext cx="261518" cy="261518"/>
          </a:xfrm>
          <a:prstGeom prst="rect">
            <a:avLst/>
          </a:prstGeom>
        </p:spPr>
      </p:pic>
      <p:sp>
        <p:nvSpPr>
          <p:cNvPr id="18" name="Text 13"/>
          <p:cNvSpPr txBox="1"/>
          <p:nvPr/>
        </p:nvSpPr>
        <p:spPr>
          <a:xfrm>
            <a:off x="1371600" y="2953512"/>
            <a:ext cx="1645920" cy="941832"/>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Control</a:t>
            </a:r>
            <a:endParaRPr lang="en-US" sz="1700" dirty="0"/>
          </a:p>
        </p:txBody>
      </p:sp>
      <p:sp>
        <p:nvSpPr>
          <p:cNvPr id="19" name="chatbot-cell"/>
          <p:cNvSpPr/>
          <p:nvPr/>
        </p:nvSpPr>
        <p:spPr>
          <a:xfrm>
            <a:off x="3246120" y="2953512"/>
            <a:ext cx="3931920" cy="941832"/>
          </a:xfrm>
          <a:prstGeom prst="roundRect">
            <a:avLst>
              <a:gd name="adj" fmla="val 7767"/>
            </a:avLst>
          </a:prstGeom>
          <a:solidFill>
            <a:schemeClr val="bg2"/>
          </a:solidFill>
          <a:ln w="9525">
            <a:solidFill>
              <a:schemeClr val="accent3"/>
            </a:solidFill>
            <a:prstDash val="solid"/>
          </a:ln>
        </p:spPr>
      </p:sp>
      <p:sp>
        <p:nvSpPr>
          <p:cNvPr id="20" name="Text 15"/>
          <p:cNvSpPr txBox="1"/>
          <p:nvPr/>
        </p:nvSpPr>
        <p:spPr>
          <a:xfrm>
            <a:off x="3474720" y="2953512"/>
            <a:ext cx="3520440" cy="941832"/>
          </a:xfrm>
          <a:prstGeom prst="rect">
            <a:avLst/>
          </a:prstGeom>
          <a:noFill/>
          <a:ln/>
        </p:spPr>
        <p:txBody>
          <a:bodyPr wrap="square" lIns="0" tIns="0" rIns="0" bIns="0" rtlCol="0" anchor="ctr"/>
          <a:lstStyle/>
          <a:p>
            <a:pPr indent="0" marL="0">
              <a:buNone/>
            </a:pPr>
            <a:r>
              <a:rPr lang="en-US" sz="1500" dirty="0">
                <a:solidFill>
                  <a:schemeClr val="tx2"/>
                </a:solidFill>
              </a:rPr>
              <a:t>None — the user performs every step</a:t>
            </a:r>
            <a:endParaRPr lang="en-US" sz="1500" dirty="0"/>
          </a:p>
        </p:txBody>
      </p:sp>
      <p:sp>
        <p:nvSpPr>
          <p:cNvPr id="21" name="agent-cell"/>
          <p:cNvSpPr/>
          <p:nvPr/>
        </p:nvSpPr>
        <p:spPr>
          <a:xfrm>
            <a:off x="7360920" y="2953512"/>
            <a:ext cx="4279392" cy="941832"/>
          </a:xfrm>
          <a:prstGeom prst="roundRect">
            <a:avLst>
              <a:gd name="adj" fmla="val 7767"/>
            </a:avLst>
          </a:prstGeom>
          <a:solidFill>
            <a:schemeClr val="accent4"/>
          </a:solidFill>
          <a:ln w="15875">
            <a:solidFill>
              <a:schemeClr val="accent1"/>
            </a:solidFill>
            <a:prstDash val="solid"/>
          </a:ln>
        </p:spPr>
      </p:sp>
      <p:sp>
        <p:nvSpPr>
          <p:cNvPr id="22" name="Text 17"/>
          <p:cNvSpPr txBox="1"/>
          <p:nvPr/>
        </p:nvSpPr>
        <p:spPr>
          <a:xfrm>
            <a:off x="7589520" y="2953512"/>
            <a:ext cx="3840480" cy="941832"/>
          </a:xfrm>
          <a:prstGeom prst="rect">
            <a:avLst/>
          </a:prstGeom>
          <a:noFill/>
          <a:ln/>
        </p:spPr>
        <p:txBody>
          <a:bodyPr wrap="square" lIns="0" tIns="0" rIns="0" bIns="0" rtlCol="0" anchor="ctr"/>
          <a:lstStyle/>
          <a:p>
            <a:pPr indent="0" marL="0">
              <a:buNone/>
            </a:pPr>
            <a:r>
              <a:rPr lang="en-US" sz="1500" b="1" dirty="0">
                <a:solidFill>
                  <a:schemeClr val="tx1"/>
                </a:solidFill>
              </a:rPr>
              <a:t>Calls real Windows tools on the user's behalf</a:t>
            </a:r>
            <a:endParaRPr lang="en-US" sz="1500" dirty="0"/>
          </a:p>
        </p:txBody>
      </p:sp>
      <p:sp>
        <p:nvSpPr>
          <p:cNvPr id="23" name="dim-card"/>
          <p:cNvSpPr/>
          <p:nvPr/>
        </p:nvSpPr>
        <p:spPr>
          <a:xfrm>
            <a:off x="548640" y="4032504"/>
            <a:ext cx="2514600" cy="941832"/>
          </a:xfrm>
          <a:prstGeom prst="roundRect">
            <a:avLst>
              <a:gd name="adj" fmla="val 7767"/>
            </a:avLst>
          </a:prstGeom>
          <a:solidFill>
            <a:schemeClr val="bg2"/>
          </a:solidFill>
          <a:ln w="9525">
            <a:solidFill>
              <a:schemeClr val="accent3"/>
            </a:solidFill>
            <a:prstDash val="solid"/>
          </a:ln>
        </p:spPr>
      </p:sp>
      <p:sp>
        <p:nvSpPr>
          <p:cNvPr id="24" name="icon-circle"/>
          <p:cNvSpPr/>
          <p:nvPr/>
        </p:nvSpPr>
        <p:spPr>
          <a:xfrm>
            <a:off x="731520" y="4251960"/>
            <a:ext cx="502920" cy="502920"/>
          </a:xfrm>
          <a:prstGeom prst="ellipse">
            <a:avLst/>
          </a:prstGeom>
          <a:solidFill>
            <a:schemeClr val="accent4"/>
          </a:solidFill>
          <a:ln w="9525">
            <a:solidFill>
              <a:schemeClr val="accent3"/>
            </a:solidFill>
            <a:prstDash val="solid"/>
          </a:ln>
        </p:spPr>
      </p:sp>
      <p:pic>
        <p:nvPicPr>
          <p:cNvPr id="25" name="Image 2" descr="Eye icon">    </p:cNvPr>
          <p:cNvPicPr>
            <a:picLocks noChangeAspect="1"/>
          </p:cNvPicPr>
          <p:nvPr/>
        </p:nvPicPr>
        <p:blipFill>
          <a:blip r:embed="rId3"/>
          <a:stretch>
            <a:fillRect/>
          </a:stretch>
        </p:blipFill>
        <p:spPr>
          <a:xfrm>
            <a:off x="852221" y="4372661"/>
            <a:ext cx="261518" cy="261518"/>
          </a:xfrm>
          <a:prstGeom prst="rect">
            <a:avLst/>
          </a:prstGeom>
        </p:spPr>
      </p:pic>
      <p:sp>
        <p:nvSpPr>
          <p:cNvPr id="26" name="Text 20"/>
          <p:cNvSpPr txBox="1"/>
          <p:nvPr/>
        </p:nvSpPr>
        <p:spPr>
          <a:xfrm>
            <a:off x="1371600" y="4032504"/>
            <a:ext cx="1645920" cy="941832"/>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Feedback</a:t>
            </a:r>
            <a:endParaRPr lang="en-US" sz="1700" dirty="0"/>
          </a:p>
        </p:txBody>
      </p:sp>
      <p:sp>
        <p:nvSpPr>
          <p:cNvPr id="27" name="chatbot-cell"/>
          <p:cNvSpPr/>
          <p:nvPr/>
        </p:nvSpPr>
        <p:spPr>
          <a:xfrm>
            <a:off x="3246120" y="4032504"/>
            <a:ext cx="3931920" cy="941832"/>
          </a:xfrm>
          <a:prstGeom prst="roundRect">
            <a:avLst>
              <a:gd name="adj" fmla="val 7767"/>
            </a:avLst>
          </a:prstGeom>
          <a:solidFill>
            <a:schemeClr val="bg2"/>
          </a:solidFill>
          <a:ln w="9525">
            <a:solidFill>
              <a:schemeClr val="accent3"/>
            </a:solidFill>
            <a:prstDash val="solid"/>
          </a:ln>
        </p:spPr>
      </p:sp>
      <p:sp>
        <p:nvSpPr>
          <p:cNvPr id="28" name="Text 22"/>
          <p:cNvSpPr txBox="1"/>
          <p:nvPr/>
        </p:nvSpPr>
        <p:spPr>
          <a:xfrm>
            <a:off x="3474720" y="4032504"/>
            <a:ext cx="3520440" cy="941832"/>
          </a:xfrm>
          <a:prstGeom prst="rect">
            <a:avLst/>
          </a:prstGeom>
          <a:noFill/>
          <a:ln/>
        </p:spPr>
        <p:txBody>
          <a:bodyPr wrap="square" lIns="0" tIns="0" rIns="0" bIns="0" rtlCol="0" anchor="ctr"/>
          <a:lstStyle/>
          <a:p>
            <a:pPr indent="0" marL="0">
              <a:buNone/>
            </a:pPr>
            <a:r>
              <a:rPr lang="en-US" sz="1500" dirty="0">
                <a:solidFill>
                  <a:schemeClr val="tx2"/>
                </a:solidFill>
              </a:rPr>
              <a:t>Never sees what happened afterwards</a:t>
            </a:r>
            <a:endParaRPr lang="en-US" sz="1500" dirty="0"/>
          </a:p>
        </p:txBody>
      </p:sp>
      <p:sp>
        <p:nvSpPr>
          <p:cNvPr id="29" name="agent-cell"/>
          <p:cNvSpPr/>
          <p:nvPr/>
        </p:nvSpPr>
        <p:spPr>
          <a:xfrm>
            <a:off x="7360920" y="4032504"/>
            <a:ext cx="4279392" cy="941832"/>
          </a:xfrm>
          <a:prstGeom prst="roundRect">
            <a:avLst>
              <a:gd name="adj" fmla="val 7767"/>
            </a:avLst>
          </a:prstGeom>
          <a:solidFill>
            <a:schemeClr val="accent4"/>
          </a:solidFill>
          <a:ln w="15875">
            <a:solidFill>
              <a:schemeClr val="accent1"/>
            </a:solidFill>
            <a:prstDash val="solid"/>
          </a:ln>
        </p:spPr>
      </p:sp>
      <p:sp>
        <p:nvSpPr>
          <p:cNvPr id="30" name="Text 24"/>
          <p:cNvSpPr txBox="1"/>
          <p:nvPr/>
        </p:nvSpPr>
        <p:spPr>
          <a:xfrm>
            <a:off x="7589520" y="4032504"/>
            <a:ext cx="3840480" cy="941832"/>
          </a:xfrm>
          <a:prstGeom prst="rect">
            <a:avLst/>
          </a:prstGeom>
          <a:noFill/>
          <a:ln/>
        </p:spPr>
        <p:txBody>
          <a:bodyPr wrap="square" lIns="0" tIns="0" rIns="0" bIns="0" rtlCol="0" anchor="ctr"/>
          <a:lstStyle/>
          <a:p>
            <a:pPr indent="0" marL="0">
              <a:buNone/>
            </a:pPr>
            <a:r>
              <a:rPr lang="en-US" sz="1500" b="1" dirty="0">
                <a:solidFill>
                  <a:schemeClr val="tx1"/>
                </a:solidFill>
              </a:rPr>
              <a:t>Reads each tool's result and replies from it</a:t>
            </a:r>
            <a:endParaRPr lang="en-US" sz="1500" dirty="0"/>
          </a:p>
        </p:txBody>
      </p:sp>
      <p:sp>
        <p:nvSpPr>
          <p:cNvPr id="31" name="dim-card"/>
          <p:cNvSpPr/>
          <p:nvPr/>
        </p:nvSpPr>
        <p:spPr>
          <a:xfrm>
            <a:off x="548640" y="5111496"/>
            <a:ext cx="2514600" cy="941832"/>
          </a:xfrm>
          <a:prstGeom prst="roundRect">
            <a:avLst>
              <a:gd name="adj" fmla="val 7767"/>
            </a:avLst>
          </a:prstGeom>
          <a:solidFill>
            <a:schemeClr val="bg2"/>
          </a:solidFill>
          <a:ln w="9525">
            <a:solidFill>
              <a:schemeClr val="accent3"/>
            </a:solidFill>
            <a:prstDash val="solid"/>
          </a:ln>
        </p:spPr>
      </p:sp>
      <p:sp>
        <p:nvSpPr>
          <p:cNvPr id="32" name="icon-circle"/>
          <p:cNvSpPr/>
          <p:nvPr/>
        </p:nvSpPr>
        <p:spPr>
          <a:xfrm>
            <a:off x="731520" y="5330952"/>
            <a:ext cx="502920" cy="502920"/>
          </a:xfrm>
          <a:prstGeom prst="ellipse">
            <a:avLst/>
          </a:prstGeom>
          <a:solidFill>
            <a:schemeClr val="accent4"/>
          </a:solidFill>
          <a:ln w="9525">
            <a:solidFill>
              <a:schemeClr val="accent3"/>
            </a:solidFill>
            <a:prstDash val="solid"/>
          </a:ln>
        </p:spPr>
      </p:sp>
      <p:pic>
        <p:nvPicPr>
          <p:cNvPr id="33" name="Image 3" descr="Route icon">    </p:cNvPr>
          <p:cNvPicPr>
            <a:picLocks noChangeAspect="1"/>
          </p:cNvPicPr>
          <p:nvPr/>
        </p:nvPicPr>
        <p:blipFill>
          <a:blip r:embed="rId4"/>
          <a:stretch>
            <a:fillRect/>
          </a:stretch>
        </p:blipFill>
        <p:spPr>
          <a:xfrm>
            <a:off x="852221" y="5451653"/>
            <a:ext cx="261518" cy="261518"/>
          </a:xfrm>
          <a:prstGeom prst="rect">
            <a:avLst/>
          </a:prstGeom>
        </p:spPr>
      </p:pic>
      <p:sp>
        <p:nvSpPr>
          <p:cNvPr id="34" name="Text 27"/>
          <p:cNvSpPr txBox="1"/>
          <p:nvPr/>
        </p:nvSpPr>
        <p:spPr>
          <a:xfrm>
            <a:off x="1371600" y="5111496"/>
            <a:ext cx="1645920" cy="941832"/>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Decisions</a:t>
            </a:r>
            <a:endParaRPr lang="en-US" sz="1700" dirty="0"/>
          </a:p>
        </p:txBody>
      </p:sp>
      <p:sp>
        <p:nvSpPr>
          <p:cNvPr id="35" name="chatbot-cell"/>
          <p:cNvSpPr/>
          <p:nvPr/>
        </p:nvSpPr>
        <p:spPr>
          <a:xfrm>
            <a:off x="3246120" y="5111496"/>
            <a:ext cx="3931920" cy="941832"/>
          </a:xfrm>
          <a:prstGeom prst="roundRect">
            <a:avLst>
              <a:gd name="adj" fmla="val 7767"/>
            </a:avLst>
          </a:prstGeom>
          <a:solidFill>
            <a:schemeClr val="bg2"/>
          </a:solidFill>
          <a:ln w="9525">
            <a:solidFill>
              <a:schemeClr val="accent3"/>
            </a:solidFill>
            <a:prstDash val="solid"/>
          </a:ln>
        </p:spPr>
      </p:sp>
      <p:sp>
        <p:nvSpPr>
          <p:cNvPr id="36" name="Text 29"/>
          <p:cNvSpPr txBox="1"/>
          <p:nvPr/>
        </p:nvSpPr>
        <p:spPr>
          <a:xfrm>
            <a:off x="3474720" y="5111496"/>
            <a:ext cx="3520440" cy="941832"/>
          </a:xfrm>
          <a:prstGeom prst="rect">
            <a:avLst/>
          </a:prstGeom>
          <a:noFill/>
          <a:ln/>
        </p:spPr>
        <p:txBody>
          <a:bodyPr wrap="square" lIns="0" tIns="0" rIns="0" bIns="0" rtlCol="0" anchor="ctr"/>
          <a:lstStyle/>
          <a:p>
            <a:pPr indent="0" marL="0">
              <a:buNone/>
            </a:pPr>
            <a:r>
              <a:rPr lang="en-US" sz="1500" dirty="0">
                <a:solidFill>
                  <a:schemeClr val="tx2"/>
                </a:solidFill>
              </a:rPr>
              <a:t>Fixed, hand-written command rules</a:t>
            </a:r>
            <a:endParaRPr lang="en-US" sz="1500" dirty="0"/>
          </a:p>
        </p:txBody>
      </p:sp>
      <p:sp>
        <p:nvSpPr>
          <p:cNvPr id="37" name="agent-cell"/>
          <p:cNvSpPr/>
          <p:nvPr/>
        </p:nvSpPr>
        <p:spPr>
          <a:xfrm>
            <a:off x="7360920" y="5111496"/>
            <a:ext cx="4279392" cy="941832"/>
          </a:xfrm>
          <a:prstGeom prst="roundRect">
            <a:avLst>
              <a:gd name="adj" fmla="val 7767"/>
            </a:avLst>
          </a:prstGeom>
          <a:solidFill>
            <a:schemeClr val="accent4"/>
          </a:solidFill>
          <a:ln w="15875">
            <a:solidFill>
              <a:schemeClr val="accent1"/>
            </a:solidFill>
            <a:prstDash val="solid"/>
          </a:ln>
        </p:spPr>
      </p:sp>
      <p:sp>
        <p:nvSpPr>
          <p:cNvPr id="38" name="Text 31"/>
          <p:cNvSpPr txBox="1"/>
          <p:nvPr/>
        </p:nvSpPr>
        <p:spPr>
          <a:xfrm>
            <a:off x="7589520" y="5111496"/>
            <a:ext cx="3840480" cy="941832"/>
          </a:xfrm>
          <a:prstGeom prst="rect">
            <a:avLst/>
          </a:prstGeom>
          <a:noFill/>
          <a:ln/>
        </p:spPr>
        <p:txBody>
          <a:bodyPr wrap="square" lIns="0" tIns="0" rIns="0" bIns="0" rtlCol="0" anchor="ctr"/>
          <a:lstStyle/>
          <a:p>
            <a:pPr indent="0" marL="0">
              <a:buNone/>
            </a:pPr>
            <a:r>
              <a:rPr lang="en-US" sz="1500" b="1" dirty="0">
                <a:solidFill>
                  <a:schemeClr val="tx1"/>
                </a:solidFill>
              </a:rPr>
              <a:t>The model chooses which tools, in what order</a:t>
            </a:r>
            <a:endParaRPr lang="en-US" sz="1500" dirty="0"/>
          </a:p>
        </p:txBody>
      </p:sp>
      <p:sp>
        <p:nvSpPr>
          <p:cNvPr id="25" name="Slide Number Placeholder 0"/>
          <p:cNvSpPr>
            <a:spLocks noGrp="1"/>
          </p:cNvSpPr>
          <p:nvPr>
            <p:ph type="sldNum" sz="quarter" idx="4294967295"/>
          </p:nvPr>
        </p:nvSpPr>
        <p:spPr>
          <a:xfrm>
            <a:off x="10972800" y="6437376"/>
            <a:ext cx="667512"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t"/>
          <a:lstStyle/>
          <a:p>
            <a:pPr indent="0" marL="0">
              <a:buNone/>
            </a:pPr>
            <a:r>
              <a:rPr lang="en-US" sz="1100" b="1" spc="300" kern="0" dirty="0">
                <a:solidFill>
                  <a:schemeClr val="accent1"/>
                </a:solidFill>
              </a:rPr>
              <a:t>PROPOSED ARCHITECTURE · v2</a:t>
            </a:r>
            <a:endParaRPr lang="en-US" sz="1100" dirty="0"/>
          </a:p>
        </p:txBody>
      </p:sp>
      <p:sp>
        <p:nvSpPr>
          <p:cNvPr id="3" name="Text 0"/>
          <p:cNvSpPr/>
          <p:nvPr>
            <p:ph idx="101" type="title" hasCustomPrompt="1"/>
          </p:nvPr>
        </p:nvSpPr>
        <p:spPr>
          <a:xfrm>
            <a:off x="548640" y="640080"/>
            <a:ext cx="11091672" cy="685800"/>
          </a:xfrm>
          <a:prstGeom prst="rect">
            <a:avLst/>
          </a:prstGeom>
          <a:noFill/>
          <a:ln/>
        </p:spPr>
        <p:txBody>
          <a:bodyPr wrap="square" lIns="0" tIns="0" rIns="0" bIns="0" rtlCol="0" anchor="t"/>
          <a:lstStyle/>
          <a:p>
            <a:pPr algn="l" indent="0" marL="0">
              <a:buNone/>
            </a:pPr>
            <a:r>
              <a:rPr lang="en-US" sz="3400" b="1" dirty="0">
                <a:solidFill>
                  <a:schemeClr val="tx1"/>
                </a:solidFill>
              </a:rPr>
              <a:t>System Architecture — Layered View</a:t>
            </a:r>
            <a:endParaRPr lang="en-US" sz="3400" dirty="0"/>
          </a:p>
        </p:txBody>
      </p:sp>
      <p:sp>
        <p:nvSpPr>
          <p:cNvPr id="5" name="Text 2"/>
          <p:cNvSpPr txBox="1"/>
          <p:nvPr/>
        </p:nvSpPr>
        <p:spPr>
          <a:xfrm>
            <a:off x="548640" y="1481328"/>
            <a:ext cx="1463040" cy="713232"/>
          </a:xfrm>
          <a:prstGeom prst="rect">
            <a:avLst/>
          </a:prstGeom>
          <a:noFill/>
          <a:ln/>
        </p:spPr>
        <p:txBody>
          <a:bodyPr wrap="square" lIns="0" tIns="0" rIns="0" bIns="0" rtlCol="0" anchor="ctr"/>
          <a:lstStyle/>
          <a:p>
            <a:pPr indent="0" marL="0">
              <a:buNone/>
            </a:pPr>
            <a:r>
              <a:rPr lang="en-US" sz="1100" b="1" spc="200" kern="0" dirty="0">
                <a:solidFill>
                  <a:schemeClr val="accent1"/>
                </a:solidFill>
              </a:rPr>
              <a:t>INPUT</a:t>
            </a:r>
            <a:endParaRPr lang="en-US" sz="1100" dirty="0"/>
          </a:p>
        </p:txBody>
      </p:sp>
      <p:sp>
        <p:nvSpPr>
          <p:cNvPr id="6" name="arch-box"/>
          <p:cNvSpPr/>
          <p:nvPr/>
        </p:nvSpPr>
        <p:spPr>
          <a:xfrm>
            <a:off x="2084832" y="1481328"/>
            <a:ext cx="4686300" cy="713232"/>
          </a:xfrm>
          <a:prstGeom prst="roundRect">
            <a:avLst>
              <a:gd name="adj" fmla="val 10256"/>
            </a:avLst>
          </a:prstGeom>
          <a:solidFill>
            <a:schemeClr val="bg2"/>
          </a:solidFill>
          <a:ln w="9525">
            <a:solidFill>
              <a:schemeClr val="accent3"/>
            </a:solidFill>
            <a:prstDash val="solid"/>
          </a:ln>
        </p:spPr>
      </p:sp>
      <p:sp>
        <p:nvSpPr>
          <p:cNvPr id="7" name="icon-circle"/>
          <p:cNvSpPr/>
          <p:nvPr/>
        </p:nvSpPr>
        <p:spPr>
          <a:xfrm>
            <a:off x="2221992" y="1618488"/>
            <a:ext cx="438912" cy="438912"/>
          </a:xfrm>
          <a:prstGeom prst="ellipse">
            <a:avLst/>
          </a:prstGeom>
          <a:solidFill>
            <a:schemeClr val="bg1"/>
          </a:solidFill>
          <a:ln w="9525">
            <a:solidFill>
              <a:schemeClr val="accent3"/>
            </a:solidFill>
            <a:prstDash val="solid"/>
          </a:ln>
        </p:spPr>
      </p:sp>
      <p:pic>
        <p:nvPicPr>
          <p:cNvPr id="8" name="Image 0" descr="Keyboard icon">    </p:cNvPr>
          <p:cNvPicPr>
            <a:picLocks noChangeAspect="1"/>
          </p:cNvPicPr>
          <p:nvPr/>
        </p:nvPicPr>
        <p:blipFill>
          <a:blip r:embed="rId1"/>
          <a:stretch>
            <a:fillRect/>
          </a:stretch>
        </p:blipFill>
        <p:spPr>
          <a:xfrm>
            <a:off x="2327331" y="1723827"/>
            <a:ext cx="228234" cy="228234"/>
          </a:xfrm>
          <a:prstGeom prst="rect">
            <a:avLst/>
          </a:prstGeom>
        </p:spPr>
      </p:pic>
      <p:sp>
        <p:nvSpPr>
          <p:cNvPr id="9" name="Text 5"/>
          <p:cNvSpPr txBox="1"/>
          <p:nvPr/>
        </p:nvSpPr>
        <p:spPr>
          <a:xfrm>
            <a:off x="2798064" y="1481328"/>
            <a:ext cx="3863340" cy="713232"/>
          </a:xfrm>
          <a:prstGeom prst="rect">
            <a:avLst/>
          </a:prstGeom>
          <a:noFill/>
          <a:ln/>
        </p:spPr>
        <p:txBody>
          <a:bodyPr wrap="square" lIns="0" tIns="0" rIns="0" bIns="0" rtlCol="0" anchor="ctr"/>
          <a:lstStyle/>
          <a:p>
            <a:pPr indent="0" marL="0">
              <a:buNone/>
            </a:pPr>
            <a:r>
              <a:rPr lang="en-US" sz="1300" dirty="0">
                <a:solidFill>
                  <a:schemeClr val="tx1"/>
                </a:solidFill>
              </a:rPr>
              <a:t>Typed command · chat input</a:t>
            </a:r>
            <a:endParaRPr lang="en-US" sz="1300" dirty="0"/>
          </a:p>
        </p:txBody>
      </p:sp>
      <p:sp>
        <p:nvSpPr>
          <p:cNvPr id="10" name="arch-box"/>
          <p:cNvSpPr/>
          <p:nvPr/>
        </p:nvSpPr>
        <p:spPr>
          <a:xfrm>
            <a:off x="6954012" y="1481328"/>
            <a:ext cx="4686300" cy="713232"/>
          </a:xfrm>
          <a:prstGeom prst="roundRect">
            <a:avLst>
              <a:gd name="adj" fmla="val 10256"/>
            </a:avLst>
          </a:prstGeom>
          <a:solidFill>
            <a:schemeClr val="bg2"/>
          </a:solidFill>
          <a:ln w="9525">
            <a:solidFill>
              <a:schemeClr val="accent3"/>
            </a:solidFill>
            <a:prstDash val="solid"/>
          </a:ln>
        </p:spPr>
      </p:sp>
      <p:sp>
        <p:nvSpPr>
          <p:cNvPr id="11" name="icon-circle"/>
          <p:cNvSpPr/>
          <p:nvPr/>
        </p:nvSpPr>
        <p:spPr>
          <a:xfrm>
            <a:off x="7091172" y="1618488"/>
            <a:ext cx="438912" cy="438912"/>
          </a:xfrm>
          <a:prstGeom prst="ellipse">
            <a:avLst/>
          </a:prstGeom>
          <a:solidFill>
            <a:schemeClr val="bg1"/>
          </a:solidFill>
          <a:ln w="9525">
            <a:solidFill>
              <a:schemeClr val="accent3"/>
            </a:solidFill>
            <a:prstDash val="solid"/>
          </a:ln>
        </p:spPr>
      </p:sp>
      <p:pic>
        <p:nvPicPr>
          <p:cNvPr id="12" name="Image 1" descr="Mic icon">    </p:cNvPr>
          <p:cNvPicPr>
            <a:picLocks noChangeAspect="1"/>
          </p:cNvPicPr>
          <p:nvPr/>
        </p:nvPicPr>
        <p:blipFill>
          <a:blip r:embed="rId2"/>
          <a:stretch>
            <a:fillRect/>
          </a:stretch>
        </p:blipFill>
        <p:spPr>
          <a:xfrm>
            <a:off x="7196511" y="1723827"/>
            <a:ext cx="228234" cy="228234"/>
          </a:xfrm>
          <a:prstGeom prst="rect">
            <a:avLst/>
          </a:prstGeom>
        </p:spPr>
      </p:pic>
      <p:sp>
        <p:nvSpPr>
          <p:cNvPr id="13" name="Text 8"/>
          <p:cNvSpPr txBox="1"/>
          <p:nvPr/>
        </p:nvSpPr>
        <p:spPr>
          <a:xfrm>
            <a:off x="7667244" y="1481328"/>
            <a:ext cx="3863340" cy="713232"/>
          </a:xfrm>
          <a:prstGeom prst="rect">
            <a:avLst/>
          </a:prstGeom>
          <a:noFill/>
          <a:ln/>
        </p:spPr>
        <p:txBody>
          <a:bodyPr wrap="square" lIns="0" tIns="0" rIns="0" bIns="0" rtlCol="0" anchor="ctr"/>
          <a:lstStyle/>
          <a:p>
            <a:pPr indent="0" marL="0">
              <a:buNone/>
            </a:pPr>
            <a:r>
              <a:rPr lang="en-US" sz="1300" dirty="0">
                <a:solidFill>
                  <a:schemeClr val="tx1"/>
                </a:solidFill>
              </a:rPr>
              <a:t>Voice · Web Speech API (en-IN) with live subtitles</a:t>
            </a:r>
            <a:endParaRPr lang="en-US" sz="1300" dirty="0"/>
          </a:p>
        </p:txBody>
      </p:sp>
      <p:sp>
        <p:nvSpPr>
          <p:cNvPr id="14" name="arrow"/>
          <p:cNvSpPr/>
          <p:nvPr/>
        </p:nvSpPr>
        <p:spPr>
          <a:xfrm>
            <a:off x="6858000" y="2203704"/>
            <a:ext cx="0" cy="182880"/>
          </a:xfrm>
          <a:prstGeom prst="line">
            <a:avLst/>
          </a:prstGeom>
          <a:noFill/>
          <a:ln w="22225">
            <a:solidFill>
              <a:schemeClr val="accent1"/>
            </a:solidFill>
            <a:prstDash val="solid"/>
            <a:tailEnd type="triangle"/>
          </a:ln>
        </p:spPr>
      </p:sp>
      <p:sp>
        <p:nvSpPr>
          <p:cNvPr id="15" name="Text 10"/>
          <p:cNvSpPr txBox="1"/>
          <p:nvPr/>
        </p:nvSpPr>
        <p:spPr>
          <a:xfrm>
            <a:off x="548640" y="2395728"/>
            <a:ext cx="1463040" cy="713232"/>
          </a:xfrm>
          <a:prstGeom prst="rect">
            <a:avLst/>
          </a:prstGeom>
          <a:noFill/>
          <a:ln/>
        </p:spPr>
        <p:txBody>
          <a:bodyPr wrap="square" lIns="0" tIns="0" rIns="0" bIns="0" rtlCol="0" anchor="ctr"/>
          <a:lstStyle/>
          <a:p>
            <a:pPr indent="0" marL="0">
              <a:buNone/>
            </a:pPr>
            <a:r>
              <a:rPr lang="en-US" sz="1100" b="1" spc="200" kern="0" dirty="0">
                <a:solidFill>
                  <a:schemeClr val="accent1"/>
                </a:solidFill>
              </a:rPr>
              <a:t>RENDERER</a:t>
            </a:r>
            <a:endParaRPr lang="en-US" sz="1100" dirty="0"/>
          </a:p>
        </p:txBody>
      </p:sp>
      <p:sp>
        <p:nvSpPr>
          <p:cNvPr id="16" name="arch-box"/>
          <p:cNvSpPr/>
          <p:nvPr/>
        </p:nvSpPr>
        <p:spPr>
          <a:xfrm>
            <a:off x="2084832" y="2395728"/>
            <a:ext cx="3063240" cy="713232"/>
          </a:xfrm>
          <a:prstGeom prst="roundRect">
            <a:avLst>
              <a:gd name="adj" fmla="val 10256"/>
            </a:avLst>
          </a:prstGeom>
          <a:solidFill>
            <a:schemeClr val="bg2"/>
          </a:solidFill>
          <a:ln w="9525">
            <a:solidFill>
              <a:schemeClr val="accent3"/>
            </a:solidFill>
            <a:prstDash val="solid"/>
          </a:ln>
        </p:spPr>
      </p:sp>
      <p:sp>
        <p:nvSpPr>
          <p:cNvPr id="17" name="icon-circle"/>
          <p:cNvSpPr/>
          <p:nvPr/>
        </p:nvSpPr>
        <p:spPr>
          <a:xfrm>
            <a:off x="2221992" y="2532888"/>
            <a:ext cx="438912" cy="438912"/>
          </a:xfrm>
          <a:prstGeom prst="ellipse">
            <a:avLst/>
          </a:prstGeom>
          <a:solidFill>
            <a:schemeClr val="bg1"/>
          </a:solidFill>
          <a:ln w="9525">
            <a:solidFill>
              <a:schemeClr val="accent3"/>
            </a:solidFill>
            <a:prstDash val="solid"/>
          </a:ln>
        </p:spPr>
      </p:sp>
      <p:pic>
        <p:nvPicPr>
          <p:cNvPr id="18" name="Image 2" descr="AppWindow icon">    </p:cNvPr>
          <p:cNvPicPr>
            <a:picLocks noChangeAspect="1"/>
          </p:cNvPicPr>
          <p:nvPr/>
        </p:nvPicPr>
        <p:blipFill>
          <a:blip r:embed="rId3"/>
          <a:stretch>
            <a:fillRect/>
          </a:stretch>
        </p:blipFill>
        <p:spPr>
          <a:xfrm>
            <a:off x="2327331" y="2638227"/>
            <a:ext cx="228234" cy="228234"/>
          </a:xfrm>
          <a:prstGeom prst="rect">
            <a:avLst/>
          </a:prstGeom>
        </p:spPr>
      </p:pic>
      <p:sp>
        <p:nvSpPr>
          <p:cNvPr id="19" name="Text 13"/>
          <p:cNvSpPr txBox="1"/>
          <p:nvPr/>
        </p:nvSpPr>
        <p:spPr>
          <a:xfrm>
            <a:off x="2798064" y="2395728"/>
            <a:ext cx="2240280" cy="713232"/>
          </a:xfrm>
          <a:prstGeom prst="rect">
            <a:avLst/>
          </a:prstGeom>
          <a:noFill/>
          <a:ln/>
        </p:spPr>
        <p:txBody>
          <a:bodyPr wrap="square" lIns="0" tIns="0" rIns="0" bIns="0" rtlCol="0" anchor="ctr"/>
          <a:lstStyle/>
          <a:p>
            <a:pPr indent="0" marL="0">
              <a:buNone/>
            </a:pPr>
            <a:r>
              <a:rPr lang="en-US" sz="1300" dirty="0">
                <a:solidFill>
                  <a:schemeClr val="tx1"/>
                </a:solidFill>
              </a:rPr>
              <a:t>React 18 + Vite UI</a:t>
            </a:r>
            <a:endParaRPr lang="en-US" sz="1300" dirty="0"/>
          </a:p>
        </p:txBody>
      </p:sp>
      <p:sp>
        <p:nvSpPr>
          <p:cNvPr id="20" name="arch-box"/>
          <p:cNvSpPr/>
          <p:nvPr/>
        </p:nvSpPr>
        <p:spPr>
          <a:xfrm>
            <a:off x="5330952" y="2395728"/>
            <a:ext cx="3063240" cy="713232"/>
          </a:xfrm>
          <a:prstGeom prst="roundRect">
            <a:avLst>
              <a:gd name="adj" fmla="val 10256"/>
            </a:avLst>
          </a:prstGeom>
          <a:solidFill>
            <a:schemeClr val="bg2"/>
          </a:solidFill>
          <a:ln w="9525">
            <a:solidFill>
              <a:schemeClr val="accent3"/>
            </a:solidFill>
            <a:prstDash val="solid"/>
          </a:ln>
        </p:spPr>
      </p:sp>
      <p:sp>
        <p:nvSpPr>
          <p:cNvPr id="21" name="icon-circle"/>
          <p:cNvSpPr/>
          <p:nvPr/>
        </p:nvSpPr>
        <p:spPr>
          <a:xfrm>
            <a:off x="5468112" y="2532888"/>
            <a:ext cx="438912" cy="438912"/>
          </a:xfrm>
          <a:prstGeom prst="ellipse">
            <a:avLst/>
          </a:prstGeom>
          <a:solidFill>
            <a:schemeClr val="bg1"/>
          </a:solidFill>
          <a:ln w="9525">
            <a:solidFill>
              <a:schemeClr val="accent3"/>
            </a:solidFill>
            <a:prstDash val="solid"/>
          </a:ln>
        </p:spPr>
      </p:sp>
      <p:pic>
        <p:nvPicPr>
          <p:cNvPr id="22" name="Image 3" descr="Sparkles icon">    </p:cNvPr>
          <p:cNvPicPr>
            <a:picLocks noChangeAspect="1"/>
          </p:cNvPicPr>
          <p:nvPr/>
        </p:nvPicPr>
        <p:blipFill>
          <a:blip r:embed="rId4"/>
          <a:stretch>
            <a:fillRect/>
          </a:stretch>
        </p:blipFill>
        <p:spPr>
          <a:xfrm>
            <a:off x="5573451" y="2638227"/>
            <a:ext cx="228234" cy="228234"/>
          </a:xfrm>
          <a:prstGeom prst="rect">
            <a:avLst/>
          </a:prstGeom>
        </p:spPr>
      </p:pic>
      <p:sp>
        <p:nvSpPr>
          <p:cNvPr id="23" name="Text 16"/>
          <p:cNvSpPr txBox="1"/>
          <p:nvPr/>
        </p:nvSpPr>
        <p:spPr>
          <a:xfrm>
            <a:off x="6044184" y="2395728"/>
            <a:ext cx="2240280" cy="713232"/>
          </a:xfrm>
          <a:prstGeom prst="rect">
            <a:avLst/>
          </a:prstGeom>
          <a:noFill/>
          <a:ln/>
        </p:spPr>
        <p:txBody>
          <a:bodyPr wrap="square" lIns="0" tIns="0" rIns="0" bIns="0" rtlCol="0" anchor="ctr"/>
          <a:lstStyle/>
          <a:p>
            <a:pPr indent="0" marL="0">
              <a:buNone/>
            </a:pPr>
            <a:r>
              <a:rPr lang="en-US" sz="1300" dirty="0">
                <a:solidFill>
                  <a:schemeClr val="tx1"/>
                </a:solidFill>
              </a:rPr>
              <a:t>JarvisOrb · Three.js</a:t>
            </a:r>
            <a:endParaRPr lang="en-US" sz="1300" dirty="0"/>
          </a:p>
        </p:txBody>
      </p:sp>
      <p:sp>
        <p:nvSpPr>
          <p:cNvPr id="24" name="arch-box"/>
          <p:cNvSpPr/>
          <p:nvPr/>
        </p:nvSpPr>
        <p:spPr>
          <a:xfrm>
            <a:off x="8577072" y="2395728"/>
            <a:ext cx="3063240" cy="713232"/>
          </a:xfrm>
          <a:prstGeom prst="roundRect">
            <a:avLst>
              <a:gd name="adj" fmla="val 10256"/>
            </a:avLst>
          </a:prstGeom>
          <a:solidFill>
            <a:schemeClr val="bg2"/>
          </a:solidFill>
          <a:ln w="9525">
            <a:solidFill>
              <a:schemeClr val="accent3"/>
            </a:solidFill>
            <a:prstDash val="solid"/>
          </a:ln>
        </p:spPr>
      </p:sp>
      <p:sp>
        <p:nvSpPr>
          <p:cNvPr id="25" name="icon-circle"/>
          <p:cNvSpPr/>
          <p:nvPr/>
        </p:nvSpPr>
        <p:spPr>
          <a:xfrm>
            <a:off x="8714232" y="2532888"/>
            <a:ext cx="438912" cy="438912"/>
          </a:xfrm>
          <a:prstGeom prst="ellipse">
            <a:avLst/>
          </a:prstGeom>
          <a:solidFill>
            <a:schemeClr val="bg1"/>
          </a:solidFill>
          <a:ln w="9525">
            <a:solidFill>
              <a:schemeClr val="accent3"/>
            </a:solidFill>
            <a:prstDash val="solid"/>
          </a:ln>
        </p:spPr>
      </p:sp>
      <p:pic>
        <p:nvPicPr>
          <p:cNvPr id="26" name="Image 4" descr="MessageSquare icon">    </p:cNvPr>
          <p:cNvPicPr>
            <a:picLocks noChangeAspect="1"/>
          </p:cNvPicPr>
          <p:nvPr/>
        </p:nvPicPr>
        <p:blipFill>
          <a:blip r:embed="rId5"/>
          <a:stretch>
            <a:fillRect/>
          </a:stretch>
        </p:blipFill>
        <p:spPr>
          <a:xfrm>
            <a:off x="8819571" y="2638227"/>
            <a:ext cx="228234" cy="228234"/>
          </a:xfrm>
          <a:prstGeom prst="rect">
            <a:avLst/>
          </a:prstGeom>
        </p:spPr>
      </p:pic>
      <p:sp>
        <p:nvSpPr>
          <p:cNvPr id="27" name="Text 19"/>
          <p:cNvSpPr txBox="1"/>
          <p:nvPr/>
        </p:nvSpPr>
        <p:spPr>
          <a:xfrm>
            <a:off x="9290304" y="2395728"/>
            <a:ext cx="2240280" cy="713232"/>
          </a:xfrm>
          <a:prstGeom prst="rect">
            <a:avLst/>
          </a:prstGeom>
          <a:noFill/>
          <a:ln/>
        </p:spPr>
        <p:txBody>
          <a:bodyPr wrap="square" lIns="0" tIns="0" rIns="0" bIns="0" rtlCol="0" anchor="ctr"/>
          <a:lstStyle/>
          <a:p>
            <a:pPr indent="0" marL="0">
              <a:buNone/>
            </a:pPr>
            <a:r>
              <a:rPr lang="en-US" sz="1300" dirty="0">
                <a:solidFill>
                  <a:schemeClr val="tx1"/>
                </a:solidFill>
              </a:rPr>
              <a:t>Chat · status · model tag</a:t>
            </a:r>
            <a:endParaRPr lang="en-US" sz="1300" dirty="0"/>
          </a:p>
        </p:txBody>
      </p:sp>
      <p:sp>
        <p:nvSpPr>
          <p:cNvPr id="28" name="arrow"/>
          <p:cNvSpPr/>
          <p:nvPr/>
        </p:nvSpPr>
        <p:spPr>
          <a:xfrm>
            <a:off x="6858000" y="3118104"/>
            <a:ext cx="0" cy="182880"/>
          </a:xfrm>
          <a:prstGeom prst="line">
            <a:avLst/>
          </a:prstGeom>
          <a:noFill/>
          <a:ln w="22225">
            <a:solidFill>
              <a:schemeClr val="accent1"/>
            </a:solidFill>
            <a:prstDash val="solid"/>
            <a:tailEnd type="triangle"/>
          </a:ln>
        </p:spPr>
      </p:sp>
      <p:sp>
        <p:nvSpPr>
          <p:cNvPr id="29" name="Text 21"/>
          <p:cNvSpPr txBox="1"/>
          <p:nvPr/>
        </p:nvSpPr>
        <p:spPr>
          <a:xfrm>
            <a:off x="548640" y="3310128"/>
            <a:ext cx="1463040" cy="713232"/>
          </a:xfrm>
          <a:prstGeom prst="rect">
            <a:avLst/>
          </a:prstGeom>
          <a:noFill/>
          <a:ln/>
        </p:spPr>
        <p:txBody>
          <a:bodyPr wrap="square" lIns="0" tIns="0" rIns="0" bIns="0" rtlCol="0" anchor="ctr"/>
          <a:lstStyle/>
          <a:p>
            <a:pPr indent="0" marL="0">
              <a:buNone/>
            </a:pPr>
            <a:r>
              <a:rPr lang="en-US" sz="1100" b="1" spc="200" kern="0" dirty="0">
                <a:solidFill>
                  <a:schemeClr val="accent1"/>
                </a:solidFill>
              </a:rPr>
              <a:t>IPC BRIDGE</a:t>
            </a:r>
            <a:endParaRPr lang="en-US" sz="1100" dirty="0"/>
          </a:p>
        </p:txBody>
      </p:sp>
      <p:sp>
        <p:nvSpPr>
          <p:cNvPr id="30" name="arch-box"/>
          <p:cNvSpPr/>
          <p:nvPr/>
        </p:nvSpPr>
        <p:spPr>
          <a:xfrm>
            <a:off x="2084832" y="3310128"/>
            <a:ext cx="9555480" cy="713232"/>
          </a:xfrm>
          <a:prstGeom prst="roundRect">
            <a:avLst>
              <a:gd name="adj" fmla="val 10256"/>
            </a:avLst>
          </a:prstGeom>
          <a:solidFill>
            <a:schemeClr val="bg2"/>
          </a:solidFill>
          <a:ln w="9525">
            <a:solidFill>
              <a:schemeClr val="accent3"/>
            </a:solidFill>
            <a:prstDash val="solid"/>
          </a:ln>
        </p:spPr>
      </p:sp>
      <p:sp>
        <p:nvSpPr>
          <p:cNvPr id="31" name="icon-circle"/>
          <p:cNvSpPr/>
          <p:nvPr/>
        </p:nvSpPr>
        <p:spPr>
          <a:xfrm>
            <a:off x="2221992" y="3447288"/>
            <a:ext cx="438912" cy="438912"/>
          </a:xfrm>
          <a:prstGeom prst="ellipse">
            <a:avLst/>
          </a:prstGeom>
          <a:solidFill>
            <a:schemeClr val="bg1"/>
          </a:solidFill>
          <a:ln w="9525">
            <a:solidFill>
              <a:schemeClr val="accent3"/>
            </a:solidFill>
            <a:prstDash val="solid"/>
          </a:ln>
        </p:spPr>
      </p:sp>
      <p:pic>
        <p:nvPicPr>
          <p:cNvPr id="32" name="Image 5" descr="Plug icon">    </p:cNvPr>
          <p:cNvPicPr>
            <a:picLocks noChangeAspect="1"/>
          </p:cNvPicPr>
          <p:nvPr/>
        </p:nvPicPr>
        <p:blipFill>
          <a:blip r:embed="rId6"/>
          <a:stretch>
            <a:fillRect/>
          </a:stretch>
        </p:blipFill>
        <p:spPr>
          <a:xfrm>
            <a:off x="2327331" y="3552627"/>
            <a:ext cx="228234" cy="228234"/>
          </a:xfrm>
          <a:prstGeom prst="rect">
            <a:avLst/>
          </a:prstGeom>
        </p:spPr>
      </p:pic>
      <p:sp>
        <p:nvSpPr>
          <p:cNvPr id="33" name="Text 24"/>
          <p:cNvSpPr txBox="1"/>
          <p:nvPr/>
        </p:nvSpPr>
        <p:spPr>
          <a:xfrm>
            <a:off x="2798064" y="3310128"/>
            <a:ext cx="8732520" cy="713232"/>
          </a:xfrm>
          <a:prstGeom prst="rect">
            <a:avLst/>
          </a:prstGeom>
          <a:noFill/>
          <a:ln/>
        </p:spPr>
        <p:txBody>
          <a:bodyPr wrap="square" lIns="0" tIns="0" rIns="0" bIns="0" rtlCol="0" anchor="ctr"/>
          <a:lstStyle/>
          <a:p>
            <a:pPr indent="0" marL="0">
              <a:buNone/>
            </a:pPr>
            <a:r>
              <a:rPr lang="en-US" sz="1300" dirty="0">
                <a:solidFill>
                  <a:schemeClr val="tx1"/>
                </a:solidFill>
              </a:rPr>
              <a:t>preload.ts · contextBridge → window.ultron.chat()  →  ipcMain “agent:chat”</a:t>
            </a:r>
            <a:endParaRPr lang="en-US" sz="1300" dirty="0"/>
          </a:p>
        </p:txBody>
      </p:sp>
      <p:sp>
        <p:nvSpPr>
          <p:cNvPr id="34" name="arrow"/>
          <p:cNvSpPr/>
          <p:nvPr/>
        </p:nvSpPr>
        <p:spPr>
          <a:xfrm>
            <a:off x="6858000" y="4032504"/>
            <a:ext cx="0" cy="182880"/>
          </a:xfrm>
          <a:prstGeom prst="line">
            <a:avLst/>
          </a:prstGeom>
          <a:noFill/>
          <a:ln w="22225">
            <a:solidFill>
              <a:schemeClr val="accent1"/>
            </a:solidFill>
            <a:prstDash val="solid"/>
            <a:tailEnd type="triangle"/>
          </a:ln>
        </p:spPr>
      </p:sp>
      <p:sp>
        <p:nvSpPr>
          <p:cNvPr id="35" name="Text 26"/>
          <p:cNvSpPr txBox="1"/>
          <p:nvPr/>
        </p:nvSpPr>
        <p:spPr>
          <a:xfrm>
            <a:off x="548640" y="4224528"/>
            <a:ext cx="1463040" cy="713232"/>
          </a:xfrm>
          <a:prstGeom prst="rect">
            <a:avLst/>
          </a:prstGeom>
          <a:noFill/>
          <a:ln/>
        </p:spPr>
        <p:txBody>
          <a:bodyPr wrap="square" lIns="0" tIns="0" rIns="0" bIns="0" rtlCol="0" anchor="ctr"/>
          <a:lstStyle/>
          <a:p>
            <a:pPr indent="0" marL="0">
              <a:buNone/>
            </a:pPr>
            <a:r>
              <a:rPr lang="en-US" sz="1100" b="1" spc="200" kern="0" dirty="0">
                <a:solidFill>
                  <a:schemeClr val="accent1"/>
                </a:solidFill>
              </a:rPr>
              <a:t>AGENT CORE</a:t>
            </a:r>
            <a:endParaRPr lang="en-US" sz="1100" dirty="0"/>
          </a:p>
        </p:txBody>
      </p:sp>
      <p:sp>
        <p:nvSpPr>
          <p:cNvPr id="36" name="arch-box"/>
          <p:cNvSpPr/>
          <p:nvPr/>
        </p:nvSpPr>
        <p:spPr>
          <a:xfrm>
            <a:off x="2084832" y="4224528"/>
            <a:ext cx="3063240" cy="713232"/>
          </a:xfrm>
          <a:prstGeom prst="roundRect">
            <a:avLst>
              <a:gd name="adj" fmla="val 10256"/>
            </a:avLst>
          </a:prstGeom>
          <a:solidFill>
            <a:schemeClr val="accent4"/>
          </a:solidFill>
          <a:ln w="15875">
            <a:solidFill>
              <a:schemeClr val="accent1"/>
            </a:solidFill>
            <a:prstDash val="solid"/>
          </a:ln>
        </p:spPr>
      </p:sp>
      <p:sp>
        <p:nvSpPr>
          <p:cNvPr id="37" name="icon-circle"/>
          <p:cNvSpPr/>
          <p:nvPr/>
        </p:nvSpPr>
        <p:spPr>
          <a:xfrm>
            <a:off x="2221992" y="4361688"/>
            <a:ext cx="438912" cy="438912"/>
          </a:xfrm>
          <a:prstGeom prst="ellipse">
            <a:avLst/>
          </a:prstGeom>
          <a:solidFill>
            <a:schemeClr val="bg1"/>
          </a:solidFill>
          <a:ln w="9525">
            <a:solidFill>
              <a:schemeClr val="accent3"/>
            </a:solidFill>
            <a:prstDash val="solid"/>
          </a:ln>
        </p:spPr>
      </p:sp>
      <p:pic>
        <p:nvPicPr>
          <p:cNvPr id="38" name="Image 6" descr="Brain icon">    </p:cNvPr>
          <p:cNvPicPr>
            <a:picLocks noChangeAspect="1"/>
          </p:cNvPicPr>
          <p:nvPr/>
        </p:nvPicPr>
        <p:blipFill>
          <a:blip r:embed="rId7"/>
          <a:stretch>
            <a:fillRect/>
          </a:stretch>
        </p:blipFill>
        <p:spPr>
          <a:xfrm>
            <a:off x="2327331" y="4467027"/>
            <a:ext cx="228234" cy="228234"/>
          </a:xfrm>
          <a:prstGeom prst="rect">
            <a:avLst/>
          </a:prstGeom>
        </p:spPr>
      </p:pic>
      <p:sp>
        <p:nvSpPr>
          <p:cNvPr id="39" name="Text 29"/>
          <p:cNvSpPr txBox="1"/>
          <p:nvPr/>
        </p:nvSpPr>
        <p:spPr>
          <a:xfrm>
            <a:off x="2798064" y="4224528"/>
            <a:ext cx="2240280" cy="713232"/>
          </a:xfrm>
          <a:prstGeom prst="rect">
            <a:avLst/>
          </a:prstGeom>
          <a:noFill/>
          <a:ln/>
        </p:spPr>
        <p:txBody>
          <a:bodyPr wrap="square" lIns="0" tIns="0" rIns="0" bIns="0" rtlCol="0" anchor="ctr"/>
          <a:lstStyle/>
          <a:p>
            <a:pPr indent="0" marL="0">
              <a:buNone/>
            </a:pPr>
            <a:r>
              <a:rPr lang="en-US" sz="1300" dirty="0">
                <a:solidFill>
                  <a:schemeClr val="tx1"/>
                </a:solidFill>
              </a:rPr>
              <a:t>Agent.process() · reasoning loop</a:t>
            </a:r>
            <a:endParaRPr lang="en-US" sz="1300" dirty="0"/>
          </a:p>
        </p:txBody>
      </p:sp>
      <p:sp>
        <p:nvSpPr>
          <p:cNvPr id="40" name="arch-box"/>
          <p:cNvSpPr/>
          <p:nvPr/>
        </p:nvSpPr>
        <p:spPr>
          <a:xfrm>
            <a:off x="5330952" y="4224528"/>
            <a:ext cx="3063240" cy="713232"/>
          </a:xfrm>
          <a:prstGeom prst="roundRect">
            <a:avLst>
              <a:gd name="adj" fmla="val 10256"/>
            </a:avLst>
          </a:prstGeom>
          <a:solidFill>
            <a:schemeClr val="accent4"/>
          </a:solidFill>
          <a:ln w="15875">
            <a:solidFill>
              <a:schemeClr val="accent1"/>
            </a:solidFill>
            <a:prstDash val="solid"/>
          </a:ln>
        </p:spPr>
      </p:sp>
      <p:sp>
        <p:nvSpPr>
          <p:cNvPr id="41" name="icon-circle"/>
          <p:cNvSpPr/>
          <p:nvPr/>
        </p:nvSpPr>
        <p:spPr>
          <a:xfrm>
            <a:off x="5468112" y="4361688"/>
            <a:ext cx="438912" cy="438912"/>
          </a:xfrm>
          <a:prstGeom prst="ellipse">
            <a:avLst/>
          </a:prstGeom>
          <a:solidFill>
            <a:schemeClr val="bg1"/>
          </a:solidFill>
          <a:ln w="9525">
            <a:solidFill>
              <a:schemeClr val="accent3"/>
            </a:solidFill>
            <a:prstDash val="solid"/>
          </a:ln>
        </p:spPr>
      </p:sp>
      <p:pic>
        <p:nvPicPr>
          <p:cNvPr id="42" name="Image 7" descr="Workflow icon">    </p:cNvPr>
          <p:cNvPicPr>
            <a:picLocks noChangeAspect="1"/>
          </p:cNvPicPr>
          <p:nvPr/>
        </p:nvPicPr>
        <p:blipFill>
          <a:blip r:embed="rId8"/>
          <a:stretch>
            <a:fillRect/>
          </a:stretch>
        </p:blipFill>
        <p:spPr>
          <a:xfrm>
            <a:off x="5573451" y="4467027"/>
            <a:ext cx="228234" cy="228234"/>
          </a:xfrm>
          <a:prstGeom prst="rect">
            <a:avLst/>
          </a:prstGeom>
        </p:spPr>
      </p:pic>
      <p:sp>
        <p:nvSpPr>
          <p:cNvPr id="43" name="Text 32"/>
          <p:cNvSpPr txBox="1"/>
          <p:nvPr/>
        </p:nvSpPr>
        <p:spPr>
          <a:xfrm>
            <a:off x="6044184" y="4224528"/>
            <a:ext cx="2240280" cy="713232"/>
          </a:xfrm>
          <a:prstGeom prst="rect">
            <a:avLst/>
          </a:prstGeom>
          <a:noFill/>
          <a:ln/>
        </p:spPr>
        <p:txBody>
          <a:bodyPr wrap="square" lIns="0" tIns="0" rIns="0" bIns="0" rtlCol="0" anchor="ctr"/>
          <a:lstStyle/>
          <a:p>
            <a:pPr indent="0" marL="0">
              <a:buNone/>
            </a:pPr>
            <a:r>
              <a:rPr lang="en-US" sz="1300" dirty="0">
                <a:solidFill>
                  <a:schemeClr val="tx1"/>
                </a:solidFill>
              </a:rPr>
              <a:t>executeTool() · 27 tools</a:t>
            </a:r>
            <a:endParaRPr lang="en-US" sz="1300" dirty="0"/>
          </a:p>
        </p:txBody>
      </p:sp>
      <p:sp>
        <p:nvSpPr>
          <p:cNvPr id="44" name="arch-box"/>
          <p:cNvSpPr/>
          <p:nvPr/>
        </p:nvSpPr>
        <p:spPr>
          <a:xfrm>
            <a:off x="8577072" y="4224528"/>
            <a:ext cx="3063240" cy="713232"/>
          </a:xfrm>
          <a:prstGeom prst="roundRect">
            <a:avLst>
              <a:gd name="adj" fmla="val 10256"/>
            </a:avLst>
          </a:prstGeom>
          <a:solidFill>
            <a:schemeClr val="accent4"/>
          </a:solidFill>
          <a:ln w="15875">
            <a:solidFill>
              <a:schemeClr val="accent1"/>
            </a:solidFill>
            <a:prstDash val="solid"/>
          </a:ln>
        </p:spPr>
      </p:sp>
      <p:sp>
        <p:nvSpPr>
          <p:cNvPr id="45" name="icon-circle"/>
          <p:cNvSpPr/>
          <p:nvPr/>
        </p:nvSpPr>
        <p:spPr>
          <a:xfrm>
            <a:off x="8714232" y="4361688"/>
            <a:ext cx="438912" cy="438912"/>
          </a:xfrm>
          <a:prstGeom prst="ellipse">
            <a:avLst/>
          </a:prstGeom>
          <a:solidFill>
            <a:schemeClr val="bg1"/>
          </a:solidFill>
          <a:ln w="9525">
            <a:solidFill>
              <a:schemeClr val="accent3"/>
            </a:solidFill>
            <a:prstDash val="solid"/>
          </a:ln>
        </p:spPr>
      </p:sp>
      <p:pic>
        <p:nvPicPr>
          <p:cNvPr id="46" name="Image 8" descr="RefreshCw icon">    </p:cNvPr>
          <p:cNvPicPr>
            <a:picLocks noChangeAspect="1"/>
          </p:cNvPicPr>
          <p:nvPr/>
        </p:nvPicPr>
        <p:blipFill>
          <a:blip r:embed="rId9"/>
          <a:stretch>
            <a:fillRect/>
          </a:stretch>
        </p:blipFill>
        <p:spPr>
          <a:xfrm>
            <a:off x="8819571" y="4467027"/>
            <a:ext cx="228234" cy="228234"/>
          </a:xfrm>
          <a:prstGeom prst="rect">
            <a:avLst/>
          </a:prstGeom>
        </p:spPr>
      </p:pic>
      <p:sp>
        <p:nvSpPr>
          <p:cNvPr id="47" name="Text 35"/>
          <p:cNvSpPr txBox="1"/>
          <p:nvPr/>
        </p:nvSpPr>
        <p:spPr>
          <a:xfrm>
            <a:off x="9290304" y="4224528"/>
            <a:ext cx="2240280" cy="713232"/>
          </a:xfrm>
          <a:prstGeom prst="rect">
            <a:avLst/>
          </a:prstGeom>
          <a:noFill/>
          <a:ln/>
        </p:spPr>
        <p:txBody>
          <a:bodyPr wrap="square" lIns="0" tIns="0" rIns="0" bIns="0" rtlCol="0" anchor="ctr"/>
          <a:lstStyle/>
          <a:p>
            <a:pPr indent="0" marL="0">
              <a:buNone/>
            </a:pPr>
            <a:r>
              <a:rPr lang="en-US" sz="1300" dirty="0">
                <a:solidFill>
                  <a:schemeClr val="tx1"/>
                </a:solidFill>
              </a:rPr>
              <a:t>Model rotation · 8 candidates</a:t>
            </a:r>
            <a:endParaRPr lang="en-US" sz="1300" dirty="0"/>
          </a:p>
        </p:txBody>
      </p:sp>
      <p:sp>
        <p:nvSpPr>
          <p:cNvPr id="48" name="arrow"/>
          <p:cNvSpPr/>
          <p:nvPr/>
        </p:nvSpPr>
        <p:spPr>
          <a:xfrm>
            <a:off x="6858000" y="4946904"/>
            <a:ext cx="0" cy="182880"/>
          </a:xfrm>
          <a:prstGeom prst="line">
            <a:avLst/>
          </a:prstGeom>
          <a:noFill/>
          <a:ln w="22225">
            <a:solidFill>
              <a:schemeClr val="accent1"/>
            </a:solidFill>
            <a:prstDash val="solid"/>
            <a:tailEnd type="triangle"/>
          </a:ln>
        </p:spPr>
      </p:sp>
      <p:sp>
        <p:nvSpPr>
          <p:cNvPr id="49" name="Text 37"/>
          <p:cNvSpPr txBox="1"/>
          <p:nvPr/>
        </p:nvSpPr>
        <p:spPr>
          <a:xfrm>
            <a:off x="548640" y="5138928"/>
            <a:ext cx="1463040" cy="713232"/>
          </a:xfrm>
          <a:prstGeom prst="rect">
            <a:avLst/>
          </a:prstGeom>
          <a:noFill/>
          <a:ln/>
        </p:spPr>
        <p:txBody>
          <a:bodyPr wrap="square" lIns="0" tIns="0" rIns="0" bIns="0" rtlCol="0" anchor="ctr"/>
          <a:lstStyle/>
          <a:p>
            <a:pPr indent="0" marL="0">
              <a:buNone/>
            </a:pPr>
            <a:r>
              <a:rPr lang="en-US" sz="1100" b="1" spc="200" kern="0" dirty="0">
                <a:solidFill>
                  <a:schemeClr val="accent1"/>
                </a:solidFill>
              </a:rPr>
              <a:t>EXTERNAL</a:t>
            </a:r>
            <a:endParaRPr lang="en-US" sz="1100" dirty="0"/>
          </a:p>
        </p:txBody>
      </p:sp>
      <p:sp>
        <p:nvSpPr>
          <p:cNvPr id="50" name="arch-box"/>
          <p:cNvSpPr/>
          <p:nvPr/>
        </p:nvSpPr>
        <p:spPr>
          <a:xfrm>
            <a:off x="2084832" y="5138928"/>
            <a:ext cx="4686300" cy="713232"/>
          </a:xfrm>
          <a:prstGeom prst="roundRect">
            <a:avLst>
              <a:gd name="adj" fmla="val 10256"/>
            </a:avLst>
          </a:prstGeom>
          <a:solidFill>
            <a:schemeClr val="bg2"/>
          </a:solidFill>
          <a:ln w="9525">
            <a:solidFill>
              <a:schemeClr val="accent3"/>
            </a:solidFill>
            <a:prstDash val="solid"/>
          </a:ln>
        </p:spPr>
      </p:sp>
      <p:sp>
        <p:nvSpPr>
          <p:cNvPr id="51" name="icon-circle"/>
          <p:cNvSpPr/>
          <p:nvPr/>
        </p:nvSpPr>
        <p:spPr>
          <a:xfrm>
            <a:off x="2221992" y="5276088"/>
            <a:ext cx="438912" cy="438912"/>
          </a:xfrm>
          <a:prstGeom prst="ellipse">
            <a:avLst/>
          </a:prstGeom>
          <a:solidFill>
            <a:schemeClr val="bg1"/>
          </a:solidFill>
          <a:ln w="9525">
            <a:solidFill>
              <a:schemeClr val="accent3"/>
            </a:solidFill>
            <a:prstDash val="solid"/>
          </a:ln>
        </p:spPr>
      </p:sp>
      <p:pic>
        <p:nvPicPr>
          <p:cNvPr id="52" name="Image 9" descr="Cpu icon">    </p:cNvPr>
          <p:cNvPicPr>
            <a:picLocks noChangeAspect="1"/>
          </p:cNvPicPr>
          <p:nvPr/>
        </p:nvPicPr>
        <p:blipFill>
          <a:blip r:embed="rId10"/>
          <a:stretch>
            <a:fillRect/>
          </a:stretch>
        </p:blipFill>
        <p:spPr>
          <a:xfrm>
            <a:off x="2327331" y="5381427"/>
            <a:ext cx="228234" cy="228234"/>
          </a:xfrm>
          <a:prstGeom prst="rect">
            <a:avLst/>
          </a:prstGeom>
        </p:spPr>
      </p:pic>
      <p:sp>
        <p:nvSpPr>
          <p:cNvPr id="53" name="Text 40"/>
          <p:cNvSpPr txBox="1"/>
          <p:nvPr/>
        </p:nvSpPr>
        <p:spPr>
          <a:xfrm>
            <a:off x="2798064" y="5138928"/>
            <a:ext cx="3863340" cy="713232"/>
          </a:xfrm>
          <a:prstGeom prst="rect">
            <a:avLst/>
          </a:prstGeom>
          <a:noFill/>
          <a:ln/>
        </p:spPr>
        <p:txBody>
          <a:bodyPr wrap="square" lIns="0" tIns="0" rIns="0" bIns="0" rtlCol="0" anchor="ctr"/>
          <a:lstStyle/>
          <a:p>
            <a:pPr indent="0" marL="0">
              <a:buNone/>
            </a:pPr>
            <a:r>
              <a:rPr lang="en-US" sz="1300" dirty="0">
                <a:solidFill>
                  <a:schemeClr val="tx1"/>
                </a:solidFill>
              </a:rPr>
              <a:t>Google Gemini API · function calling</a:t>
            </a:r>
            <a:endParaRPr lang="en-US" sz="1300" dirty="0"/>
          </a:p>
        </p:txBody>
      </p:sp>
      <p:sp>
        <p:nvSpPr>
          <p:cNvPr id="54" name="arch-box"/>
          <p:cNvSpPr/>
          <p:nvPr/>
        </p:nvSpPr>
        <p:spPr>
          <a:xfrm>
            <a:off x="6954012" y="5138928"/>
            <a:ext cx="4686300" cy="713232"/>
          </a:xfrm>
          <a:prstGeom prst="roundRect">
            <a:avLst>
              <a:gd name="adj" fmla="val 10256"/>
            </a:avLst>
          </a:prstGeom>
          <a:solidFill>
            <a:schemeClr val="bg2"/>
          </a:solidFill>
          <a:ln w="9525">
            <a:solidFill>
              <a:schemeClr val="accent3"/>
            </a:solidFill>
            <a:prstDash val="solid"/>
          </a:ln>
        </p:spPr>
      </p:sp>
      <p:sp>
        <p:nvSpPr>
          <p:cNvPr id="55" name="icon-circle"/>
          <p:cNvSpPr/>
          <p:nvPr/>
        </p:nvSpPr>
        <p:spPr>
          <a:xfrm>
            <a:off x="7091172" y="5276088"/>
            <a:ext cx="438912" cy="438912"/>
          </a:xfrm>
          <a:prstGeom prst="ellipse">
            <a:avLst/>
          </a:prstGeom>
          <a:solidFill>
            <a:schemeClr val="bg1"/>
          </a:solidFill>
          <a:ln w="9525">
            <a:solidFill>
              <a:schemeClr val="accent3"/>
            </a:solidFill>
            <a:prstDash val="solid"/>
          </a:ln>
        </p:spPr>
      </p:sp>
      <p:pic>
        <p:nvPicPr>
          <p:cNvPr id="56" name="Image 10" descr="Monitor icon">    </p:cNvPr>
          <p:cNvPicPr>
            <a:picLocks noChangeAspect="1"/>
          </p:cNvPicPr>
          <p:nvPr/>
        </p:nvPicPr>
        <p:blipFill>
          <a:blip r:embed="rId11"/>
          <a:stretch>
            <a:fillRect/>
          </a:stretch>
        </p:blipFill>
        <p:spPr>
          <a:xfrm>
            <a:off x="7196511" y="5381427"/>
            <a:ext cx="228234" cy="228234"/>
          </a:xfrm>
          <a:prstGeom prst="rect">
            <a:avLst/>
          </a:prstGeom>
        </p:spPr>
      </p:pic>
      <p:sp>
        <p:nvSpPr>
          <p:cNvPr id="57" name="Text 43"/>
          <p:cNvSpPr txBox="1"/>
          <p:nvPr/>
        </p:nvSpPr>
        <p:spPr>
          <a:xfrm>
            <a:off x="7667244" y="5138928"/>
            <a:ext cx="3863340" cy="713232"/>
          </a:xfrm>
          <a:prstGeom prst="rect">
            <a:avLst/>
          </a:prstGeom>
          <a:noFill/>
          <a:ln/>
        </p:spPr>
        <p:txBody>
          <a:bodyPr wrap="square" lIns="0" tIns="0" rIns="0" bIns="0" rtlCol="0" anchor="ctr"/>
          <a:lstStyle/>
          <a:p>
            <a:pPr indent="0" marL="0">
              <a:buNone/>
            </a:pPr>
            <a:r>
              <a:rPr lang="en-US" sz="1300" dirty="0">
                <a:solidFill>
                  <a:schemeClr val="tx1"/>
                </a:solidFill>
              </a:rPr>
              <a:t>Windows · cmd · PowerShell · fs · user32</a:t>
            </a:r>
            <a:endParaRPr lang="en-US" sz="1300" dirty="0"/>
          </a:p>
        </p:txBody>
      </p:sp>
      <p:sp>
        <p:nvSpPr>
          <p:cNvPr id="58" name="Text 44"/>
          <p:cNvSpPr txBox="1"/>
          <p:nvPr/>
        </p:nvSpPr>
        <p:spPr>
          <a:xfrm>
            <a:off x="548640" y="6053328"/>
            <a:ext cx="11091672" cy="274320"/>
          </a:xfrm>
          <a:prstGeom prst="rect">
            <a:avLst/>
          </a:prstGeom>
          <a:noFill/>
          <a:ln/>
        </p:spPr>
        <p:txBody>
          <a:bodyPr wrap="square" lIns="0" tIns="0" rIns="0" bIns="0" rtlCol="0" anchor="t"/>
          <a:lstStyle/>
          <a:p>
            <a:pPr algn="ctr" indent="0" marL="0">
              <a:buNone/>
            </a:pPr>
            <a:r>
              <a:rPr lang="en-US" sz="1200" dirty="0">
                <a:solidFill>
                  <a:schemeClr val="tx2"/>
                </a:solidFill>
              </a:rPr>
              <a:t>Electron 33  ·  React 18  ·  Vite 6  ·  TypeScript  ·  Three.js 0.170  ·  @google/generative-ai  ·  PowerShell / .NET</a:t>
            </a:r>
            <a:endParaRPr lang="en-US" sz="1200" dirty="0"/>
          </a:p>
        </p:txBody>
      </p:sp>
      <p:sp>
        <p:nvSpPr>
          <p:cNvPr id="25" name="Slide Number Placeholder 0"/>
          <p:cNvSpPr>
            <a:spLocks noGrp="1"/>
          </p:cNvSpPr>
          <p:nvPr>
            <p:ph type="sldNum" sz="quarter" idx="4294967295"/>
          </p:nvPr>
        </p:nvSpPr>
        <p:spPr>
          <a:xfrm>
            <a:off x="10972800" y="6437376"/>
            <a:ext cx="667512"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t"/>
          <a:lstStyle/>
          <a:p>
            <a:pPr indent="0" marL="0">
              <a:buNone/>
            </a:pPr>
            <a:r>
              <a:rPr lang="en-US" sz="1100" b="1" spc="300" kern="0" dirty="0">
                <a:solidFill>
                  <a:schemeClr val="accent1"/>
                </a:solidFill>
              </a:rPr>
              <a:t>HOW THE AGENT WORKS</a:t>
            </a:r>
            <a:endParaRPr lang="en-US" sz="1100" dirty="0"/>
          </a:p>
        </p:txBody>
      </p:sp>
      <p:sp>
        <p:nvSpPr>
          <p:cNvPr id="3" name="Text 0"/>
          <p:cNvSpPr/>
          <p:nvPr>
            <p:ph idx="101" type="title" hasCustomPrompt="1"/>
          </p:nvPr>
        </p:nvSpPr>
        <p:spPr>
          <a:xfrm>
            <a:off x="548640" y="640080"/>
            <a:ext cx="11091672" cy="685800"/>
          </a:xfrm>
          <a:prstGeom prst="rect">
            <a:avLst/>
          </a:prstGeom>
          <a:noFill/>
          <a:ln/>
        </p:spPr>
        <p:txBody>
          <a:bodyPr wrap="square" lIns="0" tIns="0" rIns="0" bIns="0" rtlCol="0" anchor="t"/>
          <a:lstStyle/>
          <a:p>
            <a:pPr algn="l" indent="0" marL="0">
              <a:buNone/>
            </a:pPr>
            <a:r>
              <a:rPr lang="en-US" sz="3400" b="1" dirty="0">
                <a:solidFill>
                  <a:schemeClr val="tx1"/>
                </a:solidFill>
              </a:rPr>
              <a:t>The Agent Loop: Sentence to Action</a:t>
            </a:r>
            <a:endParaRPr lang="en-US" sz="3400" dirty="0"/>
          </a:p>
        </p:txBody>
      </p:sp>
      <p:sp>
        <p:nvSpPr>
          <p:cNvPr id="5" name="loop-step"/>
          <p:cNvSpPr/>
          <p:nvPr/>
        </p:nvSpPr>
        <p:spPr>
          <a:xfrm>
            <a:off x="548640" y="1554480"/>
            <a:ext cx="3566160" cy="1417320"/>
          </a:xfrm>
          <a:prstGeom prst="roundRect">
            <a:avLst>
              <a:gd name="adj" fmla="val 5161"/>
            </a:avLst>
          </a:prstGeom>
          <a:solidFill>
            <a:schemeClr val="bg2"/>
          </a:solidFill>
          <a:ln w="9525">
            <a:solidFill>
              <a:schemeClr val="accent3"/>
            </a:solidFill>
            <a:prstDash val="solid"/>
          </a:ln>
        </p:spPr>
      </p:sp>
      <p:sp>
        <p:nvSpPr>
          <p:cNvPr id="6" name="step-number"/>
          <p:cNvSpPr/>
          <p:nvPr/>
        </p:nvSpPr>
        <p:spPr>
          <a:xfrm>
            <a:off x="731520" y="1737360"/>
            <a:ext cx="384048" cy="384048"/>
          </a:xfrm>
          <a:prstGeom prst="ellipse">
            <a:avLst/>
          </a:prstGeom>
          <a:solidFill>
            <a:schemeClr val="accent1"/>
          </a:solidFill>
          <a:ln w="6350">
            <a:solidFill>
              <a:schemeClr val="accent1"/>
            </a:solidFill>
            <a:prstDash val="solid"/>
          </a:ln>
        </p:spPr>
      </p:sp>
      <p:sp>
        <p:nvSpPr>
          <p:cNvPr id="7" name="Text 4"/>
          <p:cNvSpPr txBox="1"/>
          <p:nvPr/>
        </p:nvSpPr>
        <p:spPr>
          <a:xfrm>
            <a:off x="731520" y="17373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ext 5"/>
          <p:cNvSpPr txBox="1"/>
          <p:nvPr/>
        </p:nvSpPr>
        <p:spPr>
          <a:xfrm>
            <a:off x="1234440" y="1737360"/>
            <a:ext cx="2651760" cy="384048"/>
          </a:xfrm>
          <a:prstGeom prst="rect">
            <a:avLst/>
          </a:prstGeom>
          <a:noFill/>
          <a:ln/>
        </p:spPr>
        <p:txBody>
          <a:bodyPr wrap="square" lIns="0" tIns="0" rIns="0" bIns="0" rtlCol="0" anchor="ctr"/>
          <a:lstStyle/>
          <a:p>
            <a:pPr indent="0" marL="0">
              <a:buNone/>
            </a:pPr>
            <a:r>
              <a:rPr lang="en-US" sz="1900" b="1" dirty="0">
                <a:solidFill>
                  <a:schemeClr val="tx1"/>
                </a:solidFill>
                <a:latin typeface="Cambria" pitchFamily="34" charset="0"/>
                <a:ea typeface="Cambria" pitchFamily="34" charset="-122"/>
                <a:cs typeface="Cambria" pitchFamily="34" charset="-120"/>
              </a:rPr>
              <a:t>Receive</a:t>
            </a:r>
            <a:endParaRPr lang="en-US" sz="1900" dirty="0"/>
          </a:p>
        </p:txBody>
      </p:sp>
      <p:sp>
        <p:nvSpPr>
          <p:cNvPr id="9" name="Text 6"/>
          <p:cNvSpPr txBox="1"/>
          <p:nvPr/>
        </p:nvSpPr>
        <p:spPr>
          <a:xfrm>
            <a:off x="731520" y="2212848"/>
            <a:ext cx="3200400" cy="713232"/>
          </a:xfrm>
          <a:prstGeom prst="rect">
            <a:avLst/>
          </a:prstGeom>
          <a:noFill/>
          <a:ln/>
        </p:spPr>
        <p:txBody>
          <a:bodyPr wrap="square" lIns="0" tIns="0" rIns="0" bIns="0" rtlCol="0" anchor="t"/>
          <a:lstStyle/>
          <a:p>
            <a:pPr indent="0" marL="0">
              <a:buNone/>
            </a:pPr>
            <a:r>
              <a:rPr lang="en-US" sz="1400" dirty="0">
                <a:solidFill>
                  <a:schemeClr val="tx2"/>
                </a:solidFill>
              </a:rPr>
              <a:t>send() calls window.ultron.chat(); IPC carries the text to the Electron main process.</a:t>
            </a:r>
            <a:endParaRPr lang="en-US" sz="1400" dirty="0"/>
          </a:p>
        </p:txBody>
      </p:sp>
      <p:sp>
        <p:nvSpPr>
          <p:cNvPr id="10" name="loop-step"/>
          <p:cNvSpPr/>
          <p:nvPr/>
        </p:nvSpPr>
        <p:spPr>
          <a:xfrm>
            <a:off x="4311396" y="1554480"/>
            <a:ext cx="3566160" cy="1417320"/>
          </a:xfrm>
          <a:prstGeom prst="roundRect">
            <a:avLst>
              <a:gd name="adj" fmla="val 5161"/>
            </a:avLst>
          </a:prstGeom>
          <a:solidFill>
            <a:schemeClr val="bg2"/>
          </a:solidFill>
          <a:ln w="9525">
            <a:solidFill>
              <a:schemeClr val="accent3"/>
            </a:solidFill>
            <a:prstDash val="solid"/>
          </a:ln>
        </p:spPr>
      </p:sp>
      <p:sp>
        <p:nvSpPr>
          <p:cNvPr id="11" name="step-number"/>
          <p:cNvSpPr/>
          <p:nvPr/>
        </p:nvSpPr>
        <p:spPr>
          <a:xfrm>
            <a:off x="4494276" y="1737360"/>
            <a:ext cx="384048" cy="384048"/>
          </a:xfrm>
          <a:prstGeom prst="ellipse">
            <a:avLst/>
          </a:prstGeom>
          <a:solidFill>
            <a:schemeClr val="accent1"/>
          </a:solidFill>
          <a:ln w="6350">
            <a:solidFill>
              <a:schemeClr val="accent1"/>
            </a:solidFill>
            <a:prstDash val="solid"/>
          </a:ln>
        </p:spPr>
      </p:sp>
      <p:sp>
        <p:nvSpPr>
          <p:cNvPr id="12" name="Text 9"/>
          <p:cNvSpPr txBox="1"/>
          <p:nvPr/>
        </p:nvSpPr>
        <p:spPr>
          <a:xfrm>
            <a:off x="4494276" y="17373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ext 10"/>
          <p:cNvSpPr txBox="1"/>
          <p:nvPr/>
        </p:nvSpPr>
        <p:spPr>
          <a:xfrm>
            <a:off x="4997196" y="1737360"/>
            <a:ext cx="2651760" cy="384048"/>
          </a:xfrm>
          <a:prstGeom prst="rect">
            <a:avLst/>
          </a:prstGeom>
          <a:noFill/>
          <a:ln/>
        </p:spPr>
        <p:txBody>
          <a:bodyPr wrap="square" lIns="0" tIns="0" rIns="0" bIns="0" rtlCol="0" anchor="ctr"/>
          <a:lstStyle/>
          <a:p>
            <a:pPr indent="0" marL="0">
              <a:buNone/>
            </a:pPr>
            <a:r>
              <a:rPr lang="en-US" sz="1900" b="1" dirty="0">
                <a:solidFill>
                  <a:schemeClr val="tx1"/>
                </a:solidFill>
                <a:latin typeface="Cambria" pitchFamily="34" charset="0"/>
                <a:ea typeface="Cambria" pitchFamily="34" charset="-122"/>
                <a:cs typeface="Cambria" pitchFamily="34" charset="-120"/>
              </a:rPr>
              <a:t>Reason</a:t>
            </a:r>
            <a:endParaRPr lang="en-US" sz="1900" dirty="0"/>
          </a:p>
        </p:txBody>
      </p:sp>
      <p:sp>
        <p:nvSpPr>
          <p:cNvPr id="14" name="Text 11"/>
          <p:cNvSpPr txBox="1"/>
          <p:nvPr/>
        </p:nvSpPr>
        <p:spPr>
          <a:xfrm>
            <a:off x="4494276" y="2212848"/>
            <a:ext cx="3200400" cy="713232"/>
          </a:xfrm>
          <a:prstGeom prst="rect">
            <a:avLst/>
          </a:prstGeom>
          <a:noFill/>
          <a:ln/>
        </p:spPr>
        <p:txBody>
          <a:bodyPr wrap="square" lIns="0" tIns="0" rIns="0" bIns="0" rtlCol="0" anchor="t"/>
          <a:lstStyle/>
          <a:p>
            <a:pPr indent="0" marL="0">
              <a:buNone/>
            </a:pPr>
            <a:r>
              <a:rPr lang="en-US" sz="1400" dirty="0">
                <a:solidFill>
                  <a:schemeClr val="tx2"/>
                </a:solidFill>
              </a:rPr>
              <a:t>Gemini sees the system prompt, recent chat history and all 27 tool declarations.</a:t>
            </a:r>
            <a:endParaRPr lang="en-US" sz="1400" dirty="0"/>
          </a:p>
        </p:txBody>
      </p:sp>
      <p:sp>
        <p:nvSpPr>
          <p:cNvPr id="15" name="loop-step"/>
          <p:cNvSpPr/>
          <p:nvPr/>
        </p:nvSpPr>
        <p:spPr>
          <a:xfrm>
            <a:off x="8074152" y="1554480"/>
            <a:ext cx="3566160" cy="1417320"/>
          </a:xfrm>
          <a:prstGeom prst="roundRect">
            <a:avLst>
              <a:gd name="adj" fmla="val 5161"/>
            </a:avLst>
          </a:prstGeom>
          <a:solidFill>
            <a:schemeClr val="bg2"/>
          </a:solidFill>
          <a:ln w="9525">
            <a:solidFill>
              <a:schemeClr val="accent3"/>
            </a:solidFill>
            <a:prstDash val="solid"/>
          </a:ln>
        </p:spPr>
      </p:sp>
      <p:sp>
        <p:nvSpPr>
          <p:cNvPr id="16" name="step-number"/>
          <p:cNvSpPr/>
          <p:nvPr/>
        </p:nvSpPr>
        <p:spPr>
          <a:xfrm>
            <a:off x="8257032" y="1737360"/>
            <a:ext cx="384048" cy="384048"/>
          </a:xfrm>
          <a:prstGeom prst="ellipse">
            <a:avLst/>
          </a:prstGeom>
          <a:solidFill>
            <a:schemeClr val="accent1"/>
          </a:solidFill>
          <a:ln w="6350">
            <a:solidFill>
              <a:schemeClr val="accent1"/>
            </a:solidFill>
            <a:prstDash val="solid"/>
          </a:ln>
        </p:spPr>
      </p:sp>
      <p:sp>
        <p:nvSpPr>
          <p:cNvPr id="17" name="Text 14"/>
          <p:cNvSpPr txBox="1"/>
          <p:nvPr/>
        </p:nvSpPr>
        <p:spPr>
          <a:xfrm>
            <a:off x="8257032" y="17373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ext 15"/>
          <p:cNvSpPr txBox="1"/>
          <p:nvPr/>
        </p:nvSpPr>
        <p:spPr>
          <a:xfrm>
            <a:off x="8759952" y="1737360"/>
            <a:ext cx="2651760" cy="384048"/>
          </a:xfrm>
          <a:prstGeom prst="rect">
            <a:avLst/>
          </a:prstGeom>
          <a:noFill/>
          <a:ln/>
        </p:spPr>
        <p:txBody>
          <a:bodyPr wrap="square" lIns="0" tIns="0" rIns="0" bIns="0" rtlCol="0" anchor="ctr"/>
          <a:lstStyle/>
          <a:p>
            <a:pPr indent="0" marL="0">
              <a:buNone/>
            </a:pPr>
            <a:r>
              <a:rPr lang="en-US" sz="1900" b="1" dirty="0">
                <a:solidFill>
                  <a:schemeClr val="tx1"/>
                </a:solidFill>
                <a:latin typeface="Cambria" pitchFamily="34" charset="0"/>
                <a:ea typeface="Cambria" pitchFamily="34" charset="-122"/>
                <a:cs typeface="Cambria" pitchFamily="34" charset="-120"/>
              </a:rPr>
              <a:t>Call</a:t>
            </a:r>
            <a:endParaRPr lang="en-US" sz="1900" dirty="0"/>
          </a:p>
        </p:txBody>
      </p:sp>
      <p:sp>
        <p:nvSpPr>
          <p:cNvPr id="19" name="Text 16"/>
          <p:cNvSpPr txBox="1"/>
          <p:nvPr/>
        </p:nvSpPr>
        <p:spPr>
          <a:xfrm>
            <a:off x="8257032" y="2212848"/>
            <a:ext cx="3200400" cy="713232"/>
          </a:xfrm>
          <a:prstGeom prst="rect">
            <a:avLst/>
          </a:prstGeom>
          <a:noFill/>
          <a:ln/>
        </p:spPr>
        <p:txBody>
          <a:bodyPr wrap="square" lIns="0" tIns="0" rIns="0" bIns="0" rtlCol="0" anchor="t"/>
          <a:lstStyle/>
          <a:p>
            <a:pPr indent="0" marL="0">
              <a:buNone/>
            </a:pPr>
            <a:r>
              <a:rPr lang="en-US" sz="1400" dirty="0">
                <a:solidFill>
                  <a:schemeClr val="tx2"/>
                </a:solidFill>
              </a:rPr>
              <a:t>Instead of prose, the model returns function calls: a tool name plus JSON arguments.</a:t>
            </a:r>
            <a:endParaRPr lang="en-US" sz="1400" dirty="0"/>
          </a:p>
        </p:txBody>
      </p:sp>
      <p:sp>
        <p:nvSpPr>
          <p:cNvPr id="20" name="loop-step"/>
          <p:cNvSpPr/>
          <p:nvPr/>
        </p:nvSpPr>
        <p:spPr>
          <a:xfrm>
            <a:off x="548640" y="3108960"/>
            <a:ext cx="3566160" cy="1417320"/>
          </a:xfrm>
          <a:prstGeom prst="roundRect">
            <a:avLst>
              <a:gd name="adj" fmla="val 5161"/>
            </a:avLst>
          </a:prstGeom>
          <a:solidFill>
            <a:schemeClr val="bg2"/>
          </a:solidFill>
          <a:ln w="9525">
            <a:solidFill>
              <a:schemeClr val="accent3"/>
            </a:solidFill>
            <a:prstDash val="solid"/>
          </a:ln>
        </p:spPr>
      </p:sp>
      <p:sp>
        <p:nvSpPr>
          <p:cNvPr id="21" name="step-number"/>
          <p:cNvSpPr/>
          <p:nvPr/>
        </p:nvSpPr>
        <p:spPr>
          <a:xfrm>
            <a:off x="731520" y="3291840"/>
            <a:ext cx="384048" cy="384048"/>
          </a:xfrm>
          <a:prstGeom prst="ellipse">
            <a:avLst/>
          </a:prstGeom>
          <a:solidFill>
            <a:schemeClr val="accent1"/>
          </a:solidFill>
          <a:ln w="6350">
            <a:solidFill>
              <a:schemeClr val="accent1"/>
            </a:solidFill>
            <a:prstDash val="solid"/>
          </a:ln>
        </p:spPr>
      </p:sp>
      <p:sp>
        <p:nvSpPr>
          <p:cNvPr id="22" name="Text 19"/>
          <p:cNvSpPr txBox="1"/>
          <p:nvPr/>
        </p:nvSpPr>
        <p:spPr>
          <a:xfrm>
            <a:off x="731520" y="32918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Text 20"/>
          <p:cNvSpPr txBox="1"/>
          <p:nvPr/>
        </p:nvSpPr>
        <p:spPr>
          <a:xfrm>
            <a:off x="1234440" y="3291840"/>
            <a:ext cx="2651760" cy="384048"/>
          </a:xfrm>
          <a:prstGeom prst="rect">
            <a:avLst/>
          </a:prstGeom>
          <a:noFill/>
          <a:ln/>
        </p:spPr>
        <p:txBody>
          <a:bodyPr wrap="square" lIns="0" tIns="0" rIns="0" bIns="0" rtlCol="0" anchor="ctr"/>
          <a:lstStyle/>
          <a:p>
            <a:pPr indent="0" marL="0">
              <a:buNone/>
            </a:pPr>
            <a:r>
              <a:rPr lang="en-US" sz="1900" b="1" dirty="0">
                <a:solidFill>
                  <a:schemeClr val="tx1"/>
                </a:solidFill>
                <a:latin typeface="Cambria" pitchFamily="34" charset="0"/>
                <a:ea typeface="Cambria" pitchFamily="34" charset="-122"/>
                <a:cs typeface="Cambria" pitchFamily="34" charset="-120"/>
              </a:rPr>
              <a:t>Execute</a:t>
            </a:r>
            <a:endParaRPr lang="en-US" sz="1900" dirty="0"/>
          </a:p>
        </p:txBody>
      </p:sp>
      <p:sp>
        <p:nvSpPr>
          <p:cNvPr id="24" name="Text 21"/>
          <p:cNvSpPr txBox="1"/>
          <p:nvPr/>
        </p:nvSpPr>
        <p:spPr>
          <a:xfrm>
            <a:off x="731520" y="3767328"/>
            <a:ext cx="3200400" cy="713232"/>
          </a:xfrm>
          <a:prstGeom prst="rect">
            <a:avLst/>
          </a:prstGeom>
          <a:noFill/>
          <a:ln/>
        </p:spPr>
        <p:txBody>
          <a:bodyPr wrap="square" lIns="0" tIns="0" rIns="0" bIns="0" rtlCol="0" anchor="t"/>
          <a:lstStyle/>
          <a:p>
            <a:pPr indent="0" marL="0">
              <a:buNone/>
            </a:pPr>
            <a:r>
              <a:rPr lang="en-US" sz="1400" dirty="0">
                <a:solidFill>
                  <a:schemeClr val="tx2"/>
                </a:solidFill>
              </a:rPr>
              <a:t>executeTool() dispatches each call to its Windows implementation, in order.</a:t>
            </a:r>
            <a:endParaRPr lang="en-US" sz="1400" dirty="0"/>
          </a:p>
        </p:txBody>
      </p:sp>
      <p:sp>
        <p:nvSpPr>
          <p:cNvPr id="25" name="loop-step"/>
          <p:cNvSpPr/>
          <p:nvPr/>
        </p:nvSpPr>
        <p:spPr>
          <a:xfrm>
            <a:off x="4311396" y="3108960"/>
            <a:ext cx="3566160" cy="1417320"/>
          </a:xfrm>
          <a:prstGeom prst="roundRect">
            <a:avLst>
              <a:gd name="adj" fmla="val 5161"/>
            </a:avLst>
          </a:prstGeom>
          <a:solidFill>
            <a:schemeClr val="bg2"/>
          </a:solidFill>
          <a:ln w="9525">
            <a:solidFill>
              <a:schemeClr val="accent3"/>
            </a:solidFill>
            <a:prstDash val="solid"/>
          </a:ln>
        </p:spPr>
      </p:sp>
      <p:sp>
        <p:nvSpPr>
          <p:cNvPr id="26" name="step-number"/>
          <p:cNvSpPr/>
          <p:nvPr/>
        </p:nvSpPr>
        <p:spPr>
          <a:xfrm>
            <a:off x="4494276" y="3291840"/>
            <a:ext cx="384048" cy="384048"/>
          </a:xfrm>
          <a:prstGeom prst="ellipse">
            <a:avLst/>
          </a:prstGeom>
          <a:solidFill>
            <a:schemeClr val="accent1"/>
          </a:solidFill>
          <a:ln w="6350">
            <a:solidFill>
              <a:schemeClr val="accent1"/>
            </a:solidFill>
            <a:prstDash val="solid"/>
          </a:ln>
        </p:spPr>
      </p:sp>
      <p:sp>
        <p:nvSpPr>
          <p:cNvPr id="27" name="Text 24"/>
          <p:cNvSpPr txBox="1"/>
          <p:nvPr/>
        </p:nvSpPr>
        <p:spPr>
          <a:xfrm>
            <a:off x="4494276" y="32918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8" name="Text 25"/>
          <p:cNvSpPr txBox="1"/>
          <p:nvPr/>
        </p:nvSpPr>
        <p:spPr>
          <a:xfrm>
            <a:off x="4997196" y="3291840"/>
            <a:ext cx="2651760" cy="384048"/>
          </a:xfrm>
          <a:prstGeom prst="rect">
            <a:avLst/>
          </a:prstGeom>
          <a:noFill/>
          <a:ln/>
        </p:spPr>
        <p:txBody>
          <a:bodyPr wrap="square" lIns="0" tIns="0" rIns="0" bIns="0" rtlCol="0" anchor="ctr"/>
          <a:lstStyle/>
          <a:p>
            <a:pPr indent="0" marL="0">
              <a:buNone/>
            </a:pPr>
            <a:r>
              <a:rPr lang="en-US" sz="1900" b="1" dirty="0">
                <a:solidFill>
                  <a:schemeClr val="tx1"/>
                </a:solidFill>
                <a:latin typeface="Cambria" pitchFamily="34" charset="0"/>
                <a:ea typeface="Cambria" pitchFamily="34" charset="-122"/>
                <a:cs typeface="Cambria" pitchFamily="34" charset="-120"/>
              </a:rPr>
              <a:t>Observe</a:t>
            </a:r>
            <a:endParaRPr lang="en-US" sz="1900" dirty="0"/>
          </a:p>
        </p:txBody>
      </p:sp>
      <p:sp>
        <p:nvSpPr>
          <p:cNvPr id="29" name="Text 26"/>
          <p:cNvSpPr txBox="1"/>
          <p:nvPr/>
        </p:nvSpPr>
        <p:spPr>
          <a:xfrm>
            <a:off x="4494276" y="3767328"/>
            <a:ext cx="3200400" cy="713232"/>
          </a:xfrm>
          <a:prstGeom prst="rect">
            <a:avLst/>
          </a:prstGeom>
          <a:noFill/>
          <a:ln/>
        </p:spPr>
        <p:txBody>
          <a:bodyPr wrap="square" lIns="0" tIns="0" rIns="0" bIns="0" rtlCol="0" anchor="t"/>
          <a:lstStyle/>
          <a:p>
            <a:pPr indent="0" marL="0">
              <a:buNone/>
            </a:pPr>
            <a:r>
              <a:rPr lang="en-US" sz="1400" dirty="0">
                <a:solidFill>
                  <a:schemeClr val="tx2"/>
                </a:solidFill>
              </a:rPr>
              <a:t>Each result string goes back to Gemini as a functionResponse.</a:t>
            </a:r>
            <a:endParaRPr lang="en-US" sz="1400" dirty="0"/>
          </a:p>
        </p:txBody>
      </p:sp>
      <p:sp>
        <p:nvSpPr>
          <p:cNvPr id="30" name="loop-step"/>
          <p:cNvSpPr/>
          <p:nvPr/>
        </p:nvSpPr>
        <p:spPr>
          <a:xfrm>
            <a:off x="8074152" y="3108960"/>
            <a:ext cx="3566160" cy="1417320"/>
          </a:xfrm>
          <a:prstGeom prst="roundRect">
            <a:avLst>
              <a:gd name="adj" fmla="val 5161"/>
            </a:avLst>
          </a:prstGeom>
          <a:solidFill>
            <a:schemeClr val="bg2"/>
          </a:solidFill>
          <a:ln w="9525">
            <a:solidFill>
              <a:schemeClr val="accent3"/>
            </a:solidFill>
            <a:prstDash val="solid"/>
          </a:ln>
        </p:spPr>
      </p:sp>
      <p:sp>
        <p:nvSpPr>
          <p:cNvPr id="31" name="step-number"/>
          <p:cNvSpPr/>
          <p:nvPr/>
        </p:nvSpPr>
        <p:spPr>
          <a:xfrm>
            <a:off x="8257032" y="3291840"/>
            <a:ext cx="384048" cy="384048"/>
          </a:xfrm>
          <a:prstGeom prst="ellipse">
            <a:avLst/>
          </a:prstGeom>
          <a:solidFill>
            <a:schemeClr val="accent1"/>
          </a:solidFill>
          <a:ln w="6350">
            <a:solidFill>
              <a:schemeClr val="accent1"/>
            </a:solidFill>
            <a:prstDash val="solid"/>
          </a:ln>
        </p:spPr>
      </p:sp>
      <p:sp>
        <p:nvSpPr>
          <p:cNvPr id="32" name="Text 29"/>
          <p:cNvSpPr txBox="1"/>
          <p:nvPr/>
        </p:nvSpPr>
        <p:spPr>
          <a:xfrm>
            <a:off x="8257032" y="32918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3" name="Text 30"/>
          <p:cNvSpPr txBox="1"/>
          <p:nvPr/>
        </p:nvSpPr>
        <p:spPr>
          <a:xfrm>
            <a:off x="8759952" y="3291840"/>
            <a:ext cx="2651760" cy="384048"/>
          </a:xfrm>
          <a:prstGeom prst="rect">
            <a:avLst/>
          </a:prstGeom>
          <a:noFill/>
          <a:ln/>
        </p:spPr>
        <p:txBody>
          <a:bodyPr wrap="square" lIns="0" tIns="0" rIns="0" bIns="0" rtlCol="0" anchor="ctr"/>
          <a:lstStyle/>
          <a:p>
            <a:pPr indent="0" marL="0">
              <a:buNone/>
            </a:pPr>
            <a:r>
              <a:rPr lang="en-US" sz="1900" b="1" dirty="0">
                <a:solidFill>
                  <a:schemeClr val="tx1"/>
                </a:solidFill>
                <a:latin typeface="Cambria" pitchFamily="34" charset="0"/>
                <a:ea typeface="Cambria" pitchFamily="34" charset="-122"/>
                <a:cs typeface="Cambria" pitchFamily="34" charset="-120"/>
              </a:rPr>
              <a:t>Reply</a:t>
            </a:r>
            <a:endParaRPr lang="en-US" sz="1900" dirty="0"/>
          </a:p>
        </p:txBody>
      </p:sp>
      <p:sp>
        <p:nvSpPr>
          <p:cNvPr id="34" name="Text 31"/>
          <p:cNvSpPr txBox="1"/>
          <p:nvPr/>
        </p:nvSpPr>
        <p:spPr>
          <a:xfrm>
            <a:off x="8257032" y="3767328"/>
            <a:ext cx="3200400" cy="713232"/>
          </a:xfrm>
          <a:prstGeom prst="rect">
            <a:avLst/>
          </a:prstGeom>
          <a:noFill/>
          <a:ln/>
        </p:spPr>
        <p:txBody>
          <a:bodyPr wrap="square" lIns="0" tIns="0" rIns="0" bIns="0" rtlCol="0" anchor="t"/>
          <a:lstStyle/>
          <a:p>
            <a:pPr indent="0" marL="0">
              <a:buNone/>
            </a:pPr>
            <a:r>
              <a:rPr lang="en-US" sz="1400" dirty="0">
                <a:solidFill>
                  <a:schemeClr val="tx2"/>
                </a:solidFill>
              </a:rPr>
              <a:t>A short Telugu + English confirmation is shown; the last 20 messages are kept as context.</a:t>
            </a:r>
            <a:endParaRPr lang="en-US" sz="1400" dirty="0"/>
          </a:p>
        </p:txBody>
      </p:sp>
      <p:sp>
        <p:nvSpPr>
          <p:cNvPr id="35" name="trace-card"/>
          <p:cNvSpPr/>
          <p:nvPr/>
        </p:nvSpPr>
        <p:spPr>
          <a:xfrm>
            <a:off x="548640" y="4754880"/>
            <a:ext cx="11091672" cy="1508760"/>
          </a:xfrm>
          <a:prstGeom prst="roundRect">
            <a:avLst>
              <a:gd name="adj" fmla="val 4848"/>
            </a:avLst>
          </a:prstGeom>
          <a:solidFill>
            <a:schemeClr val="accent4"/>
          </a:solidFill>
          <a:ln w="15875">
            <a:solidFill>
              <a:schemeClr val="accent1"/>
            </a:solidFill>
            <a:prstDash val="solid"/>
          </a:ln>
        </p:spPr>
      </p:sp>
      <p:sp>
        <p:nvSpPr>
          <p:cNvPr id="36" name="Text 33"/>
          <p:cNvSpPr txBox="1"/>
          <p:nvPr/>
        </p:nvSpPr>
        <p:spPr>
          <a:xfrm>
            <a:off x="822960" y="4873752"/>
            <a:ext cx="548640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TRACE · ONE REAL COMMAND</a:t>
            </a:r>
            <a:endParaRPr lang="en-US" sz="1000" dirty="0"/>
          </a:p>
        </p:txBody>
      </p:sp>
      <p:sp>
        <p:nvSpPr>
          <p:cNvPr id="37" name="Text 34"/>
          <p:cNvSpPr txBox="1"/>
          <p:nvPr/>
        </p:nvSpPr>
        <p:spPr>
          <a:xfrm>
            <a:off x="822960" y="5230368"/>
            <a:ext cx="2103120" cy="228600"/>
          </a:xfrm>
          <a:prstGeom prst="rect">
            <a:avLst/>
          </a:prstGeom>
          <a:noFill/>
          <a:ln/>
        </p:spPr>
        <p:txBody>
          <a:bodyPr wrap="square" lIns="0" tIns="0" rIns="0" bIns="0" rtlCol="0" anchor="t"/>
          <a:lstStyle/>
          <a:p>
            <a:pPr indent="0" marL="0">
              <a:buNone/>
            </a:pPr>
            <a:r>
              <a:rPr lang="en-US" sz="1100" dirty="0">
                <a:solidFill>
                  <a:schemeClr val="tx2"/>
                </a:solidFill>
              </a:rPr>
              <a:t>User says</a:t>
            </a:r>
            <a:endParaRPr lang="en-US" sz="1100" dirty="0"/>
          </a:p>
        </p:txBody>
      </p:sp>
      <p:sp>
        <p:nvSpPr>
          <p:cNvPr id="38" name="trace-chip"/>
          <p:cNvSpPr/>
          <p:nvPr/>
        </p:nvSpPr>
        <p:spPr>
          <a:xfrm>
            <a:off x="822960" y="5504688"/>
            <a:ext cx="2103120" cy="594360"/>
          </a:xfrm>
          <a:prstGeom prst="roundRect">
            <a:avLst>
              <a:gd name="adj" fmla="val 12308"/>
            </a:avLst>
          </a:prstGeom>
          <a:solidFill>
            <a:schemeClr val="bg1"/>
          </a:solidFill>
          <a:ln w="9525">
            <a:solidFill>
              <a:schemeClr val="accent3"/>
            </a:solidFill>
            <a:prstDash val="solid"/>
          </a:ln>
        </p:spPr>
      </p:sp>
      <p:sp>
        <p:nvSpPr>
          <p:cNvPr id="39" name="Text 36"/>
          <p:cNvSpPr txBox="1"/>
          <p:nvPr/>
        </p:nvSpPr>
        <p:spPr>
          <a:xfrm>
            <a:off x="932688" y="5504688"/>
            <a:ext cx="1883664" cy="594360"/>
          </a:xfrm>
          <a:prstGeom prst="rect">
            <a:avLst/>
          </a:prstGeom>
          <a:noFill/>
          <a:ln/>
        </p:spPr>
        <p:txBody>
          <a:bodyPr wrap="square" lIns="0" tIns="0" rIns="0" bIns="0" rtlCol="0" anchor="ctr"/>
          <a:lstStyle/>
          <a:p>
            <a:pPr indent="0" marL="0">
              <a:buNone/>
            </a:pPr>
            <a:r>
              <a:rPr lang="en-US" sz="1400" dirty="0">
                <a:solidFill>
                  <a:schemeClr val="tx1"/>
                </a:solidFill>
              </a:rPr>
              <a:t>“Chrome open చెయ్”</a:t>
            </a:r>
            <a:endParaRPr lang="en-US" sz="1400" dirty="0"/>
          </a:p>
        </p:txBody>
      </p:sp>
      <p:sp>
        <p:nvSpPr>
          <p:cNvPr id="40" name="arrow"/>
          <p:cNvSpPr/>
          <p:nvPr/>
        </p:nvSpPr>
        <p:spPr>
          <a:xfrm>
            <a:off x="2990088" y="5801868"/>
            <a:ext cx="256032" cy="0"/>
          </a:xfrm>
          <a:prstGeom prst="line">
            <a:avLst/>
          </a:prstGeom>
          <a:noFill/>
          <a:ln w="22225">
            <a:solidFill>
              <a:schemeClr val="accent1"/>
            </a:solidFill>
            <a:prstDash val="solid"/>
            <a:tailEnd type="triangle"/>
          </a:ln>
        </p:spPr>
      </p:sp>
      <p:sp>
        <p:nvSpPr>
          <p:cNvPr id="41" name="Text 38"/>
          <p:cNvSpPr txBox="1"/>
          <p:nvPr/>
        </p:nvSpPr>
        <p:spPr>
          <a:xfrm>
            <a:off x="3310128" y="5230368"/>
            <a:ext cx="3291840" cy="228600"/>
          </a:xfrm>
          <a:prstGeom prst="rect">
            <a:avLst/>
          </a:prstGeom>
          <a:noFill/>
          <a:ln/>
        </p:spPr>
        <p:txBody>
          <a:bodyPr wrap="square" lIns="0" tIns="0" rIns="0" bIns="0" rtlCol="0" anchor="t"/>
          <a:lstStyle/>
          <a:p>
            <a:pPr indent="0" marL="0">
              <a:buNone/>
            </a:pPr>
            <a:r>
              <a:rPr lang="en-US" sz="1100" dirty="0">
                <a:solidFill>
                  <a:schemeClr val="tx2"/>
                </a:solidFill>
              </a:rPr>
              <a:t>Gemini calls</a:t>
            </a:r>
            <a:endParaRPr lang="en-US" sz="1100" dirty="0"/>
          </a:p>
        </p:txBody>
      </p:sp>
      <p:sp>
        <p:nvSpPr>
          <p:cNvPr id="42" name="trace-chip"/>
          <p:cNvSpPr/>
          <p:nvPr/>
        </p:nvSpPr>
        <p:spPr>
          <a:xfrm>
            <a:off x="3310128" y="5504688"/>
            <a:ext cx="3291840" cy="594360"/>
          </a:xfrm>
          <a:prstGeom prst="roundRect">
            <a:avLst>
              <a:gd name="adj" fmla="val 12308"/>
            </a:avLst>
          </a:prstGeom>
          <a:solidFill>
            <a:schemeClr val="bg1"/>
          </a:solidFill>
          <a:ln w="9525">
            <a:solidFill>
              <a:schemeClr val="accent3"/>
            </a:solidFill>
            <a:prstDash val="solid"/>
          </a:ln>
        </p:spPr>
      </p:sp>
      <p:sp>
        <p:nvSpPr>
          <p:cNvPr id="43" name="Text 40"/>
          <p:cNvSpPr txBox="1"/>
          <p:nvPr/>
        </p:nvSpPr>
        <p:spPr>
          <a:xfrm>
            <a:off x="3419856" y="5504688"/>
            <a:ext cx="3072384" cy="594360"/>
          </a:xfrm>
          <a:prstGeom prst="rect">
            <a:avLst/>
          </a:prstGeom>
          <a:noFill/>
          <a:ln/>
        </p:spPr>
        <p:txBody>
          <a:bodyPr wrap="square" lIns="0" tIns="0" rIns="0" bIns="0" rtlCol="0" anchor="ctr"/>
          <a:lstStyle/>
          <a:p>
            <a:pPr indent="0" marL="0">
              <a:buNone/>
            </a:pPr>
            <a:r>
              <a:rPr lang="en-US" sz="1250" dirty="0">
                <a:solidFill>
                  <a:schemeClr val="tx1"/>
                </a:solidFill>
                <a:latin typeface="Courier New" pitchFamily="34" charset="0"/>
                <a:ea typeface="Courier New" pitchFamily="34" charset="-122"/>
                <a:cs typeface="Courier New" pitchFamily="34" charset="-120"/>
              </a:rPr>
              <a:t>open_app({ appName: "chrome" })</a:t>
            </a:r>
            <a:endParaRPr lang="en-US" sz="1250" dirty="0"/>
          </a:p>
        </p:txBody>
      </p:sp>
      <p:sp>
        <p:nvSpPr>
          <p:cNvPr id="44" name="arrow"/>
          <p:cNvSpPr/>
          <p:nvPr/>
        </p:nvSpPr>
        <p:spPr>
          <a:xfrm>
            <a:off x="6665976" y="5801868"/>
            <a:ext cx="256032" cy="0"/>
          </a:xfrm>
          <a:prstGeom prst="line">
            <a:avLst/>
          </a:prstGeom>
          <a:noFill/>
          <a:ln w="22225">
            <a:solidFill>
              <a:schemeClr val="accent1"/>
            </a:solidFill>
            <a:prstDash val="solid"/>
            <a:tailEnd type="triangle"/>
          </a:ln>
        </p:spPr>
      </p:sp>
      <p:sp>
        <p:nvSpPr>
          <p:cNvPr id="45" name="Text 42"/>
          <p:cNvSpPr txBox="1"/>
          <p:nvPr/>
        </p:nvSpPr>
        <p:spPr>
          <a:xfrm>
            <a:off x="6986016" y="5230368"/>
            <a:ext cx="2331720" cy="228600"/>
          </a:xfrm>
          <a:prstGeom prst="rect">
            <a:avLst/>
          </a:prstGeom>
          <a:noFill/>
          <a:ln/>
        </p:spPr>
        <p:txBody>
          <a:bodyPr wrap="square" lIns="0" tIns="0" rIns="0" bIns="0" rtlCol="0" anchor="t"/>
          <a:lstStyle/>
          <a:p>
            <a:pPr indent="0" marL="0">
              <a:buNone/>
            </a:pPr>
            <a:r>
              <a:rPr lang="en-US" sz="1100" dirty="0">
                <a:solidFill>
                  <a:schemeClr val="tx2"/>
                </a:solidFill>
              </a:rPr>
              <a:t>Windows runs</a:t>
            </a:r>
            <a:endParaRPr lang="en-US" sz="1100" dirty="0"/>
          </a:p>
        </p:txBody>
      </p:sp>
      <p:sp>
        <p:nvSpPr>
          <p:cNvPr id="46" name="trace-chip"/>
          <p:cNvSpPr/>
          <p:nvPr/>
        </p:nvSpPr>
        <p:spPr>
          <a:xfrm>
            <a:off x="6986016" y="5504688"/>
            <a:ext cx="2331720" cy="594360"/>
          </a:xfrm>
          <a:prstGeom prst="roundRect">
            <a:avLst>
              <a:gd name="adj" fmla="val 12308"/>
            </a:avLst>
          </a:prstGeom>
          <a:solidFill>
            <a:schemeClr val="bg1"/>
          </a:solidFill>
          <a:ln w="9525">
            <a:solidFill>
              <a:schemeClr val="accent3"/>
            </a:solidFill>
            <a:prstDash val="solid"/>
          </a:ln>
        </p:spPr>
      </p:sp>
      <p:sp>
        <p:nvSpPr>
          <p:cNvPr id="47" name="Text 44"/>
          <p:cNvSpPr txBox="1"/>
          <p:nvPr/>
        </p:nvSpPr>
        <p:spPr>
          <a:xfrm>
            <a:off x="7095744" y="5504688"/>
            <a:ext cx="2112264" cy="594360"/>
          </a:xfrm>
          <a:prstGeom prst="rect">
            <a:avLst/>
          </a:prstGeom>
          <a:noFill/>
          <a:ln/>
        </p:spPr>
        <p:txBody>
          <a:bodyPr wrap="square" lIns="0" tIns="0" rIns="0" bIns="0" rtlCol="0" anchor="ctr"/>
          <a:lstStyle/>
          <a:p>
            <a:pPr indent="0" marL="0">
              <a:buNone/>
            </a:pPr>
            <a:r>
              <a:rPr lang="en-US" sz="1250" dirty="0">
                <a:solidFill>
                  <a:schemeClr val="tx1"/>
                </a:solidFill>
                <a:latin typeface="Courier New" pitchFamily="34" charset="0"/>
                <a:ea typeface="Courier New" pitchFamily="34" charset="-122"/>
                <a:cs typeface="Courier New" pitchFamily="34" charset="-120"/>
              </a:rPr>
              <a:t>cmd.exe → start chrome</a:t>
            </a:r>
            <a:endParaRPr lang="en-US" sz="1250" dirty="0"/>
          </a:p>
        </p:txBody>
      </p:sp>
      <p:sp>
        <p:nvSpPr>
          <p:cNvPr id="48" name="arrow"/>
          <p:cNvSpPr/>
          <p:nvPr/>
        </p:nvSpPr>
        <p:spPr>
          <a:xfrm>
            <a:off x="9381744" y="5801868"/>
            <a:ext cx="256032" cy="0"/>
          </a:xfrm>
          <a:prstGeom prst="line">
            <a:avLst/>
          </a:prstGeom>
          <a:noFill/>
          <a:ln w="22225">
            <a:solidFill>
              <a:schemeClr val="accent1"/>
            </a:solidFill>
            <a:prstDash val="solid"/>
            <a:tailEnd type="triangle"/>
          </a:ln>
        </p:spPr>
      </p:sp>
      <p:sp>
        <p:nvSpPr>
          <p:cNvPr id="49" name="Text 46"/>
          <p:cNvSpPr txBox="1"/>
          <p:nvPr/>
        </p:nvSpPr>
        <p:spPr>
          <a:xfrm>
            <a:off x="9701784" y="5230368"/>
            <a:ext cx="1783080" cy="228600"/>
          </a:xfrm>
          <a:prstGeom prst="rect">
            <a:avLst/>
          </a:prstGeom>
          <a:noFill/>
          <a:ln/>
        </p:spPr>
        <p:txBody>
          <a:bodyPr wrap="square" lIns="0" tIns="0" rIns="0" bIns="0" rtlCol="0" anchor="t"/>
          <a:lstStyle/>
          <a:p>
            <a:pPr indent="0" marL="0">
              <a:buNone/>
            </a:pPr>
            <a:r>
              <a:rPr lang="en-US" sz="1100" dirty="0">
                <a:solidFill>
                  <a:schemeClr val="tx2"/>
                </a:solidFill>
              </a:rPr>
              <a:t>ULTRON replies</a:t>
            </a:r>
            <a:endParaRPr lang="en-US" sz="1100" dirty="0"/>
          </a:p>
        </p:txBody>
      </p:sp>
      <p:sp>
        <p:nvSpPr>
          <p:cNvPr id="50" name="trace-chip"/>
          <p:cNvSpPr/>
          <p:nvPr/>
        </p:nvSpPr>
        <p:spPr>
          <a:xfrm>
            <a:off x="9701784" y="5504688"/>
            <a:ext cx="1783080" cy="594360"/>
          </a:xfrm>
          <a:prstGeom prst="roundRect">
            <a:avLst>
              <a:gd name="adj" fmla="val 12308"/>
            </a:avLst>
          </a:prstGeom>
          <a:solidFill>
            <a:schemeClr val="bg1"/>
          </a:solidFill>
          <a:ln w="9525">
            <a:solidFill>
              <a:schemeClr val="accent3"/>
            </a:solidFill>
            <a:prstDash val="solid"/>
          </a:ln>
        </p:spPr>
      </p:sp>
      <p:sp>
        <p:nvSpPr>
          <p:cNvPr id="51" name="Text 48"/>
          <p:cNvSpPr txBox="1"/>
          <p:nvPr/>
        </p:nvSpPr>
        <p:spPr>
          <a:xfrm>
            <a:off x="9811512" y="5504688"/>
            <a:ext cx="1563624" cy="594360"/>
          </a:xfrm>
          <a:prstGeom prst="rect">
            <a:avLst/>
          </a:prstGeom>
          <a:noFill/>
          <a:ln/>
        </p:spPr>
        <p:txBody>
          <a:bodyPr wrap="square" lIns="0" tIns="0" rIns="0" bIns="0" rtlCol="0" anchor="ctr"/>
          <a:lstStyle/>
          <a:p>
            <a:pPr indent="0" marL="0">
              <a:buNone/>
            </a:pPr>
            <a:r>
              <a:rPr lang="en-US" sz="1400" dirty="0">
                <a:solidFill>
                  <a:schemeClr val="tx1"/>
                </a:solidFill>
              </a:rPr>
              <a:t>“Opened chrome”</a:t>
            </a:r>
            <a:endParaRPr lang="en-US" sz="1400" dirty="0"/>
          </a:p>
        </p:txBody>
      </p:sp>
      <p:sp>
        <p:nvSpPr>
          <p:cNvPr id="25" name="Slide Number Placeholder 0"/>
          <p:cNvSpPr>
            <a:spLocks noGrp="1"/>
          </p:cNvSpPr>
          <p:nvPr>
            <p:ph type="sldNum" sz="quarter" idx="4294967295"/>
          </p:nvPr>
        </p:nvSpPr>
        <p:spPr>
          <a:xfrm>
            <a:off x="10972800" y="6437376"/>
            <a:ext cx="667512"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t"/>
          <a:lstStyle/>
          <a:p>
            <a:pPr indent="0" marL="0">
              <a:buNone/>
            </a:pPr>
            <a:r>
              <a:rPr lang="en-US" sz="1100" b="1" spc="300" kern="0" dirty="0">
                <a:solidFill>
                  <a:schemeClr val="accent1"/>
                </a:solidFill>
              </a:rPr>
              <a:t>OPERATING APPS</a:t>
            </a:r>
            <a:endParaRPr lang="en-US" sz="1100" dirty="0"/>
          </a:p>
        </p:txBody>
      </p:sp>
      <p:sp>
        <p:nvSpPr>
          <p:cNvPr id="3" name="Text 0"/>
          <p:cNvSpPr/>
          <p:nvPr>
            <p:ph idx="101" type="title" hasCustomPrompt="1"/>
          </p:nvPr>
        </p:nvSpPr>
        <p:spPr>
          <a:xfrm>
            <a:off x="548640" y="640080"/>
            <a:ext cx="11091672" cy="685800"/>
          </a:xfrm>
          <a:prstGeom prst="rect">
            <a:avLst/>
          </a:prstGeom>
          <a:noFill/>
          <a:ln/>
        </p:spPr>
        <p:txBody>
          <a:bodyPr wrap="square" lIns="0" tIns="0" rIns="0" bIns="0" rtlCol="0" anchor="t"/>
          <a:lstStyle/>
          <a:p>
            <a:pPr algn="l" indent="0" marL="0">
              <a:buNone/>
            </a:pPr>
            <a:r>
              <a:rPr lang="en-US" sz="3400" b="1" dirty="0">
                <a:solidFill>
                  <a:schemeClr val="tx1"/>
                </a:solidFill>
              </a:rPr>
              <a:t>Opening &amp; Closing Apps — Deep Dive</a:t>
            </a:r>
            <a:endParaRPr lang="en-US" sz="3400" dirty="0"/>
          </a:p>
        </p:txBody>
      </p:sp>
      <p:sp>
        <p:nvSpPr>
          <p:cNvPr id="5" name="open-card"/>
          <p:cNvSpPr/>
          <p:nvPr/>
        </p:nvSpPr>
        <p:spPr>
          <a:xfrm>
            <a:off x="548640" y="1554480"/>
            <a:ext cx="5440680" cy="3154680"/>
          </a:xfrm>
          <a:prstGeom prst="roundRect">
            <a:avLst>
              <a:gd name="adj" fmla="val 2319"/>
            </a:avLst>
          </a:prstGeom>
          <a:solidFill>
            <a:schemeClr val="bg2"/>
          </a:solidFill>
          <a:ln w="9525">
            <a:solidFill>
              <a:schemeClr val="accent3"/>
            </a:solidFill>
            <a:prstDash val="solid"/>
          </a:ln>
        </p:spPr>
      </p:sp>
      <p:sp>
        <p:nvSpPr>
          <p:cNvPr id="6" name="icon-circle"/>
          <p:cNvSpPr/>
          <p:nvPr/>
        </p:nvSpPr>
        <p:spPr>
          <a:xfrm>
            <a:off x="777240" y="1755648"/>
            <a:ext cx="530352" cy="530352"/>
          </a:xfrm>
          <a:prstGeom prst="ellipse">
            <a:avLst/>
          </a:prstGeom>
          <a:solidFill>
            <a:schemeClr val="accent4"/>
          </a:solidFill>
          <a:ln w="9525">
            <a:solidFill>
              <a:schemeClr val="accent3"/>
            </a:solidFill>
            <a:prstDash val="solid"/>
          </a:ln>
        </p:spPr>
      </p:sp>
      <p:pic>
        <p:nvPicPr>
          <p:cNvPr id="7" name="Image 0" descr="Play icon">    </p:cNvPr>
          <p:cNvPicPr>
            <a:picLocks noChangeAspect="1"/>
          </p:cNvPicPr>
          <p:nvPr/>
        </p:nvPicPr>
        <p:blipFill>
          <a:blip r:embed="rId1"/>
          <a:stretch>
            <a:fillRect/>
          </a:stretch>
        </p:blipFill>
        <p:spPr>
          <a:xfrm>
            <a:off x="904524" y="1882932"/>
            <a:ext cx="275783" cy="275783"/>
          </a:xfrm>
          <a:prstGeom prst="rect">
            <a:avLst/>
          </a:prstGeom>
        </p:spPr>
      </p:pic>
      <p:sp>
        <p:nvSpPr>
          <p:cNvPr id="8" name="Text 4"/>
          <p:cNvSpPr txBox="1"/>
          <p:nvPr/>
        </p:nvSpPr>
        <p:spPr>
          <a:xfrm>
            <a:off x="1463040" y="1755648"/>
            <a:ext cx="4297680" cy="530352"/>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open_app(appName)</a:t>
            </a:r>
            <a:endParaRPr lang="en-US" sz="2000" dirty="0"/>
          </a:p>
        </p:txBody>
      </p:sp>
      <p:sp>
        <p:nvSpPr>
          <p:cNvPr id="9" name="Text 5"/>
          <p:cNvSpPr txBox="1"/>
          <p:nvPr/>
        </p:nvSpPr>
        <p:spPr>
          <a:xfrm>
            <a:off x="777240" y="2468880"/>
            <a:ext cx="5029200" cy="146304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Normalise the name, look it up in the alias map</a:t>
            </a:r>
            <a:endParaRPr lang="en-US" sz="1400" dirty="0"/>
          </a:p>
          <a:p>
            <a:pPr marL="342900" indent="-342900">
              <a:spcAft>
                <a:spcPts val="500"/>
              </a:spcAft>
              <a:buSzPct val="100000"/>
              <a:buChar char="•"/>
            </a:pPr>
            <a:r>
              <a:rPr lang="en-US" sz="1400" dirty="0">
                <a:solidFill>
                  <a:schemeClr val="tx1"/>
                </a:solidFill>
              </a:rPr>
              <a:t>Launch through cmd.exe with Windows start</a:t>
            </a:r>
            <a:endParaRPr lang="en-US" sz="1400" dirty="0"/>
          </a:p>
          <a:p>
            <a:pPr marL="342900" indent="-342900">
              <a:spcAft>
                <a:spcPts val="500"/>
              </a:spcAft>
              <a:buSzPct val="100000"/>
              <a:buChar char="•"/>
            </a:pPr>
            <a:r>
              <a:rPr lang="en-US" sz="1400" dirty="0">
                <a:solidFill>
                  <a:schemeClr val="tx1"/>
                </a:solidFill>
              </a:rPr>
              <a:t>Store apps open by URI: ms-clock:, spotify:</a:t>
            </a:r>
            <a:endParaRPr lang="en-US" sz="1400" dirty="0"/>
          </a:p>
          <a:p>
            <a:pPr marL="342900" indent="-342900">
              <a:spcAft>
                <a:spcPts val="500"/>
              </a:spcAft>
              <a:buSzPct val="100000"/>
              <a:buChar char="•"/>
            </a:pPr>
            <a:r>
              <a:rPr lang="en-US" sz="1400" dirty="0">
                <a:solidFill>
                  <a:schemeClr val="tx1"/>
                </a:solidFill>
              </a:rPr>
              <a:t>Unknown name? Fall back to start &lt;name&gt;</a:t>
            </a:r>
            <a:endParaRPr lang="en-US" sz="1400" dirty="0"/>
          </a:p>
        </p:txBody>
      </p:sp>
      <p:sp>
        <p:nvSpPr>
          <p:cNvPr id="10" name="code-open"/>
          <p:cNvSpPr/>
          <p:nvPr/>
        </p:nvSpPr>
        <p:spPr>
          <a:xfrm>
            <a:off x="777240" y="4023360"/>
            <a:ext cx="4983480" cy="502920"/>
          </a:xfrm>
          <a:prstGeom prst="roundRect">
            <a:avLst>
              <a:gd name="adj" fmla="val 14545"/>
            </a:avLst>
          </a:prstGeom>
          <a:solidFill>
            <a:schemeClr val="bg1"/>
          </a:solidFill>
          <a:ln w="9525">
            <a:solidFill>
              <a:schemeClr val="accent3"/>
            </a:solidFill>
            <a:prstDash val="solid"/>
          </a:ln>
        </p:spPr>
      </p:sp>
      <p:sp>
        <p:nvSpPr>
          <p:cNvPr id="11" name="Text 7"/>
          <p:cNvSpPr txBox="1"/>
          <p:nvPr/>
        </p:nvSpPr>
        <p:spPr>
          <a:xfrm>
            <a:off x="914400" y="4023360"/>
            <a:ext cx="4754880" cy="502920"/>
          </a:xfrm>
          <a:prstGeom prst="rect">
            <a:avLst/>
          </a:prstGeom>
          <a:noFill/>
          <a:ln/>
        </p:spPr>
        <p:txBody>
          <a:bodyPr wrap="square" lIns="0" tIns="0" rIns="0" bIns="0" rtlCol="0" anchor="ctr"/>
          <a:lstStyle/>
          <a:p>
            <a:pPr indent="0" marL="0">
              <a:buNone/>
            </a:pPr>
            <a:r>
              <a:rPr lang="en-US" sz="1300" dirty="0">
                <a:solidFill>
                  <a:schemeClr val="accent2"/>
                </a:solidFill>
                <a:latin typeface="Courier New" pitchFamily="34" charset="0"/>
                <a:ea typeface="Courier New" pitchFamily="34" charset="-122"/>
                <a:cs typeface="Courier New" pitchFamily="34" charset="-120"/>
              </a:rPr>
              <a:t>open_app("chrome")  →  start chrome</a:t>
            </a:r>
            <a:endParaRPr lang="en-US" sz="1300" dirty="0"/>
          </a:p>
        </p:txBody>
      </p:sp>
      <p:sp>
        <p:nvSpPr>
          <p:cNvPr id="12" name="close-card"/>
          <p:cNvSpPr/>
          <p:nvPr/>
        </p:nvSpPr>
        <p:spPr>
          <a:xfrm>
            <a:off x="6199632" y="1554480"/>
            <a:ext cx="5440680" cy="3154680"/>
          </a:xfrm>
          <a:prstGeom prst="roundRect">
            <a:avLst>
              <a:gd name="adj" fmla="val 2319"/>
            </a:avLst>
          </a:prstGeom>
          <a:solidFill>
            <a:schemeClr val="bg2"/>
          </a:solidFill>
          <a:ln w="9525">
            <a:solidFill>
              <a:schemeClr val="accent3"/>
            </a:solidFill>
            <a:prstDash val="solid"/>
          </a:ln>
        </p:spPr>
      </p:sp>
      <p:sp>
        <p:nvSpPr>
          <p:cNvPr id="13" name="icon-circle"/>
          <p:cNvSpPr/>
          <p:nvPr/>
        </p:nvSpPr>
        <p:spPr>
          <a:xfrm>
            <a:off x="6428232" y="1755648"/>
            <a:ext cx="530352" cy="530352"/>
          </a:xfrm>
          <a:prstGeom prst="ellipse">
            <a:avLst/>
          </a:prstGeom>
          <a:solidFill>
            <a:schemeClr val="accent4"/>
          </a:solidFill>
          <a:ln w="9525">
            <a:solidFill>
              <a:schemeClr val="accent3"/>
            </a:solidFill>
            <a:prstDash val="solid"/>
          </a:ln>
        </p:spPr>
      </p:sp>
      <p:pic>
        <p:nvPicPr>
          <p:cNvPr id="14" name="Image 1" descr="Power icon">    </p:cNvPr>
          <p:cNvPicPr>
            <a:picLocks noChangeAspect="1"/>
          </p:cNvPicPr>
          <p:nvPr/>
        </p:nvPicPr>
        <p:blipFill>
          <a:blip r:embed="rId2"/>
          <a:stretch>
            <a:fillRect/>
          </a:stretch>
        </p:blipFill>
        <p:spPr>
          <a:xfrm>
            <a:off x="6555516" y="1882932"/>
            <a:ext cx="275783" cy="275783"/>
          </a:xfrm>
          <a:prstGeom prst="rect">
            <a:avLst/>
          </a:prstGeom>
        </p:spPr>
      </p:pic>
      <p:sp>
        <p:nvSpPr>
          <p:cNvPr id="15" name="Text 10"/>
          <p:cNvSpPr txBox="1"/>
          <p:nvPr/>
        </p:nvSpPr>
        <p:spPr>
          <a:xfrm>
            <a:off x="7114032" y="1755648"/>
            <a:ext cx="4297680" cy="530352"/>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close_app(appName)</a:t>
            </a:r>
            <a:endParaRPr lang="en-US" sz="2000" dirty="0"/>
          </a:p>
        </p:txBody>
      </p:sp>
      <p:sp>
        <p:nvSpPr>
          <p:cNvPr id="16" name="Text 11"/>
          <p:cNvSpPr txBox="1"/>
          <p:nvPr/>
        </p:nvSpPr>
        <p:spPr>
          <a:xfrm>
            <a:off x="6428232" y="2468880"/>
            <a:ext cx="5029200" cy="146304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Map the alias to its real process name</a:t>
            </a:r>
            <a:endParaRPr lang="en-US" sz="1400" dirty="0"/>
          </a:p>
          <a:p>
            <a:pPr marL="342900" indent="-342900">
              <a:spcAft>
                <a:spcPts val="500"/>
              </a:spcAft>
              <a:buSzPct val="100000"/>
              <a:buChar char="•"/>
            </a:pPr>
            <a:r>
              <a:rPr lang="en-US" sz="1400" dirty="0">
                <a:solidFill>
                  <a:schemeClr val="tx1"/>
                </a:solidFill>
              </a:rPr>
              <a:t>Force-close with taskkill /IM name.exe /F</a:t>
            </a:r>
            <a:endParaRPr lang="en-US" sz="1400" dirty="0"/>
          </a:p>
          <a:p>
            <a:pPr marL="342900" indent="-342900">
              <a:spcAft>
                <a:spcPts val="500"/>
              </a:spcAft>
              <a:buSzPct val="100000"/>
              <a:buChar char="•"/>
            </a:pPr>
            <a:r>
              <a:rPr lang="en-US" sz="1400" dirty="0">
                <a:solidFill>
                  <a:schemeClr val="tx1"/>
                </a:solidFill>
              </a:rPr>
              <a:t>Retry without .exe if the first attempt fails</a:t>
            </a:r>
            <a:endParaRPr lang="en-US" sz="1400" dirty="0"/>
          </a:p>
          <a:p>
            <a:pPr marL="342900" indent="-342900">
              <a:spcAft>
                <a:spcPts val="500"/>
              </a:spcAft>
              <a:buSzPct val="100000"/>
              <a:buChar char="•"/>
            </a:pPr>
            <a:r>
              <a:rPr lang="en-US" sz="1400" dirty="0">
                <a:solidFill>
                  <a:schemeClr val="tx1"/>
                </a:solidFill>
              </a:rPr>
              <a:t>Friendly message if the app isn't running</a:t>
            </a:r>
            <a:endParaRPr lang="en-US" sz="1400" dirty="0"/>
          </a:p>
        </p:txBody>
      </p:sp>
      <p:sp>
        <p:nvSpPr>
          <p:cNvPr id="17" name="code-close"/>
          <p:cNvSpPr/>
          <p:nvPr/>
        </p:nvSpPr>
        <p:spPr>
          <a:xfrm>
            <a:off x="6428232" y="4023360"/>
            <a:ext cx="4983480" cy="502920"/>
          </a:xfrm>
          <a:prstGeom prst="roundRect">
            <a:avLst>
              <a:gd name="adj" fmla="val 14545"/>
            </a:avLst>
          </a:prstGeom>
          <a:solidFill>
            <a:schemeClr val="bg1"/>
          </a:solidFill>
          <a:ln w="9525">
            <a:solidFill>
              <a:schemeClr val="accent3"/>
            </a:solidFill>
            <a:prstDash val="solid"/>
          </a:ln>
        </p:spPr>
      </p:sp>
      <p:sp>
        <p:nvSpPr>
          <p:cNvPr id="18" name="Text 13"/>
          <p:cNvSpPr txBox="1"/>
          <p:nvPr/>
        </p:nvSpPr>
        <p:spPr>
          <a:xfrm>
            <a:off x="6565392" y="4023360"/>
            <a:ext cx="4754880" cy="502920"/>
          </a:xfrm>
          <a:prstGeom prst="rect">
            <a:avLst/>
          </a:prstGeom>
          <a:noFill/>
          <a:ln/>
        </p:spPr>
        <p:txBody>
          <a:bodyPr wrap="square" lIns="0" tIns="0" rIns="0" bIns="0" rtlCol="0" anchor="ctr"/>
          <a:lstStyle/>
          <a:p>
            <a:pPr indent="0" marL="0">
              <a:buNone/>
            </a:pPr>
            <a:r>
              <a:rPr lang="en-US" sz="1300" dirty="0">
                <a:solidFill>
                  <a:schemeClr val="accent2"/>
                </a:solidFill>
                <a:latin typeface="Courier New" pitchFamily="34" charset="0"/>
                <a:ea typeface="Courier New" pitchFamily="34" charset="-122"/>
                <a:cs typeface="Courier New" pitchFamily="34" charset="-120"/>
              </a:rPr>
              <a:t>close_app("calculator")  →  CalculatorApp</a:t>
            </a:r>
            <a:endParaRPr lang="en-US" sz="1300" dirty="0"/>
          </a:p>
        </p:txBody>
      </p:sp>
      <p:sp>
        <p:nvSpPr>
          <p:cNvPr id="19" name="stat-card"/>
          <p:cNvSpPr/>
          <p:nvPr/>
        </p:nvSpPr>
        <p:spPr>
          <a:xfrm>
            <a:off x="548640" y="4937760"/>
            <a:ext cx="3566160" cy="1325880"/>
          </a:xfrm>
          <a:prstGeom prst="roundRect">
            <a:avLst>
              <a:gd name="adj" fmla="val 5517"/>
            </a:avLst>
          </a:prstGeom>
          <a:solidFill>
            <a:schemeClr val="bg2"/>
          </a:solidFill>
          <a:ln w="9525">
            <a:solidFill>
              <a:schemeClr val="accent3"/>
            </a:solidFill>
            <a:prstDash val="solid"/>
          </a:ln>
        </p:spPr>
      </p:sp>
      <p:sp>
        <p:nvSpPr>
          <p:cNvPr id="20" name="Text 15"/>
          <p:cNvSpPr txBox="1"/>
          <p:nvPr/>
        </p:nvSpPr>
        <p:spPr>
          <a:xfrm>
            <a:off x="777240" y="5029200"/>
            <a:ext cx="1005840" cy="114300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21</a:t>
            </a:r>
            <a:endParaRPr lang="en-US" sz="4800" dirty="0"/>
          </a:p>
        </p:txBody>
      </p:sp>
      <p:sp>
        <p:nvSpPr>
          <p:cNvPr id="21" name="Text 16"/>
          <p:cNvSpPr txBox="1"/>
          <p:nvPr/>
        </p:nvSpPr>
        <p:spPr>
          <a:xfrm>
            <a:off x="1783080" y="5138928"/>
            <a:ext cx="2240280" cy="320040"/>
          </a:xfrm>
          <a:prstGeom prst="rect">
            <a:avLst/>
          </a:prstGeom>
          <a:noFill/>
          <a:ln/>
        </p:spPr>
        <p:txBody>
          <a:bodyPr wrap="square" lIns="0" tIns="0" rIns="0" bIns="0" rtlCol="0" anchor="t"/>
          <a:lstStyle/>
          <a:p>
            <a:pPr indent="0" marL="0">
              <a:buNone/>
            </a:pPr>
            <a:r>
              <a:rPr lang="en-US" sz="1400" b="1" dirty="0">
                <a:solidFill>
                  <a:schemeClr val="tx1"/>
                </a:solidFill>
              </a:rPr>
              <a:t>aliases in open_app</a:t>
            </a:r>
            <a:endParaRPr lang="en-US" sz="1400" dirty="0"/>
          </a:p>
        </p:txBody>
      </p:sp>
      <p:sp>
        <p:nvSpPr>
          <p:cNvPr id="22" name="Text 17"/>
          <p:cNvSpPr txBox="1"/>
          <p:nvPr/>
        </p:nvSpPr>
        <p:spPr>
          <a:xfrm>
            <a:off x="1783080" y="5486400"/>
            <a:ext cx="2240280" cy="731520"/>
          </a:xfrm>
          <a:prstGeom prst="rect">
            <a:avLst/>
          </a:prstGeom>
          <a:noFill/>
          <a:ln/>
        </p:spPr>
        <p:txBody>
          <a:bodyPr wrap="square" lIns="0" tIns="0" rIns="0" bIns="0" rtlCol="0" anchor="t"/>
          <a:lstStyle/>
          <a:p>
            <a:pPr indent="0" marL="0">
              <a:buNone/>
            </a:pPr>
            <a:r>
              <a:rPr lang="en-US" sz="1200" dirty="0">
                <a:solidFill>
                  <a:schemeClr val="tx2"/>
                </a:solidFill>
              </a:rPr>
              <a:t>chrome, edge, notepad, word, excel, spotify…</a:t>
            </a:r>
            <a:endParaRPr lang="en-US" sz="1200" dirty="0"/>
          </a:p>
        </p:txBody>
      </p:sp>
      <p:sp>
        <p:nvSpPr>
          <p:cNvPr id="23" name="stat-card"/>
          <p:cNvSpPr/>
          <p:nvPr/>
        </p:nvSpPr>
        <p:spPr>
          <a:xfrm>
            <a:off x="4311396" y="4937760"/>
            <a:ext cx="3566160" cy="1325880"/>
          </a:xfrm>
          <a:prstGeom prst="roundRect">
            <a:avLst>
              <a:gd name="adj" fmla="val 5517"/>
            </a:avLst>
          </a:prstGeom>
          <a:solidFill>
            <a:schemeClr val="bg2"/>
          </a:solidFill>
          <a:ln w="9525">
            <a:solidFill>
              <a:schemeClr val="accent3"/>
            </a:solidFill>
            <a:prstDash val="solid"/>
          </a:ln>
        </p:spPr>
      </p:sp>
      <p:sp>
        <p:nvSpPr>
          <p:cNvPr id="24" name="Text 19"/>
          <p:cNvSpPr txBox="1"/>
          <p:nvPr/>
        </p:nvSpPr>
        <p:spPr>
          <a:xfrm>
            <a:off x="4539996" y="5029200"/>
            <a:ext cx="1005840" cy="114300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17</a:t>
            </a:r>
            <a:endParaRPr lang="en-US" sz="4800" dirty="0"/>
          </a:p>
        </p:txBody>
      </p:sp>
      <p:sp>
        <p:nvSpPr>
          <p:cNvPr id="25" name="Text 20"/>
          <p:cNvSpPr txBox="1"/>
          <p:nvPr/>
        </p:nvSpPr>
        <p:spPr>
          <a:xfrm>
            <a:off x="5545836" y="5138928"/>
            <a:ext cx="2240280" cy="320040"/>
          </a:xfrm>
          <a:prstGeom prst="rect">
            <a:avLst/>
          </a:prstGeom>
          <a:noFill/>
          <a:ln/>
        </p:spPr>
        <p:txBody>
          <a:bodyPr wrap="square" lIns="0" tIns="0" rIns="0" bIns="0" rtlCol="0" anchor="t"/>
          <a:lstStyle/>
          <a:p>
            <a:pPr indent="0" marL="0">
              <a:buNone/>
            </a:pPr>
            <a:r>
              <a:rPr lang="en-US" sz="1400" b="1" dirty="0">
                <a:solidFill>
                  <a:schemeClr val="tx1"/>
                </a:solidFill>
              </a:rPr>
              <a:t>process maps in close_app</a:t>
            </a:r>
            <a:endParaRPr lang="en-US" sz="1400" dirty="0"/>
          </a:p>
        </p:txBody>
      </p:sp>
      <p:sp>
        <p:nvSpPr>
          <p:cNvPr id="26" name="Text 21"/>
          <p:cNvSpPr txBox="1"/>
          <p:nvPr/>
        </p:nvSpPr>
        <p:spPr>
          <a:xfrm>
            <a:off x="5545836" y="5486400"/>
            <a:ext cx="2240280" cy="731520"/>
          </a:xfrm>
          <a:prstGeom prst="rect">
            <a:avLst/>
          </a:prstGeom>
          <a:noFill/>
          <a:ln/>
        </p:spPr>
        <p:txBody>
          <a:bodyPr wrap="square" lIns="0" tIns="0" rIns="0" bIns="0" rtlCol="0" anchor="t"/>
          <a:lstStyle/>
          <a:p>
            <a:pPr indent="0" marL="0">
              <a:buNone/>
            </a:pPr>
            <a:r>
              <a:rPr lang="en-US" sz="1200" dirty="0">
                <a:solidFill>
                  <a:schemeClr val="tx2"/>
                </a:solidFill>
              </a:rPr>
              <a:t>calculator → CalculatorApp, word → WINWORD</a:t>
            </a:r>
            <a:endParaRPr lang="en-US" sz="1200" dirty="0"/>
          </a:p>
        </p:txBody>
      </p:sp>
      <p:sp>
        <p:nvSpPr>
          <p:cNvPr id="27" name="stat-card"/>
          <p:cNvSpPr/>
          <p:nvPr/>
        </p:nvSpPr>
        <p:spPr>
          <a:xfrm>
            <a:off x="8074152" y="4937760"/>
            <a:ext cx="3566160" cy="1325880"/>
          </a:xfrm>
          <a:prstGeom prst="roundRect">
            <a:avLst>
              <a:gd name="adj" fmla="val 5517"/>
            </a:avLst>
          </a:prstGeom>
          <a:solidFill>
            <a:schemeClr val="bg2"/>
          </a:solidFill>
          <a:ln w="9525">
            <a:solidFill>
              <a:schemeClr val="accent3"/>
            </a:solidFill>
            <a:prstDash val="solid"/>
          </a:ln>
        </p:spPr>
      </p:sp>
      <p:sp>
        <p:nvSpPr>
          <p:cNvPr id="28" name="Text 23"/>
          <p:cNvSpPr txBox="1"/>
          <p:nvPr/>
        </p:nvSpPr>
        <p:spPr>
          <a:xfrm>
            <a:off x="8302752" y="5029200"/>
            <a:ext cx="1005840" cy="114300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2</a:t>
            </a:r>
            <a:endParaRPr lang="en-US" sz="4800" dirty="0"/>
          </a:p>
        </p:txBody>
      </p:sp>
      <p:sp>
        <p:nvSpPr>
          <p:cNvPr id="29" name="Text 24"/>
          <p:cNvSpPr txBox="1"/>
          <p:nvPr/>
        </p:nvSpPr>
        <p:spPr>
          <a:xfrm>
            <a:off x="9308592" y="5138928"/>
            <a:ext cx="2240280" cy="320040"/>
          </a:xfrm>
          <a:prstGeom prst="rect">
            <a:avLst/>
          </a:prstGeom>
          <a:noFill/>
          <a:ln/>
        </p:spPr>
        <p:txBody>
          <a:bodyPr wrap="square" lIns="0" tIns="0" rIns="0" bIns="0" rtlCol="0" anchor="t"/>
          <a:lstStyle/>
          <a:p>
            <a:pPr indent="0" marL="0">
              <a:buNone/>
            </a:pPr>
            <a:r>
              <a:rPr lang="en-US" sz="1400" b="1" dirty="0">
                <a:solidFill>
                  <a:schemeClr val="tx1"/>
                </a:solidFill>
              </a:rPr>
              <a:t>awareness tools</a:t>
            </a:r>
            <a:endParaRPr lang="en-US" sz="1400" dirty="0"/>
          </a:p>
        </p:txBody>
      </p:sp>
      <p:sp>
        <p:nvSpPr>
          <p:cNvPr id="30" name="Text 25"/>
          <p:cNvSpPr txBox="1"/>
          <p:nvPr/>
        </p:nvSpPr>
        <p:spPr>
          <a:xfrm>
            <a:off x="9308592" y="5486400"/>
            <a:ext cx="2240280" cy="731520"/>
          </a:xfrm>
          <a:prstGeom prst="rect">
            <a:avLst/>
          </a:prstGeom>
          <a:noFill/>
          <a:ln/>
        </p:spPr>
        <p:txBody>
          <a:bodyPr wrap="square" lIns="0" tIns="0" rIns="0" bIns="0" rtlCol="0" anchor="t"/>
          <a:lstStyle/>
          <a:p>
            <a:pPr indent="0" marL="0">
              <a:buNone/>
            </a:pPr>
            <a:r>
              <a:rPr lang="en-US" sz="1200" dirty="0">
                <a:solidFill>
                  <a:schemeClr val="tx2"/>
                </a:solidFill>
              </a:rPr>
              <a:t>list_running_apps · list_installed_apps</a:t>
            </a:r>
            <a:endParaRPr lang="en-US" sz="1200" dirty="0"/>
          </a:p>
        </p:txBody>
      </p:sp>
      <p:sp>
        <p:nvSpPr>
          <p:cNvPr id="25" name="Slide Number Placeholder 0"/>
          <p:cNvSpPr>
            <a:spLocks noGrp="1"/>
          </p:cNvSpPr>
          <p:nvPr>
            <p:ph type="sldNum" sz="quarter" idx="4294967295"/>
          </p:nvPr>
        </p:nvSpPr>
        <p:spPr>
          <a:xfrm>
            <a:off x="10972800" y="6437376"/>
            <a:ext cx="667512"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t"/>
          <a:lstStyle/>
          <a:p>
            <a:pPr indent="0" marL="0">
              <a:buNone/>
            </a:pPr>
            <a:r>
              <a:rPr lang="en-US" sz="1100" b="1" spc="300" kern="0" dirty="0">
                <a:solidFill>
                  <a:schemeClr val="accent1"/>
                </a:solidFill>
              </a:rPr>
              <a:t>CAPABILITIES</a:t>
            </a:r>
            <a:endParaRPr lang="en-US" sz="1100" dirty="0"/>
          </a:p>
        </p:txBody>
      </p:sp>
      <p:sp>
        <p:nvSpPr>
          <p:cNvPr id="3" name="Text 0"/>
          <p:cNvSpPr/>
          <p:nvPr>
            <p:ph idx="101" type="title" hasCustomPrompt="1"/>
          </p:nvPr>
        </p:nvSpPr>
        <p:spPr>
          <a:xfrm>
            <a:off x="548640" y="640080"/>
            <a:ext cx="11091672" cy="685800"/>
          </a:xfrm>
          <a:prstGeom prst="rect">
            <a:avLst/>
          </a:prstGeom>
          <a:noFill/>
          <a:ln/>
        </p:spPr>
        <p:txBody>
          <a:bodyPr wrap="square" lIns="0" tIns="0" rIns="0" bIns="0" rtlCol="0" anchor="t"/>
          <a:lstStyle/>
          <a:p>
            <a:pPr algn="l" indent="0" marL="0">
              <a:buNone/>
            </a:pPr>
            <a:r>
              <a:rPr lang="en-US" sz="3400" b="1" dirty="0">
                <a:solidFill>
                  <a:schemeClr val="tx1"/>
                </a:solidFill>
              </a:rPr>
              <a:t>27 Tools in 7 Categories</a:t>
            </a:r>
            <a:endParaRPr lang="en-US" sz="3400" dirty="0"/>
          </a:p>
        </p:txBody>
      </p:sp>
      <p:sp>
        <p:nvSpPr>
          <p:cNvPr id="5" name="cat-card"/>
          <p:cNvSpPr/>
          <p:nvPr/>
        </p:nvSpPr>
        <p:spPr>
          <a:xfrm>
            <a:off x="548640" y="1554480"/>
            <a:ext cx="2606040" cy="2240280"/>
          </a:xfrm>
          <a:prstGeom prst="roundRect">
            <a:avLst>
              <a:gd name="adj" fmla="val 3265"/>
            </a:avLst>
          </a:prstGeom>
          <a:solidFill>
            <a:schemeClr val="bg2"/>
          </a:solidFill>
          <a:ln w="9525">
            <a:solidFill>
              <a:schemeClr val="accent3"/>
            </a:solidFill>
            <a:prstDash val="solid"/>
          </a:ln>
        </p:spPr>
      </p:sp>
      <p:sp>
        <p:nvSpPr>
          <p:cNvPr id="6" name="icon-circle"/>
          <p:cNvSpPr/>
          <p:nvPr/>
        </p:nvSpPr>
        <p:spPr>
          <a:xfrm>
            <a:off x="731520" y="1719072"/>
            <a:ext cx="457200" cy="457200"/>
          </a:xfrm>
          <a:prstGeom prst="ellipse">
            <a:avLst/>
          </a:prstGeom>
          <a:solidFill>
            <a:schemeClr val="accent4"/>
          </a:solidFill>
          <a:ln w="9525">
            <a:solidFill>
              <a:schemeClr val="accent3"/>
            </a:solidFill>
            <a:prstDash val="solid"/>
          </a:ln>
        </p:spPr>
      </p:sp>
      <p:pic>
        <p:nvPicPr>
          <p:cNvPr id="7" name="Image 0" descr="AppWindow icon">    </p:cNvPr>
          <p:cNvPicPr>
            <a:picLocks noChangeAspect="1"/>
          </p:cNvPicPr>
          <p:nvPr/>
        </p:nvPicPr>
        <p:blipFill>
          <a:blip r:embed="rId1"/>
          <a:stretch>
            <a:fillRect/>
          </a:stretch>
        </p:blipFill>
        <p:spPr>
          <a:xfrm>
            <a:off x="841248" y="1828800"/>
            <a:ext cx="237744" cy="237744"/>
          </a:xfrm>
          <a:prstGeom prst="rect">
            <a:avLst/>
          </a:prstGeom>
        </p:spPr>
      </p:pic>
      <p:sp>
        <p:nvSpPr>
          <p:cNvPr id="8" name="Text 4"/>
          <p:cNvSpPr txBox="1"/>
          <p:nvPr/>
        </p:nvSpPr>
        <p:spPr>
          <a:xfrm>
            <a:off x="1298448" y="1719072"/>
            <a:ext cx="1783080" cy="45720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Apps</a:t>
            </a:r>
            <a:endParaRPr lang="en-US" sz="1600" dirty="0"/>
          </a:p>
        </p:txBody>
      </p:sp>
      <p:sp>
        <p:nvSpPr>
          <p:cNvPr id="9" name="Text 5"/>
          <p:cNvSpPr txBox="1"/>
          <p:nvPr/>
        </p:nvSpPr>
        <p:spPr>
          <a:xfrm>
            <a:off x="749808" y="2331720"/>
            <a:ext cx="2286000" cy="1371600"/>
          </a:xfrm>
          <a:prstGeom prst="rect">
            <a:avLst/>
          </a:prstGeom>
          <a:noFill/>
          <a:ln/>
        </p:spPr>
        <p:txBody>
          <a:bodyPr wrap="square" lIns="0" tIns="0" rIns="0" bIns="0" rtlCol="0" anchor="t"/>
          <a:lstStyle/>
          <a:p>
            <a:pPr indent="0" marL="0">
              <a:buNone/>
            </a:pPr>
            <a:r>
              <a:rPr lang="en-US" sz="1200" dirty="0">
                <a:solidFill>
                  <a:schemeClr val="accent2"/>
                </a:solidFill>
                <a:latin typeface="Courier New" pitchFamily="34" charset="0"/>
                <a:ea typeface="Courier New" pitchFamily="34" charset="-122"/>
                <a:cs typeface="Courier New" pitchFamily="34" charset="-120"/>
              </a:rPr>
              <a:t>open_app</a:t>
            </a:r>
            <a:endParaRPr lang="en-US" sz="1200" dirty="0"/>
          </a:p>
          <a:p>
            <a:pPr indent="0" marL="0">
              <a:buNone/>
            </a:pPr>
            <a:r>
              <a:rPr lang="en-US" sz="1200" dirty="0">
                <a:solidFill>
                  <a:schemeClr val="accent2"/>
                </a:solidFill>
                <a:latin typeface="Courier New" pitchFamily="34" charset="0"/>
                <a:ea typeface="Courier New" pitchFamily="34" charset="-122"/>
                <a:cs typeface="Courier New" pitchFamily="34" charset="-120"/>
              </a:rPr>
              <a:t>close_app</a:t>
            </a:r>
            <a:endParaRPr lang="en-US" sz="1200" dirty="0"/>
          </a:p>
          <a:p>
            <a:pPr indent="0" marL="0">
              <a:buNone/>
            </a:pPr>
            <a:r>
              <a:rPr lang="en-US" sz="1200" dirty="0">
                <a:solidFill>
                  <a:schemeClr val="accent2"/>
                </a:solidFill>
                <a:latin typeface="Courier New" pitchFamily="34" charset="0"/>
                <a:ea typeface="Courier New" pitchFamily="34" charset="-122"/>
                <a:cs typeface="Courier New" pitchFamily="34" charset="-120"/>
              </a:rPr>
              <a:t>list_running_apps</a:t>
            </a:r>
            <a:endParaRPr lang="en-US" sz="1200" dirty="0"/>
          </a:p>
          <a:p>
            <a:pPr indent="0" marL="0">
              <a:buNone/>
            </a:pPr>
            <a:r>
              <a:rPr lang="en-US" sz="1200" dirty="0">
                <a:solidFill>
                  <a:schemeClr val="accent2"/>
                </a:solidFill>
                <a:latin typeface="Courier New" pitchFamily="34" charset="0"/>
                <a:ea typeface="Courier New" pitchFamily="34" charset="-122"/>
                <a:cs typeface="Courier New" pitchFamily="34" charset="-120"/>
              </a:rPr>
              <a:t>list_installed_apps</a:t>
            </a:r>
            <a:endParaRPr lang="en-US" sz="1200" dirty="0"/>
          </a:p>
        </p:txBody>
      </p:sp>
      <p:sp>
        <p:nvSpPr>
          <p:cNvPr id="10" name="cat-card"/>
          <p:cNvSpPr/>
          <p:nvPr/>
        </p:nvSpPr>
        <p:spPr>
          <a:xfrm>
            <a:off x="3376879" y="1554480"/>
            <a:ext cx="2606040" cy="2240280"/>
          </a:xfrm>
          <a:prstGeom prst="roundRect">
            <a:avLst>
              <a:gd name="adj" fmla="val 3265"/>
            </a:avLst>
          </a:prstGeom>
          <a:solidFill>
            <a:schemeClr val="bg2"/>
          </a:solidFill>
          <a:ln w="9525">
            <a:solidFill>
              <a:schemeClr val="accent3"/>
            </a:solidFill>
            <a:prstDash val="solid"/>
          </a:ln>
        </p:spPr>
      </p:sp>
      <p:sp>
        <p:nvSpPr>
          <p:cNvPr id="11" name="icon-circle"/>
          <p:cNvSpPr/>
          <p:nvPr/>
        </p:nvSpPr>
        <p:spPr>
          <a:xfrm>
            <a:off x="3559759" y="1719072"/>
            <a:ext cx="457200" cy="457200"/>
          </a:xfrm>
          <a:prstGeom prst="ellipse">
            <a:avLst/>
          </a:prstGeom>
          <a:solidFill>
            <a:schemeClr val="accent4"/>
          </a:solidFill>
          <a:ln w="9525">
            <a:solidFill>
              <a:schemeClr val="accent3"/>
            </a:solidFill>
            <a:prstDash val="solid"/>
          </a:ln>
        </p:spPr>
      </p:sp>
      <p:pic>
        <p:nvPicPr>
          <p:cNvPr id="12" name="Image 1" descr="Folder icon">    </p:cNvPr>
          <p:cNvPicPr>
            <a:picLocks noChangeAspect="1"/>
          </p:cNvPicPr>
          <p:nvPr/>
        </p:nvPicPr>
        <p:blipFill>
          <a:blip r:embed="rId2"/>
          <a:stretch>
            <a:fillRect/>
          </a:stretch>
        </p:blipFill>
        <p:spPr>
          <a:xfrm>
            <a:off x="3669487" y="1828800"/>
            <a:ext cx="237744" cy="237744"/>
          </a:xfrm>
          <a:prstGeom prst="rect">
            <a:avLst/>
          </a:prstGeom>
        </p:spPr>
      </p:pic>
      <p:sp>
        <p:nvSpPr>
          <p:cNvPr id="13" name="Text 8"/>
          <p:cNvSpPr txBox="1"/>
          <p:nvPr/>
        </p:nvSpPr>
        <p:spPr>
          <a:xfrm>
            <a:off x="4126687" y="1719072"/>
            <a:ext cx="1783080" cy="45720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Files &amp; Folders</a:t>
            </a:r>
            <a:endParaRPr lang="en-US" sz="1600" dirty="0"/>
          </a:p>
        </p:txBody>
      </p:sp>
      <p:sp>
        <p:nvSpPr>
          <p:cNvPr id="14" name="Text 9"/>
          <p:cNvSpPr txBox="1"/>
          <p:nvPr/>
        </p:nvSpPr>
        <p:spPr>
          <a:xfrm>
            <a:off x="3578047" y="2331720"/>
            <a:ext cx="2286000" cy="1371600"/>
          </a:xfrm>
          <a:prstGeom prst="rect">
            <a:avLst/>
          </a:prstGeom>
          <a:noFill/>
          <a:ln/>
        </p:spPr>
        <p:txBody>
          <a:bodyPr wrap="square" lIns="0" tIns="0" rIns="0" bIns="0" rtlCol="0" anchor="t"/>
          <a:lstStyle/>
          <a:p>
            <a:pPr indent="0" marL="0">
              <a:buNone/>
            </a:pPr>
            <a:r>
              <a:rPr lang="en-US" sz="1200" dirty="0">
                <a:solidFill>
                  <a:schemeClr val="accent2"/>
                </a:solidFill>
                <a:latin typeface="Courier New" pitchFamily="34" charset="0"/>
                <a:ea typeface="Courier New" pitchFamily="34" charset="-122"/>
                <a:cs typeface="Courier New" pitchFamily="34" charset="-120"/>
              </a:rPr>
              <a:t>create_folder</a:t>
            </a:r>
            <a:endParaRPr lang="en-US" sz="1200" dirty="0"/>
          </a:p>
          <a:p>
            <a:pPr indent="0" marL="0">
              <a:buNone/>
            </a:pPr>
            <a:r>
              <a:rPr lang="en-US" sz="1200" dirty="0">
                <a:solidFill>
                  <a:schemeClr val="accent2"/>
                </a:solidFill>
                <a:latin typeface="Courier New" pitchFamily="34" charset="0"/>
                <a:ea typeface="Courier New" pitchFamily="34" charset="-122"/>
                <a:cs typeface="Courier New" pitchFamily="34" charset="-120"/>
              </a:rPr>
              <a:t>move_file</a:t>
            </a:r>
            <a:endParaRPr lang="en-US" sz="1200" dirty="0"/>
          </a:p>
          <a:p>
            <a:pPr indent="0" marL="0">
              <a:buNone/>
            </a:pPr>
            <a:r>
              <a:rPr lang="en-US" sz="1200" dirty="0">
                <a:solidFill>
                  <a:schemeClr val="accent2"/>
                </a:solidFill>
                <a:latin typeface="Courier New" pitchFamily="34" charset="0"/>
                <a:ea typeface="Courier New" pitchFamily="34" charset="-122"/>
                <a:cs typeface="Courier New" pitchFamily="34" charset="-120"/>
              </a:rPr>
              <a:t>copy_file</a:t>
            </a:r>
            <a:endParaRPr lang="en-US" sz="1200" dirty="0"/>
          </a:p>
          <a:p>
            <a:pPr indent="0" marL="0">
              <a:buNone/>
            </a:pPr>
            <a:r>
              <a:rPr lang="en-US" sz="1200" dirty="0">
                <a:solidFill>
                  <a:schemeClr val="accent2"/>
                </a:solidFill>
                <a:latin typeface="Courier New" pitchFamily="34" charset="0"/>
                <a:ea typeface="Courier New" pitchFamily="34" charset="-122"/>
                <a:cs typeface="Courier New" pitchFamily="34" charset="-120"/>
              </a:rPr>
              <a:t>delete_path</a:t>
            </a:r>
            <a:endParaRPr lang="en-US" sz="1200" dirty="0"/>
          </a:p>
          <a:p>
            <a:pPr indent="0" marL="0">
              <a:buNone/>
            </a:pPr>
            <a:r>
              <a:rPr lang="en-US" sz="1200" dirty="0">
                <a:solidFill>
                  <a:schemeClr val="accent2"/>
                </a:solidFill>
                <a:latin typeface="Courier New" pitchFamily="34" charset="0"/>
                <a:ea typeface="Courier New" pitchFamily="34" charset="-122"/>
                <a:cs typeface="Courier New" pitchFamily="34" charset="-120"/>
              </a:rPr>
              <a:t>list_dir</a:t>
            </a:r>
            <a:endParaRPr lang="en-US" sz="1200" dirty="0"/>
          </a:p>
        </p:txBody>
      </p:sp>
      <p:sp>
        <p:nvSpPr>
          <p:cNvPr id="15" name="cat-card"/>
          <p:cNvSpPr/>
          <p:nvPr/>
        </p:nvSpPr>
        <p:spPr>
          <a:xfrm>
            <a:off x="6205118" y="1554480"/>
            <a:ext cx="2606040" cy="2240280"/>
          </a:xfrm>
          <a:prstGeom prst="roundRect">
            <a:avLst>
              <a:gd name="adj" fmla="val 3265"/>
            </a:avLst>
          </a:prstGeom>
          <a:solidFill>
            <a:schemeClr val="bg2"/>
          </a:solidFill>
          <a:ln w="9525">
            <a:solidFill>
              <a:schemeClr val="accent3"/>
            </a:solidFill>
            <a:prstDash val="solid"/>
          </a:ln>
        </p:spPr>
      </p:sp>
      <p:sp>
        <p:nvSpPr>
          <p:cNvPr id="16" name="icon-circle"/>
          <p:cNvSpPr/>
          <p:nvPr/>
        </p:nvSpPr>
        <p:spPr>
          <a:xfrm>
            <a:off x="6387998" y="1719072"/>
            <a:ext cx="457200" cy="457200"/>
          </a:xfrm>
          <a:prstGeom prst="ellipse">
            <a:avLst/>
          </a:prstGeom>
          <a:solidFill>
            <a:schemeClr val="accent4"/>
          </a:solidFill>
          <a:ln w="9525">
            <a:solidFill>
              <a:schemeClr val="accent3"/>
            </a:solidFill>
            <a:prstDash val="solid"/>
          </a:ln>
        </p:spPr>
      </p:sp>
      <p:pic>
        <p:nvPicPr>
          <p:cNvPr id="17" name="Image 2" descr="Globe icon">    </p:cNvPr>
          <p:cNvPicPr>
            <a:picLocks noChangeAspect="1"/>
          </p:cNvPicPr>
          <p:nvPr/>
        </p:nvPicPr>
        <p:blipFill>
          <a:blip r:embed="rId3"/>
          <a:stretch>
            <a:fillRect/>
          </a:stretch>
        </p:blipFill>
        <p:spPr>
          <a:xfrm>
            <a:off x="6497726" y="1828800"/>
            <a:ext cx="237744" cy="237744"/>
          </a:xfrm>
          <a:prstGeom prst="rect">
            <a:avLst/>
          </a:prstGeom>
        </p:spPr>
      </p:pic>
      <p:sp>
        <p:nvSpPr>
          <p:cNvPr id="18" name="Text 12"/>
          <p:cNvSpPr txBox="1"/>
          <p:nvPr/>
        </p:nvSpPr>
        <p:spPr>
          <a:xfrm>
            <a:off x="6954926" y="1719072"/>
            <a:ext cx="1783080" cy="45720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Browser &amp; Search</a:t>
            </a:r>
            <a:endParaRPr lang="en-US" sz="1600" dirty="0"/>
          </a:p>
        </p:txBody>
      </p:sp>
      <p:sp>
        <p:nvSpPr>
          <p:cNvPr id="19" name="Text 13"/>
          <p:cNvSpPr txBox="1"/>
          <p:nvPr/>
        </p:nvSpPr>
        <p:spPr>
          <a:xfrm>
            <a:off x="6406286" y="2331720"/>
            <a:ext cx="2286000" cy="1371600"/>
          </a:xfrm>
          <a:prstGeom prst="rect">
            <a:avLst/>
          </a:prstGeom>
          <a:noFill/>
          <a:ln/>
        </p:spPr>
        <p:txBody>
          <a:bodyPr wrap="square" lIns="0" tIns="0" rIns="0" bIns="0" rtlCol="0" anchor="t"/>
          <a:lstStyle/>
          <a:p>
            <a:pPr indent="0" marL="0">
              <a:buNone/>
            </a:pPr>
            <a:r>
              <a:rPr lang="en-US" sz="1200" dirty="0">
                <a:solidFill>
                  <a:schemeClr val="accent2"/>
                </a:solidFill>
                <a:latin typeface="Courier New" pitchFamily="34" charset="0"/>
                <a:ea typeface="Courier New" pitchFamily="34" charset="-122"/>
                <a:cs typeface="Courier New" pitchFamily="34" charset="-120"/>
              </a:rPr>
              <a:t>open_url</a:t>
            </a:r>
            <a:endParaRPr lang="en-US" sz="1200" dirty="0"/>
          </a:p>
          <a:p>
            <a:pPr indent="0" marL="0">
              <a:buNone/>
            </a:pPr>
            <a:r>
              <a:rPr lang="en-US" sz="1200" dirty="0">
                <a:solidFill>
                  <a:schemeClr val="accent2"/>
                </a:solidFill>
                <a:latin typeface="Courier New" pitchFamily="34" charset="0"/>
                <a:ea typeface="Courier New" pitchFamily="34" charset="-122"/>
                <a:cs typeface="Courier New" pitchFamily="34" charset="-120"/>
              </a:rPr>
              <a:t>search_youtube</a:t>
            </a:r>
            <a:endParaRPr lang="en-US" sz="1200" dirty="0"/>
          </a:p>
          <a:p>
            <a:pPr indent="0" marL="0">
              <a:buNone/>
            </a:pPr>
            <a:r>
              <a:rPr lang="en-US" sz="1200" dirty="0">
                <a:solidFill>
                  <a:schemeClr val="accent2"/>
                </a:solidFill>
                <a:latin typeface="Courier New" pitchFamily="34" charset="0"/>
                <a:ea typeface="Courier New" pitchFamily="34" charset="-122"/>
                <a:cs typeface="Courier New" pitchFamily="34" charset="-120"/>
              </a:rPr>
              <a:t>search_google</a:t>
            </a:r>
            <a:endParaRPr lang="en-US" sz="1200" dirty="0"/>
          </a:p>
        </p:txBody>
      </p:sp>
      <p:sp>
        <p:nvSpPr>
          <p:cNvPr id="20" name="cat-card"/>
          <p:cNvSpPr/>
          <p:nvPr/>
        </p:nvSpPr>
        <p:spPr>
          <a:xfrm>
            <a:off x="9033358" y="1554480"/>
            <a:ext cx="2606040" cy="2240280"/>
          </a:xfrm>
          <a:prstGeom prst="roundRect">
            <a:avLst>
              <a:gd name="adj" fmla="val 3265"/>
            </a:avLst>
          </a:prstGeom>
          <a:solidFill>
            <a:schemeClr val="bg2"/>
          </a:solidFill>
          <a:ln w="9525">
            <a:solidFill>
              <a:schemeClr val="accent3"/>
            </a:solidFill>
            <a:prstDash val="solid"/>
          </a:ln>
        </p:spPr>
      </p:sp>
      <p:sp>
        <p:nvSpPr>
          <p:cNvPr id="21" name="icon-circle"/>
          <p:cNvSpPr/>
          <p:nvPr/>
        </p:nvSpPr>
        <p:spPr>
          <a:xfrm>
            <a:off x="9216238" y="1719072"/>
            <a:ext cx="457200" cy="457200"/>
          </a:xfrm>
          <a:prstGeom prst="ellipse">
            <a:avLst/>
          </a:prstGeom>
          <a:solidFill>
            <a:schemeClr val="accent4"/>
          </a:solidFill>
          <a:ln w="9525">
            <a:solidFill>
              <a:schemeClr val="accent3"/>
            </a:solidFill>
            <a:prstDash val="solid"/>
          </a:ln>
        </p:spPr>
      </p:sp>
      <p:pic>
        <p:nvPicPr>
          <p:cNvPr id="22" name="Image 3" descr="Keyboard icon">    </p:cNvPr>
          <p:cNvPicPr>
            <a:picLocks noChangeAspect="1"/>
          </p:cNvPicPr>
          <p:nvPr/>
        </p:nvPicPr>
        <p:blipFill>
          <a:blip r:embed="rId4"/>
          <a:stretch>
            <a:fillRect/>
          </a:stretch>
        </p:blipFill>
        <p:spPr>
          <a:xfrm>
            <a:off x="9325966" y="1828800"/>
            <a:ext cx="237744" cy="237744"/>
          </a:xfrm>
          <a:prstGeom prst="rect">
            <a:avLst/>
          </a:prstGeom>
        </p:spPr>
      </p:pic>
      <p:sp>
        <p:nvSpPr>
          <p:cNvPr id="23" name="Text 16"/>
          <p:cNvSpPr txBox="1"/>
          <p:nvPr/>
        </p:nvSpPr>
        <p:spPr>
          <a:xfrm>
            <a:off x="9783166" y="1719072"/>
            <a:ext cx="1783080" cy="45720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Keyboard Input</a:t>
            </a:r>
            <a:endParaRPr lang="en-US" sz="1600" dirty="0"/>
          </a:p>
        </p:txBody>
      </p:sp>
      <p:sp>
        <p:nvSpPr>
          <p:cNvPr id="24" name="Text 17"/>
          <p:cNvSpPr txBox="1"/>
          <p:nvPr/>
        </p:nvSpPr>
        <p:spPr>
          <a:xfrm>
            <a:off x="9234526" y="2331720"/>
            <a:ext cx="2286000" cy="1371600"/>
          </a:xfrm>
          <a:prstGeom prst="rect">
            <a:avLst/>
          </a:prstGeom>
          <a:noFill/>
          <a:ln/>
        </p:spPr>
        <p:txBody>
          <a:bodyPr wrap="square" lIns="0" tIns="0" rIns="0" bIns="0" rtlCol="0" anchor="t"/>
          <a:lstStyle/>
          <a:p>
            <a:pPr indent="0" marL="0">
              <a:buNone/>
            </a:pPr>
            <a:r>
              <a:rPr lang="en-US" sz="1200" dirty="0">
                <a:solidFill>
                  <a:schemeClr val="accent2"/>
                </a:solidFill>
                <a:latin typeface="Courier New" pitchFamily="34" charset="0"/>
                <a:ea typeface="Courier New" pitchFamily="34" charset="-122"/>
                <a:cs typeface="Courier New" pitchFamily="34" charset="-120"/>
              </a:rPr>
              <a:t>type_text</a:t>
            </a:r>
            <a:endParaRPr lang="en-US" sz="1200" dirty="0"/>
          </a:p>
          <a:p>
            <a:pPr indent="0" marL="0">
              <a:buNone/>
            </a:pPr>
            <a:r>
              <a:rPr lang="en-US" sz="1200" dirty="0">
                <a:solidFill>
                  <a:schemeClr val="accent2"/>
                </a:solidFill>
                <a:latin typeface="Courier New" pitchFamily="34" charset="0"/>
                <a:ea typeface="Courier New" pitchFamily="34" charset="-122"/>
                <a:cs typeface="Courier New" pitchFamily="34" charset="-120"/>
              </a:rPr>
              <a:t>press_keys</a:t>
            </a:r>
            <a:endParaRPr lang="en-US" sz="1200" dirty="0"/>
          </a:p>
        </p:txBody>
      </p:sp>
      <p:sp>
        <p:nvSpPr>
          <p:cNvPr id="25" name="cat-card"/>
          <p:cNvSpPr/>
          <p:nvPr/>
        </p:nvSpPr>
        <p:spPr>
          <a:xfrm>
            <a:off x="548640" y="3931920"/>
            <a:ext cx="2606040" cy="2240280"/>
          </a:xfrm>
          <a:prstGeom prst="roundRect">
            <a:avLst>
              <a:gd name="adj" fmla="val 3265"/>
            </a:avLst>
          </a:prstGeom>
          <a:solidFill>
            <a:schemeClr val="bg2"/>
          </a:solidFill>
          <a:ln w="9525">
            <a:solidFill>
              <a:schemeClr val="accent3"/>
            </a:solidFill>
            <a:prstDash val="solid"/>
          </a:ln>
        </p:spPr>
      </p:sp>
      <p:sp>
        <p:nvSpPr>
          <p:cNvPr id="26" name="icon-circle"/>
          <p:cNvSpPr/>
          <p:nvPr/>
        </p:nvSpPr>
        <p:spPr>
          <a:xfrm>
            <a:off x="731520" y="4096512"/>
            <a:ext cx="457200" cy="457200"/>
          </a:xfrm>
          <a:prstGeom prst="ellipse">
            <a:avLst/>
          </a:prstGeom>
          <a:solidFill>
            <a:schemeClr val="accent4"/>
          </a:solidFill>
          <a:ln w="9525">
            <a:solidFill>
              <a:schemeClr val="accent3"/>
            </a:solidFill>
            <a:prstDash val="solid"/>
          </a:ln>
        </p:spPr>
      </p:sp>
      <p:pic>
        <p:nvPicPr>
          <p:cNvPr id="27" name="Image 4" descr="Monitor icon">    </p:cNvPr>
          <p:cNvPicPr>
            <a:picLocks noChangeAspect="1"/>
          </p:cNvPicPr>
          <p:nvPr/>
        </p:nvPicPr>
        <p:blipFill>
          <a:blip r:embed="rId5"/>
          <a:stretch>
            <a:fillRect/>
          </a:stretch>
        </p:blipFill>
        <p:spPr>
          <a:xfrm>
            <a:off x="841248" y="4206240"/>
            <a:ext cx="237744" cy="237744"/>
          </a:xfrm>
          <a:prstGeom prst="rect">
            <a:avLst/>
          </a:prstGeom>
        </p:spPr>
      </p:pic>
      <p:sp>
        <p:nvSpPr>
          <p:cNvPr id="28" name="Text 20"/>
          <p:cNvSpPr txBox="1"/>
          <p:nvPr/>
        </p:nvSpPr>
        <p:spPr>
          <a:xfrm>
            <a:off x="1298448" y="4096512"/>
            <a:ext cx="1783080" cy="45720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Window &amp; System</a:t>
            </a:r>
            <a:endParaRPr lang="en-US" sz="1600" dirty="0"/>
          </a:p>
        </p:txBody>
      </p:sp>
      <p:sp>
        <p:nvSpPr>
          <p:cNvPr id="29" name="Text 21"/>
          <p:cNvSpPr txBox="1"/>
          <p:nvPr/>
        </p:nvSpPr>
        <p:spPr>
          <a:xfrm>
            <a:off x="749808" y="4709160"/>
            <a:ext cx="2286000" cy="1371600"/>
          </a:xfrm>
          <a:prstGeom prst="rect">
            <a:avLst/>
          </a:prstGeom>
          <a:noFill/>
          <a:ln/>
        </p:spPr>
        <p:txBody>
          <a:bodyPr wrap="square" lIns="0" tIns="0" rIns="0" bIns="0" rtlCol="0" anchor="t"/>
          <a:lstStyle/>
          <a:p>
            <a:pPr indent="0" marL="0">
              <a:buNone/>
            </a:pPr>
            <a:r>
              <a:rPr lang="en-US" sz="1200" dirty="0">
                <a:solidFill>
                  <a:schemeClr val="accent2"/>
                </a:solidFill>
                <a:latin typeface="Courier New" pitchFamily="34" charset="0"/>
                <a:ea typeface="Courier New" pitchFamily="34" charset="-122"/>
                <a:cs typeface="Courier New" pitchFamily="34" charset="-120"/>
              </a:rPr>
              <a:t>set_window_layout</a:t>
            </a:r>
            <a:endParaRPr lang="en-US" sz="1200" dirty="0"/>
          </a:p>
          <a:p>
            <a:pPr indent="0" marL="0">
              <a:buNone/>
            </a:pPr>
            <a:r>
              <a:rPr lang="en-US" sz="1200" dirty="0">
                <a:solidFill>
                  <a:schemeClr val="accent2"/>
                </a:solidFill>
                <a:latin typeface="Courier New" pitchFamily="34" charset="0"/>
                <a:ea typeface="Courier New" pitchFamily="34" charset="-122"/>
                <a:cs typeface="Courier New" pitchFamily="34" charset="-120"/>
              </a:rPr>
              <a:t>take_screenshot</a:t>
            </a:r>
            <a:endParaRPr lang="en-US" sz="1200" dirty="0"/>
          </a:p>
          <a:p>
            <a:pPr indent="0" marL="0">
              <a:buNone/>
            </a:pPr>
            <a:r>
              <a:rPr lang="en-US" sz="1200" dirty="0">
                <a:solidFill>
                  <a:schemeClr val="accent2"/>
                </a:solidFill>
                <a:latin typeface="Courier New" pitchFamily="34" charset="0"/>
                <a:ea typeface="Courier New" pitchFamily="34" charset="-122"/>
                <a:cs typeface="Courier New" pitchFamily="34" charset="-120"/>
              </a:rPr>
              <a:t>get_system_info</a:t>
            </a:r>
            <a:endParaRPr lang="en-US" sz="1200" dirty="0"/>
          </a:p>
          <a:p>
            <a:pPr indent="0" marL="0">
              <a:buNone/>
            </a:pPr>
            <a:r>
              <a:rPr lang="en-US" sz="1200" dirty="0">
                <a:solidFill>
                  <a:schemeClr val="accent2"/>
                </a:solidFill>
                <a:latin typeface="Courier New" pitchFamily="34" charset="0"/>
                <a:ea typeface="Courier New" pitchFamily="34" charset="-122"/>
                <a:cs typeface="Courier New" pitchFamily="34" charset="-120"/>
              </a:rPr>
              <a:t>run_powershell</a:t>
            </a:r>
            <a:endParaRPr lang="en-US" sz="1200" dirty="0"/>
          </a:p>
        </p:txBody>
      </p:sp>
      <p:sp>
        <p:nvSpPr>
          <p:cNvPr id="30" name="cat-card"/>
          <p:cNvSpPr/>
          <p:nvPr/>
        </p:nvSpPr>
        <p:spPr>
          <a:xfrm>
            <a:off x="3376879" y="3931920"/>
            <a:ext cx="2606040" cy="2240280"/>
          </a:xfrm>
          <a:prstGeom prst="roundRect">
            <a:avLst>
              <a:gd name="adj" fmla="val 3265"/>
            </a:avLst>
          </a:prstGeom>
          <a:solidFill>
            <a:schemeClr val="bg2"/>
          </a:solidFill>
          <a:ln w="9525">
            <a:solidFill>
              <a:schemeClr val="accent3"/>
            </a:solidFill>
            <a:prstDash val="solid"/>
          </a:ln>
        </p:spPr>
      </p:sp>
      <p:sp>
        <p:nvSpPr>
          <p:cNvPr id="31" name="icon-circle"/>
          <p:cNvSpPr/>
          <p:nvPr/>
        </p:nvSpPr>
        <p:spPr>
          <a:xfrm>
            <a:off x="3559759" y="4096512"/>
            <a:ext cx="457200" cy="457200"/>
          </a:xfrm>
          <a:prstGeom prst="ellipse">
            <a:avLst/>
          </a:prstGeom>
          <a:solidFill>
            <a:schemeClr val="accent4"/>
          </a:solidFill>
          <a:ln w="9525">
            <a:solidFill>
              <a:schemeClr val="accent3"/>
            </a:solidFill>
            <a:prstDash val="solid"/>
          </a:ln>
        </p:spPr>
      </p:sp>
      <p:pic>
        <p:nvPicPr>
          <p:cNvPr id="32" name="Image 5" descr="Volume2 icon">    </p:cNvPr>
          <p:cNvPicPr>
            <a:picLocks noChangeAspect="1"/>
          </p:cNvPicPr>
          <p:nvPr/>
        </p:nvPicPr>
        <p:blipFill>
          <a:blip r:embed="rId6"/>
          <a:stretch>
            <a:fillRect/>
          </a:stretch>
        </p:blipFill>
        <p:spPr>
          <a:xfrm>
            <a:off x="3669487" y="4206240"/>
            <a:ext cx="237744" cy="237744"/>
          </a:xfrm>
          <a:prstGeom prst="rect">
            <a:avLst/>
          </a:prstGeom>
        </p:spPr>
      </p:pic>
      <p:sp>
        <p:nvSpPr>
          <p:cNvPr id="33" name="Text 24"/>
          <p:cNvSpPr txBox="1"/>
          <p:nvPr/>
        </p:nvSpPr>
        <p:spPr>
          <a:xfrm>
            <a:off x="4126687" y="4096512"/>
            <a:ext cx="1783080" cy="45720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Media</a:t>
            </a:r>
            <a:endParaRPr lang="en-US" sz="1600" dirty="0"/>
          </a:p>
        </p:txBody>
      </p:sp>
      <p:sp>
        <p:nvSpPr>
          <p:cNvPr id="34" name="Text 25"/>
          <p:cNvSpPr txBox="1"/>
          <p:nvPr/>
        </p:nvSpPr>
        <p:spPr>
          <a:xfrm>
            <a:off x="3578047" y="4709160"/>
            <a:ext cx="2286000" cy="1371600"/>
          </a:xfrm>
          <a:prstGeom prst="rect">
            <a:avLst/>
          </a:prstGeom>
          <a:noFill/>
          <a:ln/>
        </p:spPr>
        <p:txBody>
          <a:bodyPr wrap="square" lIns="0" tIns="0" rIns="0" bIns="0" rtlCol="0" anchor="t"/>
          <a:lstStyle/>
          <a:p>
            <a:pPr indent="0" marL="0">
              <a:buNone/>
            </a:pPr>
            <a:r>
              <a:rPr lang="en-US" sz="1200" dirty="0">
                <a:solidFill>
                  <a:schemeClr val="accent2"/>
                </a:solidFill>
                <a:latin typeface="Courier New" pitchFamily="34" charset="0"/>
                <a:ea typeface="Courier New" pitchFamily="34" charset="-122"/>
                <a:cs typeface="Courier New" pitchFamily="34" charset="-120"/>
              </a:rPr>
              <a:t>play_spotify</a:t>
            </a:r>
            <a:endParaRPr lang="en-US" sz="1200" dirty="0"/>
          </a:p>
          <a:p>
            <a:pPr indent="0" marL="0">
              <a:buNone/>
            </a:pPr>
            <a:r>
              <a:rPr lang="en-US" sz="1200" dirty="0">
                <a:solidFill>
                  <a:schemeClr val="accent2"/>
                </a:solidFill>
                <a:latin typeface="Courier New" pitchFamily="34" charset="0"/>
                <a:ea typeface="Courier New" pitchFamily="34" charset="-122"/>
                <a:cs typeface="Courier New" pitchFamily="34" charset="-120"/>
              </a:rPr>
              <a:t>media_play_pause</a:t>
            </a:r>
            <a:endParaRPr lang="en-US" sz="1200" dirty="0"/>
          </a:p>
          <a:p>
            <a:pPr indent="0" marL="0">
              <a:buNone/>
            </a:pPr>
            <a:r>
              <a:rPr lang="en-US" sz="1200" dirty="0">
                <a:solidFill>
                  <a:schemeClr val="accent2"/>
                </a:solidFill>
                <a:latin typeface="Courier New" pitchFamily="34" charset="0"/>
                <a:ea typeface="Courier New" pitchFamily="34" charset="-122"/>
                <a:cs typeface="Courier New" pitchFamily="34" charset="-120"/>
              </a:rPr>
              <a:t>media_next</a:t>
            </a:r>
            <a:endParaRPr lang="en-US" sz="1200" dirty="0"/>
          </a:p>
          <a:p>
            <a:pPr indent="0" marL="0">
              <a:buNone/>
            </a:pPr>
            <a:r>
              <a:rPr lang="en-US" sz="1200" dirty="0">
                <a:solidFill>
                  <a:schemeClr val="accent2"/>
                </a:solidFill>
                <a:latin typeface="Courier New" pitchFamily="34" charset="0"/>
                <a:ea typeface="Courier New" pitchFamily="34" charset="-122"/>
                <a:cs typeface="Courier New" pitchFamily="34" charset="-120"/>
              </a:rPr>
              <a:t>media_previous</a:t>
            </a:r>
            <a:endParaRPr lang="en-US" sz="1200" dirty="0"/>
          </a:p>
          <a:p>
            <a:pPr indent="0" marL="0">
              <a:buNone/>
            </a:pPr>
            <a:r>
              <a:rPr lang="en-US" sz="1200" dirty="0">
                <a:solidFill>
                  <a:schemeClr val="accent2"/>
                </a:solidFill>
                <a:latin typeface="Courier New" pitchFamily="34" charset="0"/>
                <a:ea typeface="Courier New" pitchFamily="34" charset="-122"/>
                <a:cs typeface="Courier New" pitchFamily="34" charset="-120"/>
              </a:rPr>
              <a:t>volume_set</a:t>
            </a:r>
            <a:endParaRPr lang="en-US" sz="1200" dirty="0"/>
          </a:p>
          <a:p>
            <a:pPr indent="0" marL="0">
              <a:buNone/>
            </a:pPr>
            <a:r>
              <a:rPr lang="en-US" sz="1200" dirty="0">
                <a:solidFill>
                  <a:schemeClr val="accent2"/>
                </a:solidFill>
                <a:latin typeface="Courier New" pitchFamily="34" charset="0"/>
                <a:ea typeface="Courier New" pitchFamily="34" charset="-122"/>
                <a:cs typeface="Courier New" pitchFamily="34" charset="-120"/>
              </a:rPr>
              <a:t>volume_mute</a:t>
            </a:r>
            <a:endParaRPr lang="en-US" sz="1200" dirty="0"/>
          </a:p>
        </p:txBody>
      </p:sp>
      <p:sp>
        <p:nvSpPr>
          <p:cNvPr id="35" name="cat-card"/>
          <p:cNvSpPr/>
          <p:nvPr/>
        </p:nvSpPr>
        <p:spPr>
          <a:xfrm>
            <a:off x="6205118" y="3931920"/>
            <a:ext cx="2606040" cy="2240280"/>
          </a:xfrm>
          <a:prstGeom prst="roundRect">
            <a:avLst>
              <a:gd name="adj" fmla="val 3265"/>
            </a:avLst>
          </a:prstGeom>
          <a:solidFill>
            <a:schemeClr val="bg2"/>
          </a:solidFill>
          <a:ln w="9525">
            <a:solidFill>
              <a:schemeClr val="accent3"/>
            </a:solidFill>
            <a:prstDash val="solid"/>
          </a:ln>
        </p:spPr>
      </p:sp>
      <p:sp>
        <p:nvSpPr>
          <p:cNvPr id="36" name="icon-circle"/>
          <p:cNvSpPr/>
          <p:nvPr/>
        </p:nvSpPr>
        <p:spPr>
          <a:xfrm>
            <a:off x="6387998" y="4096512"/>
            <a:ext cx="457200" cy="457200"/>
          </a:xfrm>
          <a:prstGeom prst="ellipse">
            <a:avLst/>
          </a:prstGeom>
          <a:solidFill>
            <a:schemeClr val="accent4"/>
          </a:solidFill>
          <a:ln w="9525">
            <a:solidFill>
              <a:schemeClr val="accent3"/>
            </a:solidFill>
            <a:prstDash val="solid"/>
          </a:ln>
        </p:spPr>
      </p:sp>
      <p:pic>
        <p:nvPicPr>
          <p:cNvPr id="37" name="Image 6" descr="FileText icon">    </p:cNvPr>
          <p:cNvPicPr>
            <a:picLocks noChangeAspect="1"/>
          </p:cNvPicPr>
          <p:nvPr/>
        </p:nvPicPr>
        <p:blipFill>
          <a:blip r:embed="rId7"/>
          <a:stretch>
            <a:fillRect/>
          </a:stretch>
        </p:blipFill>
        <p:spPr>
          <a:xfrm>
            <a:off x="6497726" y="4206240"/>
            <a:ext cx="237744" cy="237744"/>
          </a:xfrm>
          <a:prstGeom prst="rect">
            <a:avLst/>
          </a:prstGeom>
        </p:spPr>
      </p:pic>
      <p:sp>
        <p:nvSpPr>
          <p:cNvPr id="38" name="Text 28"/>
          <p:cNvSpPr txBox="1"/>
          <p:nvPr/>
        </p:nvSpPr>
        <p:spPr>
          <a:xfrm>
            <a:off x="6954926" y="4096512"/>
            <a:ext cx="1783080" cy="45720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Productivity</a:t>
            </a:r>
            <a:endParaRPr lang="en-US" sz="1600" dirty="0"/>
          </a:p>
        </p:txBody>
      </p:sp>
      <p:sp>
        <p:nvSpPr>
          <p:cNvPr id="39" name="Text 29"/>
          <p:cNvSpPr txBox="1"/>
          <p:nvPr/>
        </p:nvSpPr>
        <p:spPr>
          <a:xfrm>
            <a:off x="6406286" y="4709160"/>
            <a:ext cx="2286000" cy="1371600"/>
          </a:xfrm>
          <a:prstGeom prst="rect">
            <a:avLst/>
          </a:prstGeom>
          <a:noFill/>
          <a:ln/>
        </p:spPr>
        <p:txBody>
          <a:bodyPr wrap="square" lIns="0" tIns="0" rIns="0" bIns="0" rtlCol="0" anchor="t"/>
          <a:lstStyle/>
          <a:p>
            <a:pPr indent="0" marL="0">
              <a:buNone/>
            </a:pPr>
            <a:r>
              <a:rPr lang="en-US" sz="1200" dirty="0">
                <a:solidFill>
                  <a:schemeClr val="accent2"/>
                </a:solidFill>
                <a:latin typeface="Courier New" pitchFamily="34" charset="0"/>
                <a:ea typeface="Courier New" pitchFamily="34" charset="-122"/>
                <a:cs typeface="Courier New" pitchFamily="34" charset="-120"/>
              </a:rPr>
              <a:t>write_notepad</a:t>
            </a:r>
            <a:endParaRPr lang="en-US" sz="1200" dirty="0"/>
          </a:p>
          <a:p>
            <a:pPr indent="0" marL="0">
              <a:buNone/>
            </a:pPr>
            <a:r>
              <a:rPr lang="en-US" sz="1200" dirty="0">
                <a:solidFill>
                  <a:schemeClr val="accent2"/>
                </a:solidFill>
                <a:latin typeface="Courier New" pitchFamily="34" charset="0"/>
                <a:ea typeface="Courier New" pitchFamily="34" charset="-122"/>
                <a:cs typeface="Courier New" pitchFamily="34" charset="-120"/>
              </a:rPr>
              <a:t>draw_in_paint</a:t>
            </a:r>
            <a:endParaRPr lang="en-US" sz="1200" dirty="0"/>
          </a:p>
          <a:p>
            <a:pPr indent="0" marL="0">
              <a:buNone/>
            </a:pPr>
            <a:r>
              <a:rPr lang="en-US" sz="1200" dirty="0">
                <a:solidFill>
                  <a:schemeClr val="accent2"/>
                </a:solidFill>
                <a:latin typeface="Courier New" pitchFamily="34" charset="0"/>
                <a:ea typeface="Courier New" pitchFamily="34" charset="-122"/>
                <a:cs typeface="Courier New" pitchFamily="34" charset="-120"/>
              </a:rPr>
              <a:t>set_alarm</a:t>
            </a:r>
            <a:endParaRPr lang="en-US" sz="1200" dirty="0"/>
          </a:p>
        </p:txBody>
      </p:sp>
      <p:sp>
        <p:nvSpPr>
          <p:cNvPr id="40" name="total-card"/>
          <p:cNvSpPr/>
          <p:nvPr/>
        </p:nvSpPr>
        <p:spPr>
          <a:xfrm>
            <a:off x="9033358" y="3931920"/>
            <a:ext cx="2606040" cy="2240280"/>
          </a:xfrm>
          <a:prstGeom prst="roundRect">
            <a:avLst>
              <a:gd name="adj" fmla="val 3265"/>
            </a:avLst>
          </a:prstGeom>
          <a:solidFill>
            <a:schemeClr val="accent4"/>
          </a:solidFill>
          <a:ln w="15875">
            <a:solidFill>
              <a:schemeClr val="accent1"/>
            </a:solidFill>
            <a:prstDash val="solid"/>
          </a:ln>
        </p:spPr>
      </p:sp>
      <p:sp>
        <p:nvSpPr>
          <p:cNvPr id="41" name="Text 31"/>
          <p:cNvSpPr txBox="1"/>
          <p:nvPr/>
        </p:nvSpPr>
        <p:spPr>
          <a:xfrm>
            <a:off x="9033358" y="4206240"/>
            <a:ext cx="2606040" cy="1097280"/>
          </a:xfrm>
          <a:prstGeom prst="rect">
            <a:avLst/>
          </a:prstGeom>
          <a:noFill/>
          <a:ln/>
        </p:spPr>
        <p:txBody>
          <a:bodyPr wrap="square" lIns="0" tIns="0" rIns="0" bIns="0" rtlCol="0" anchor="ctr"/>
          <a:lstStyle/>
          <a:p>
            <a:pPr algn="ctr" indent="0" marL="0">
              <a:buNone/>
            </a:pPr>
            <a:r>
              <a:rPr lang="en-US" sz="7200" b="1" dirty="0">
                <a:solidFill>
                  <a:schemeClr val="accent1"/>
                </a:solidFill>
                <a:latin typeface="Cambria" pitchFamily="34" charset="0"/>
                <a:ea typeface="Cambria" pitchFamily="34" charset="-122"/>
                <a:cs typeface="Cambria" pitchFamily="34" charset="-120"/>
              </a:rPr>
              <a:t>27</a:t>
            </a:r>
            <a:endParaRPr lang="en-US" sz="7200" dirty="0"/>
          </a:p>
        </p:txBody>
      </p:sp>
      <p:sp>
        <p:nvSpPr>
          <p:cNvPr id="42" name="Text 32"/>
          <p:cNvSpPr txBox="1"/>
          <p:nvPr/>
        </p:nvSpPr>
        <p:spPr>
          <a:xfrm>
            <a:off x="9307678" y="5349240"/>
            <a:ext cx="2057400" cy="731520"/>
          </a:xfrm>
          <a:prstGeom prst="rect">
            <a:avLst/>
          </a:prstGeom>
          <a:noFill/>
          <a:ln/>
        </p:spPr>
        <p:txBody>
          <a:bodyPr wrap="square" lIns="0" tIns="0" rIns="0" bIns="0" rtlCol="0" anchor="t"/>
          <a:lstStyle/>
          <a:p>
            <a:pPr algn="ctr" indent="0" marL="0">
              <a:buNone/>
            </a:pPr>
            <a:r>
              <a:rPr lang="en-US" sz="1400" dirty="0">
                <a:solidFill>
                  <a:schemeClr val="tx1"/>
                </a:solidFill>
              </a:rPr>
              <a:t>tools exposed to Gemini as callable functions</a:t>
            </a:r>
            <a:endParaRPr lang="en-US" sz="1400" dirty="0"/>
          </a:p>
        </p:txBody>
      </p:sp>
      <p:sp>
        <p:nvSpPr>
          <p:cNvPr id="25" name="Slide Number Placeholder 0"/>
          <p:cNvSpPr>
            <a:spLocks noGrp="1"/>
          </p:cNvSpPr>
          <p:nvPr>
            <p:ph type="sldNum" sz="quarter" idx="4294967295"/>
          </p:nvPr>
        </p:nvSpPr>
        <p:spPr>
          <a:xfrm>
            <a:off x="10972800" y="6437376"/>
            <a:ext cx="667512"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t"/>
          <a:lstStyle/>
          <a:p>
            <a:pPr indent="0" marL="0">
              <a:buNone/>
            </a:pPr>
            <a:r>
              <a:rPr lang="en-US" sz="1100" b="1" spc="300" kern="0" dirty="0">
                <a:solidFill>
                  <a:schemeClr val="accent1"/>
                </a:solidFill>
              </a:rPr>
              <a:t>TASK EXECUTION</a:t>
            </a:r>
            <a:endParaRPr lang="en-US" sz="1100" dirty="0"/>
          </a:p>
        </p:txBody>
      </p:sp>
      <p:sp>
        <p:nvSpPr>
          <p:cNvPr id="3" name="Text 0"/>
          <p:cNvSpPr/>
          <p:nvPr>
            <p:ph idx="101" type="title" hasCustomPrompt="1"/>
          </p:nvPr>
        </p:nvSpPr>
        <p:spPr>
          <a:xfrm>
            <a:off x="548640" y="640080"/>
            <a:ext cx="11091672" cy="685800"/>
          </a:xfrm>
          <a:prstGeom prst="rect">
            <a:avLst/>
          </a:prstGeom>
          <a:noFill/>
          <a:ln/>
        </p:spPr>
        <p:txBody>
          <a:bodyPr wrap="square" lIns="0" tIns="0" rIns="0" bIns="0" rtlCol="0" anchor="t"/>
          <a:lstStyle/>
          <a:p>
            <a:pPr algn="l" indent="0" marL="0">
              <a:buNone/>
            </a:pPr>
            <a:r>
              <a:rPr lang="en-US" sz="3400" b="1" dirty="0">
                <a:solidFill>
                  <a:schemeClr val="tx1"/>
                </a:solidFill>
              </a:rPr>
              <a:t>Performing Tasks: Worked Examples</a:t>
            </a:r>
            <a:endParaRPr lang="en-US" sz="3400" dirty="0"/>
          </a:p>
        </p:txBody>
      </p:sp>
      <p:sp>
        <p:nvSpPr>
          <p:cNvPr id="5" name="Text 2"/>
          <p:cNvSpPr txBox="1"/>
          <p:nvPr/>
        </p:nvSpPr>
        <p:spPr>
          <a:xfrm>
            <a:off x="777240" y="1481328"/>
            <a:ext cx="274320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YOU SAY</a:t>
            </a:r>
            <a:endParaRPr lang="en-US" sz="1000" dirty="0"/>
          </a:p>
        </p:txBody>
      </p:sp>
      <p:sp>
        <p:nvSpPr>
          <p:cNvPr id="6" name="Text 3"/>
          <p:cNvSpPr txBox="1"/>
          <p:nvPr/>
        </p:nvSpPr>
        <p:spPr>
          <a:xfrm>
            <a:off x="4526280" y="1481328"/>
            <a:ext cx="274320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GEMINI CALLS</a:t>
            </a:r>
            <a:endParaRPr lang="en-US" sz="1000" dirty="0"/>
          </a:p>
        </p:txBody>
      </p:sp>
      <p:sp>
        <p:nvSpPr>
          <p:cNvPr id="7" name="Text 4"/>
          <p:cNvSpPr txBox="1"/>
          <p:nvPr/>
        </p:nvSpPr>
        <p:spPr>
          <a:xfrm>
            <a:off x="8732520" y="1481328"/>
            <a:ext cx="274320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WINDOWS DOES</a:t>
            </a:r>
            <a:endParaRPr lang="en-US" sz="1000" dirty="0"/>
          </a:p>
        </p:txBody>
      </p:sp>
      <p:sp>
        <p:nvSpPr>
          <p:cNvPr id="8" name="example-row"/>
          <p:cNvSpPr/>
          <p:nvPr/>
        </p:nvSpPr>
        <p:spPr>
          <a:xfrm>
            <a:off x="548640" y="1783080"/>
            <a:ext cx="11091672" cy="960120"/>
          </a:xfrm>
          <a:prstGeom prst="roundRect">
            <a:avLst>
              <a:gd name="adj" fmla="val 7619"/>
            </a:avLst>
          </a:prstGeom>
          <a:solidFill>
            <a:schemeClr val="bg2"/>
          </a:solidFill>
          <a:ln w="9525">
            <a:solidFill>
              <a:schemeClr val="accent3"/>
            </a:solidFill>
            <a:prstDash val="solid"/>
          </a:ln>
        </p:spPr>
      </p:sp>
      <p:sp>
        <p:nvSpPr>
          <p:cNvPr id="9" name="Text 6"/>
          <p:cNvSpPr txBox="1"/>
          <p:nvPr/>
        </p:nvSpPr>
        <p:spPr>
          <a:xfrm>
            <a:off x="777240" y="1783080"/>
            <a:ext cx="3429000" cy="960120"/>
          </a:xfrm>
          <a:prstGeom prst="rect">
            <a:avLst/>
          </a:prstGeom>
          <a:noFill/>
          <a:ln/>
        </p:spPr>
        <p:txBody>
          <a:bodyPr wrap="square" lIns="0" tIns="0" rIns="0" bIns="0" rtlCol="0" anchor="ctr"/>
          <a:lstStyle/>
          <a:p>
            <a:pPr indent="0" marL="0">
              <a:buNone/>
            </a:pPr>
            <a:r>
              <a:rPr lang="en-US" sz="1500" b="1" dirty="0">
                <a:solidFill>
                  <a:schemeClr val="tx1"/>
                </a:solidFill>
              </a:rPr>
              <a:t>Notepad open చేసి hello రాయి</a:t>
            </a:r>
            <a:endParaRPr lang="en-US" sz="1500" dirty="0"/>
          </a:p>
        </p:txBody>
      </p:sp>
      <p:sp>
        <p:nvSpPr>
          <p:cNvPr id="10" name="arrow"/>
          <p:cNvSpPr/>
          <p:nvPr/>
        </p:nvSpPr>
        <p:spPr>
          <a:xfrm>
            <a:off x="4187952" y="2263140"/>
            <a:ext cx="274320" cy="0"/>
          </a:xfrm>
          <a:prstGeom prst="line">
            <a:avLst/>
          </a:prstGeom>
          <a:noFill/>
          <a:ln w="22225">
            <a:solidFill>
              <a:schemeClr val="accent1"/>
            </a:solidFill>
            <a:prstDash val="solid"/>
            <a:tailEnd type="triangle"/>
          </a:ln>
        </p:spPr>
      </p:sp>
      <p:sp>
        <p:nvSpPr>
          <p:cNvPr id="11" name="Text 8"/>
          <p:cNvSpPr txBox="1"/>
          <p:nvPr/>
        </p:nvSpPr>
        <p:spPr>
          <a:xfrm>
            <a:off x="4553712" y="1783080"/>
            <a:ext cx="3749040" cy="960120"/>
          </a:xfrm>
          <a:prstGeom prst="rect">
            <a:avLst/>
          </a:prstGeom>
          <a:noFill/>
          <a:ln/>
        </p:spPr>
        <p:txBody>
          <a:bodyPr wrap="square" lIns="0" tIns="0" rIns="0" bIns="0" rtlCol="0" anchor="ctr"/>
          <a:lstStyle/>
          <a:p>
            <a:pPr indent="0" marL="0">
              <a:buNone/>
            </a:pPr>
            <a:r>
              <a:rPr lang="en-US" sz="1200" dirty="0">
                <a:solidFill>
                  <a:schemeClr val="accent2"/>
                </a:solidFill>
                <a:latin typeface="Courier New" pitchFamily="34" charset="0"/>
                <a:ea typeface="Courier New" pitchFamily="34" charset="-122"/>
                <a:cs typeface="Courier New" pitchFamily="34" charset="-120"/>
              </a:rPr>
              <a:t>write_notepad({ content: "hello" })</a:t>
            </a:r>
            <a:endParaRPr lang="en-US" sz="1200" dirty="0"/>
          </a:p>
        </p:txBody>
      </p:sp>
      <p:sp>
        <p:nvSpPr>
          <p:cNvPr id="12" name="arrow"/>
          <p:cNvSpPr/>
          <p:nvPr/>
        </p:nvSpPr>
        <p:spPr>
          <a:xfrm>
            <a:off x="8366760" y="2263140"/>
            <a:ext cx="274320" cy="0"/>
          </a:xfrm>
          <a:prstGeom prst="line">
            <a:avLst/>
          </a:prstGeom>
          <a:noFill/>
          <a:ln w="22225">
            <a:solidFill>
              <a:schemeClr val="accent1"/>
            </a:solidFill>
            <a:prstDash val="solid"/>
            <a:tailEnd type="triangle"/>
          </a:ln>
        </p:spPr>
      </p:sp>
      <p:sp>
        <p:nvSpPr>
          <p:cNvPr id="13" name="Text 10"/>
          <p:cNvSpPr txBox="1"/>
          <p:nvPr/>
        </p:nvSpPr>
        <p:spPr>
          <a:xfrm>
            <a:off x="8732520" y="1783080"/>
            <a:ext cx="2743200" cy="960120"/>
          </a:xfrm>
          <a:prstGeom prst="rect">
            <a:avLst/>
          </a:prstGeom>
          <a:noFill/>
          <a:ln/>
        </p:spPr>
        <p:txBody>
          <a:bodyPr wrap="square" lIns="0" tIns="0" rIns="0" bIns="0" rtlCol="0" anchor="ctr"/>
          <a:lstStyle/>
          <a:p>
            <a:pPr indent="0" marL="0">
              <a:buNone/>
            </a:pPr>
            <a:r>
              <a:rPr lang="en-US" sz="1400" dirty="0">
                <a:solidFill>
                  <a:schemeClr val="tx2"/>
                </a:solidFill>
              </a:rPr>
              <a:t>Saves a temp .txt and opens it in Notepad</a:t>
            </a:r>
            <a:endParaRPr lang="en-US" sz="1400" dirty="0"/>
          </a:p>
        </p:txBody>
      </p:sp>
      <p:sp>
        <p:nvSpPr>
          <p:cNvPr id="14" name="example-row"/>
          <p:cNvSpPr/>
          <p:nvPr/>
        </p:nvSpPr>
        <p:spPr>
          <a:xfrm>
            <a:off x="548640" y="2880360"/>
            <a:ext cx="11091672" cy="960120"/>
          </a:xfrm>
          <a:prstGeom prst="roundRect">
            <a:avLst>
              <a:gd name="adj" fmla="val 7619"/>
            </a:avLst>
          </a:prstGeom>
          <a:solidFill>
            <a:schemeClr val="bg2"/>
          </a:solidFill>
          <a:ln w="9525">
            <a:solidFill>
              <a:schemeClr val="accent3"/>
            </a:solidFill>
            <a:prstDash val="solid"/>
          </a:ln>
        </p:spPr>
      </p:sp>
      <p:sp>
        <p:nvSpPr>
          <p:cNvPr id="15" name="Text 12"/>
          <p:cNvSpPr txBox="1"/>
          <p:nvPr/>
        </p:nvSpPr>
        <p:spPr>
          <a:xfrm>
            <a:off x="777240" y="2880360"/>
            <a:ext cx="3429000" cy="960120"/>
          </a:xfrm>
          <a:prstGeom prst="rect">
            <a:avLst/>
          </a:prstGeom>
          <a:noFill/>
          <a:ln/>
        </p:spPr>
        <p:txBody>
          <a:bodyPr wrap="square" lIns="0" tIns="0" rIns="0" bIns="0" rtlCol="0" anchor="ctr"/>
          <a:lstStyle/>
          <a:p>
            <a:pPr indent="0" marL="0">
              <a:buNone/>
            </a:pPr>
            <a:r>
              <a:rPr lang="en-US" sz="1500" b="1" dirty="0">
                <a:solidFill>
                  <a:schemeClr val="tx1"/>
                </a:solidFill>
              </a:rPr>
              <a:t>Desktop మీద Projects folder create చెయ్</a:t>
            </a:r>
            <a:endParaRPr lang="en-US" sz="1500" dirty="0"/>
          </a:p>
        </p:txBody>
      </p:sp>
      <p:sp>
        <p:nvSpPr>
          <p:cNvPr id="16" name="arrow"/>
          <p:cNvSpPr/>
          <p:nvPr/>
        </p:nvSpPr>
        <p:spPr>
          <a:xfrm>
            <a:off x="4187952" y="3360420"/>
            <a:ext cx="274320" cy="0"/>
          </a:xfrm>
          <a:prstGeom prst="line">
            <a:avLst/>
          </a:prstGeom>
          <a:noFill/>
          <a:ln w="22225">
            <a:solidFill>
              <a:schemeClr val="accent1"/>
            </a:solidFill>
            <a:prstDash val="solid"/>
            <a:tailEnd type="triangle"/>
          </a:ln>
        </p:spPr>
      </p:sp>
      <p:sp>
        <p:nvSpPr>
          <p:cNvPr id="17" name="Text 14"/>
          <p:cNvSpPr txBox="1"/>
          <p:nvPr/>
        </p:nvSpPr>
        <p:spPr>
          <a:xfrm>
            <a:off x="4553712" y="2880360"/>
            <a:ext cx="3749040" cy="960120"/>
          </a:xfrm>
          <a:prstGeom prst="rect">
            <a:avLst/>
          </a:prstGeom>
          <a:noFill/>
          <a:ln/>
        </p:spPr>
        <p:txBody>
          <a:bodyPr wrap="square" lIns="0" tIns="0" rIns="0" bIns="0" rtlCol="0" anchor="ctr"/>
          <a:lstStyle/>
          <a:p>
            <a:pPr indent="0" marL="0">
              <a:buNone/>
            </a:pPr>
            <a:r>
              <a:rPr lang="en-US" sz="1200" dirty="0">
                <a:solidFill>
                  <a:schemeClr val="accent2"/>
                </a:solidFill>
                <a:latin typeface="Courier New" pitchFamily="34" charset="0"/>
                <a:ea typeface="Courier New" pitchFamily="34" charset="-122"/>
                <a:cs typeface="Courier New" pitchFamily="34" charset="-120"/>
              </a:rPr>
              <a:t>create_folder({ folderPath: "Projects" })</a:t>
            </a:r>
            <a:endParaRPr lang="en-US" sz="1200" dirty="0"/>
          </a:p>
        </p:txBody>
      </p:sp>
      <p:sp>
        <p:nvSpPr>
          <p:cNvPr id="18" name="arrow"/>
          <p:cNvSpPr/>
          <p:nvPr/>
        </p:nvSpPr>
        <p:spPr>
          <a:xfrm>
            <a:off x="8366760" y="3360420"/>
            <a:ext cx="274320" cy="0"/>
          </a:xfrm>
          <a:prstGeom prst="line">
            <a:avLst/>
          </a:prstGeom>
          <a:noFill/>
          <a:ln w="22225">
            <a:solidFill>
              <a:schemeClr val="accent1"/>
            </a:solidFill>
            <a:prstDash val="solid"/>
            <a:tailEnd type="triangle"/>
          </a:ln>
        </p:spPr>
      </p:sp>
      <p:sp>
        <p:nvSpPr>
          <p:cNvPr id="19" name="Text 16"/>
          <p:cNvSpPr txBox="1"/>
          <p:nvPr/>
        </p:nvSpPr>
        <p:spPr>
          <a:xfrm>
            <a:off x="8732520" y="2880360"/>
            <a:ext cx="2743200" cy="960120"/>
          </a:xfrm>
          <a:prstGeom prst="rect">
            <a:avLst/>
          </a:prstGeom>
          <a:noFill/>
          <a:ln/>
        </p:spPr>
        <p:txBody>
          <a:bodyPr wrap="square" lIns="0" tIns="0" rIns="0" bIns="0" rtlCol="0" anchor="ctr"/>
          <a:lstStyle/>
          <a:p>
            <a:pPr indent="0" marL="0">
              <a:buNone/>
            </a:pPr>
            <a:r>
              <a:rPr lang="en-US" sz="1400" dirty="0">
                <a:solidFill>
                  <a:schemeClr val="tx2"/>
                </a:solidFill>
              </a:rPr>
              <a:t>Creates the folder (relative paths go to Desktop)</a:t>
            </a:r>
            <a:endParaRPr lang="en-US" sz="1400" dirty="0"/>
          </a:p>
        </p:txBody>
      </p:sp>
      <p:sp>
        <p:nvSpPr>
          <p:cNvPr id="20" name="example-row"/>
          <p:cNvSpPr/>
          <p:nvPr/>
        </p:nvSpPr>
        <p:spPr>
          <a:xfrm>
            <a:off x="548640" y="3977640"/>
            <a:ext cx="11091672" cy="960120"/>
          </a:xfrm>
          <a:prstGeom prst="roundRect">
            <a:avLst>
              <a:gd name="adj" fmla="val 7619"/>
            </a:avLst>
          </a:prstGeom>
          <a:solidFill>
            <a:schemeClr val="bg2"/>
          </a:solidFill>
          <a:ln w="9525">
            <a:solidFill>
              <a:schemeClr val="accent3"/>
            </a:solidFill>
            <a:prstDash val="solid"/>
          </a:ln>
        </p:spPr>
      </p:sp>
      <p:sp>
        <p:nvSpPr>
          <p:cNvPr id="21" name="Text 18"/>
          <p:cNvSpPr txBox="1"/>
          <p:nvPr/>
        </p:nvSpPr>
        <p:spPr>
          <a:xfrm>
            <a:off x="777240" y="3977640"/>
            <a:ext cx="3429000" cy="960120"/>
          </a:xfrm>
          <a:prstGeom prst="rect">
            <a:avLst/>
          </a:prstGeom>
          <a:noFill/>
          <a:ln/>
        </p:spPr>
        <p:txBody>
          <a:bodyPr wrap="square" lIns="0" tIns="0" rIns="0" bIns="0" rtlCol="0" anchor="ctr"/>
          <a:lstStyle/>
          <a:p>
            <a:pPr indent="0" marL="0">
              <a:buNone/>
            </a:pPr>
            <a:r>
              <a:rPr lang="en-US" sz="1500" b="1" dirty="0">
                <a:solidFill>
                  <a:schemeClr val="tx1"/>
                </a:solidFill>
              </a:rPr>
              <a:t>YouTube లో Telugu songs search చెయ్</a:t>
            </a:r>
            <a:endParaRPr lang="en-US" sz="1500" dirty="0"/>
          </a:p>
        </p:txBody>
      </p:sp>
      <p:sp>
        <p:nvSpPr>
          <p:cNvPr id="22" name="arrow"/>
          <p:cNvSpPr/>
          <p:nvPr/>
        </p:nvSpPr>
        <p:spPr>
          <a:xfrm>
            <a:off x="4187952" y="4457700"/>
            <a:ext cx="274320" cy="0"/>
          </a:xfrm>
          <a:prstGeom prst="line">
            <a:avLst/>
          </a:prstGeom>
          <a:noFill/>
          <a:ln w="22225">
            <a:solidFill>
              <a:schemeClr val="accent1"/>
            </a:solidFill>
            <a:prstDash val="solid"/>
            <a:tailEnd type="triangle"/>
          </a:ln>
        </p:spPr>
      </p:sp>
      <p:sp>
        <p:nvSpPr>
          <p:cNvPr id="23" name="Text 20"/>
          <p:cNvSpPr txBox="1"/>
          <p:nvPr/>
        </p:nvSpPr>
        <p:spPr>
          <a:xfrm>
            <a:off x="4553712" y="3977640"/>
            <a:ext cx="3749040" cy="960120"/>
          </a:xfrm>
          <a:prstGeom prst="rect">
            <a:avLst/>
          </a:prstGeom>
          <a:noFill/>
          <a:ln/>
        </p:spPr>
        <p:txBody>
          <a:bodyPr wrap="square" lIns="0" tIns="0" rIns="0" bIns="0" rtlCol="0" anchor="ctr"/>
          <a:lstStyle/>
          <a:p>
            <a:pPr indent="0" marL="0">
              <a:buNone/>
            </a:pPr>
            <a:r>
              <a:rPr lang="en-US" sz="1200" dirty="0">
                <a:solidFill>
                  <a:schemeClr val="accent2"/>
                </a:solidFill>
                <a:latin typeface="Courier New" pitchFamily="34" charset="0"/>
                <a:ea typeface="Courier New" pitchFamily="34" charset="-122"/>
                <a:cs typeface="Courier New" pitchFamily="34" charset="-120"/>
              </a:rPr>
              <a:t>search_youtube({ query: "Telugu songs" })</a:t>
            </a:r>
            <a:endParaRPr lang="en-US" sz="1200" dirty="0"/>
          </a:p>
        </p:txBody>
      </p:sp>
      <p:sp>
        <p:nvSpPr>
          <p:cNvPr id="24" name="arrow"/>
          <p:cNvSpPr/>
          <p:nvPr/>
        </p:nvSpPr>
        <p:spPr>
          <a:xfrm>
            <a:off x="8366760" y="4457700"/>
            <a:ext cx="274320" cy="0"/>
          </a:xfrm>
          <a:prstGeom prst="line">
            <a:avLst/>
          </a:prstGeom>
          <a:noFill/>
          <a:ln w="22225">
            <a:solidFill>
              <a:schemeClr val="accent1"/>
            </a:solidFill>
            <a:prstDash val="solid"/>
            <a:tailEnd type="triangle"/>
          </a:ln>
        </p:spPr>
      </p:sp>
      <p:sp>
        <p:nvSpPr>
          <p:cNvPr id="25" name="Text 22"/>
          <p:cNvSpPr txBox="1"/>
          <p:nvPr/>
        </p:nvSpPr>
        <p:spPr>
          <a:xfrm>
            <a:off x="8732520" y="3977640"/>
            <a:ext cx="2743200" cy="960120"/>
          </a:xfrm>
          <a:prstGeom prst="rect">
            <a:avLst/>
          </a:prstGeom>
          <a:noFill/>
          <a:ln/>
        </p:spPr>
        <p:txBody>
          <a:bodyPr wrap="square" lIns="0" tIns="0" rIns="0" bIns="0" rtlCol="0" anchor="ctr"/>
          <a:lstStyle/>
          <a:p>
            <a:pPr indent="0" marL="0">
              <a:buNone/>
            </a:pPr>
            <a:r>
              <a:rPr lang="en-US" sz="1400" dirty="0">
                <a:solidFill>
                  <a:schemeClr val="tx2"/>
                </a:solidFill>
              </a:rPr>
              <a:t>Opens the encoded search URL in the default browser</a:t>
            </a:r>
            <a:endParaRPr lang="en-US" sz="1400" dirty="0"/>
          </a:p>
        </p:txBody>
      </p:sp>
      <p:sp>
        <p:nvSpPr>
          <p:cNvPr id="26" name="example-row"/>
          <p:cNvSpPr/>
          <p:nvPr/>
        </p:nvSpPr>
        <p:spPr>
          <a:xfrm>
            <a:off x="548640" y="5074920"/>
            <a:ext cx="11091672" cy="960120"/>
          </a:xfrm>
          <a:prstGeom prst="roundRect">
            <a:avLst>
              <a:gd name="adj" fmla="val 7619"/>
            </a:avLst>
          </a:prstGeom>
          <a:solidFill>
            <a:schemeClr val="accent4"/>
          </a:solidFill>
          <a:ln w="9525">
            <a:solidFill>
              <a:schemeClr val="accent1"/>
            </a:solidFill>
            <a:prstDash val="solid"/>
          </a:ln>
        </p:spPr>
      </p:sp>
      <p:sp>
        <p:nvSpPr>
          <p:cNvPr id="27" name="Text 24"/>
          <p:cNvSpPr txBox="1"/>
          <p:nvPr/>
        </p:nvSpPr>
        <p:spPr>
          <a:xfrm>
            <a:off x="777240" y="5074920"/>
            <a:ext cx="3429000" cy="960120"/>
          </a:xfrm>
          <a:prstGeom prst="rect">
            <a:avLst/>
          </a:prstGeom>
          <a:noFill/>
          <a:ln/>
        </p:spPr>
        <p:txBody>
          <a:bodyPr wrap="square" lIns="0" tIns="0" rIns="0" bIns="0" rtlCol="0" anchor="ctr"/>
          <a:lstStyle/>
          <a:p>
            <a:pPr indent="0" marL="0">
              <a:buNone/>
            </a:pPr>
            <a:r>
              <a:rPr lang="en-US" sz="1500" b="1" dirty="0">
                <a:solidFill>
                  <a:schemeClr val="tx1"/>
                </a:solidFill>
              </a:rPr>
              <a:t>Chrome open చేసి songs search చెయ్  (chained)</a:t>
            </a:r>
            <a:endParaRPr lang="en-US" sz="1500" dirty="0"/>
          </a:p>
        </p:txBody>
      </p:sp>
      <p:sp>
        <p:nvSpPr>
          <p:cNvPr id="28" name="arrow"/>
          <p:cNvSpPr/>
          <p:nvPr/>
        </p:nvSpPr>
        <p:spPr>
          <a:xfrm>
            <a:off x="4187952" y="5554980"/>
            <a:ext cx="274320" cy="0"/>
          </a:xfrm>
          <a:prstGeom prst="line">
            <a:avLst/>
          </a:prstGeom>
          <a:noFill/>
          <a:ln w="22225">
            <a:solidFill>
              <a:schemeClr val="accent1"/>
            </a:solidFill>
            <a:prstDash val="solid"/>
            <a:tailEnd type="triangle"/>
          </a:ln>
        </p:spPr>
      </p:sp>
      <p:sp>
        <p:nvSpPr>
          <p:cNvPr id="29" name="Text 26"/>
          <p:cNvSpPr txBox="1"/>
          <p:nvPr/>
        </p:nvSpPr>
        <p:spPr>
          <a:xfrm>
            <a:off x="4553712" y="5074920"/>
            <a:ext cx="3749040" cy="960120"/>
          </a:xfrm>
          <a:prstGeom prst="rect">
            <a:avLst/>
          </a:prstGeom>
          <a:noFill/>
          <a:ln/>
        </p:spPr>
        <p:txBody>
          <a:bodyPr wrap="square" lIns="0" tIns="0" rIns="0" bIns="0" rtlCol="0" anchor="ctr"/>
          <a:lstStyle/>
          <a:p>
            <a:pPr indent="0" marL="0">
              <a:buNone/>
            </a:pPr>
            <a:r>
              <a:rPr lang="en-US" sz="1200" dirty="0">
                <a:solidFill>
                  <a:schemeClr val="accent2"/>
                </a:solidFill>
                <a:latin typeface="Courier New" pitchFamily="34" charset="0"/>
                <a:ea typeface="Courier New" pitchFamily="34" charset="-122"/>
                <a:cs typeface="Courier New" pitchFamily="34" charset="-120"/>
              </a:rPr>
              <a:t>open_app(…)  then  search_youtube(…)</a:t>
            </a:r>
            <a:endParaRPr lang="en-US" sz="1200" dirty="0"/>
          </a:p>
        </p:txBody>
      </p:sp>
      <p:sp>
        <p:nvSpPr>
          <p:cNvPr id="30" name="arrow"/>
          <p:cNvSpPr/>
          <p:nvPr/>
        </p:nvSpPr>
        <p:spPr>
          <a:xfrm>
            <a:off x="8366760" y="5554980"/>
            <a:ext cx="274320" cy="0"/>
          </a:xfrm>
          <a:prstGeom prst="line">
            <a:avLst/>
          </a:prstGeom>
          <a:noFill/>
          <a:ln w="22225">
            <a:solidFill>
              <a:schemeClr val="accent1"/>
            </a:solidFill>
            <a:prstDash val="solid"/>
            <a:tailEnd type="triangle"/>
          </a:ln>
        </p:spPr>
      </p:sp>
      <p:sp>
        <p:nvSpPr>
          <p:cNvPr id="31" name="Text 28"/>
          <p:cNvSpPr txBox="1"/>
          <p:nvPr/>
        </p:nvSpPr>
        <p:spPr>
          <a:xfrm>
            <a:off x="8732520" y="5074920"/>
            <a:ext cx="2743200" cy="960120"/>
          </a:xfrm>
          <a:prstGeom prst="rect">
            <a:avLst/>
          </a:prstGeom>
          <a:noFill/>
          <a:ln/>
        </p:spPr>
        <p:txBody>
          <a:bodyPr wrap="square" lIns="0" tIns="0" rIns="0" bIns="0" rtlCol="0" anchor="ctr"/>
          <a:lstStyle/>
          <a:p>
            <a:pPr indent="0" marL="0">
              <a:buNone/>
            </a:pPr>
            <a:r>
              <a:rPr lang="en-US" sz="1400" dirty="0">
                <a:solidFill>
                  <a:schemeClr val="tx2"/>
                </a:solidFill>
              </a:rPr>
              <a:t>Runs both calls in order, then one reply</a:t>
            </a:r>
            <a:endParaRPr lang="en-US" sz="1400" dirty="0"/>
          </a:p>
        </p:txBody>
      </p:sp>
      <p:sp>
        <p:nvSpPr>
          <p:cNvPr id="25" name="Slide Number Placeholder 0"/>
          <p:cNvSpPr>
            <a:spLocks noGrp="1"/>
          </p:cNvSpPr>
          <p:nvPr>
            <p:ph type="sldNum" sz="quarter" idx="4294967295"/>
          </p:nvPr>
        </p:nvSpPr>
        <p:spPr>
          <a:xfrm>
            <a:off x="10972800" y="6437376"/>
            <a:ext cx="667512"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t"/>
          <a:lstStyle/>
          <a:p>
            <a:pPr indent="0" marL="0">
              <a:buNone/>
            </a:pPr>
            <a:r>
              <a:rPr lang="en-US" sz="1100" b="1" spc="300" kern="0" dirty="0">
                <a:solidFill>
                  <a:schemeClr val="accent1"/>
                </a:solidFill>
              </a:rPr>
              <a:t>SYSTEM-LEVEL AUTOMATION</a:t>
            </a:r>
            <a:endParaRPr lang="en-US" sz="1100" dirty="0"/>
          </a:p>
        </p:txBody>
      </p:sp>
      <p:sp>
        <p:nvSpPr>
          <p:cNvPr id="3" name="Text 0"/>
          <p:cNvSpPr/>
          <p:nvPr>
            <p:ph idx="101" type="title" hasCustomPrompt="1"/>
          </p:nvPr>
        </p:nvSpPr>
        <p:spPr>
          <a:xfrm>
            <a:off x="548640" y="640080"/>
            <a:ext cx="11091672" cy="685800"/>
          </a:xfrm>
          <a:prstGeom prst="rect">
            <a:avLst/>
          </a:prstGeom>
          <a:noFill/>
          <a:ln/>
        </p:spPr>
        <p:txBody>
          <a:bodyPr wrap="square" lIns="0" tIns="0" rIns="0" bIns="0" rtlCol="0" anchor="t"/>
          <a:lstStyle/>
          <a:p>
            <a:pPr algn="l" indent="0" marL="0">
              <a:buNone/>
            </a:pPr>
            <a:r>
              <a:rPr lang="en-US" sz="3400" b="1" dirty="0">
                <a:solidFill>
                  <a:schemeClr val="tx1"/>
                </a:solidFill>
              </a:rPr>
              <a:t>Under the Hood: Talking to Windows</a:t>
            </a:r>
            <a:endParaRPr lang="en-US" sz="3400" dirty="0"/>
          </a:p>
        </p:txBody>
      </p:sp>
      <p:sp>
        <p:nvSpPr>
          <p:cNvPr id="5" name="mech-card"/>
          <p:cNvSpPr/>
          <p:nvPr/>
        </p:nvSpPr>
        <p:spPr>
          <a:xfrm>
            <a:off x="548640" y="1554480"/>
            <a:ext cx="3566160" cy="2240280"/>
          </a:xfrm>
          <a:prstGeom prst="roundRect">
            <a:avLst>
              <a:gd name="adj" fmla="val 3265"/>
            </a:avLst>
          </a:prstGeom>
          <a:solidFill>
            <a:schemeClr val="bg2"/>
          </a:solidFill>
          <a:ln w="9525">
            <a:solidFill>
              <a:schemeClr val="accent3"/>
            </a:solidFill>
            <a:prstDash val="solid"/>
          </a:ln>
        </p:spPr>
      </p:sp>
      <p:sp>
        <p:nvSpPr>
          <p:cNvPr id="6" name="icon-circle"/>
          <p:cNvSpPr/>
          <p:nvPr/>
        </p:nvSpPr>
        <p:spPr>
          <a:xfrm>
            <a:off x="777240" y="1783080"/>
            <a:ext cx="548640" cy="548640"/>
          </a:xfrm>
          <a:prstGeom prst="ellipse">
            <a:avLst/>
          </a:prstGeom>
          <a:solidFill>
            <a:schemeClr val="accent4"/>
          </a:solidFill>
          <a:ln w="9525">
            <a:solidFill>
              <a:schemeClr val="accent3"/>
            </a:solidFill>
            <a:prstDash val="solid"/>
          </a:ln>
        </p:spPr>
      </p:sp>
      <p:pic>
        <p:nvPicPr>
          <p:cNvPr id="7" name="Image 0" descr="Terminal icon">    </p:cNvPr>
          <p:cNvPicPr>
            <a:picLocks noChangeAspect="1"/>
          </p:cNvPicPr>
          <p:nvPr/>
        </p:nvPicPr>
        <p:blipFill>
          <a:blip r:embed="rId1"/>
          <a:stretch>
            <a:fillRect/>
          </a:stretch>
        </p:blipFill>
        <p:spPr>
          <a:xfrm>
            <a:off x="908914" y="1914754"/>
            <a:ext cx="285293" cy="285293"/>
          </a:xfrm>
          <a:prstGeom prst="rect">
            <a:avLst/>
          </a:prstGeom>
        </p:spPr>
      </p:pic>
      <p:sp>
        <p:nvSpPr>
          <p:cNvPr id="8" name="Text 4"/>
          <p:cNvSpPr txBox="1"/>
          <p:nvPr/>
        </p:nvSpPr>
        <p:spPr>
          <a:xfrm>
            <a:off x="1463040" y="1783080"/>
            <a:ext cx="2514600" cy="54864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Shell &amp; URI launch</a:t>
            </a:r>
            <a:endParaRPr lang="en-US" sz="1700" dirty="0"/>
          </a:p>
        </p:txBody>
      </p:sp>
      <p:sp>
        <p:nvSpPr>
          <p:cNvPr id="9" name="Text 5"/>
          <p:cNvSpPr txBox="1"/>
          <p:nvPr/>
        </p:nvSpPr>
        <p:spPr>
          <a:xfrm>
            <a:off x="777240" y="2514600"/>
            <a:ext cx="3154680" cy="1188720"/>
          </a:xfrm>
          <a:prstGeom prst="rect">
            <a:avLst/>
          </a:prstGeom>
          <a:noFill/>
          <a:ln/>
        </p:spPr>
        <p:txBody>
          <a:bodyPr wrap="square" lIns="0" tIns="0" rIns="0" bIns="0" rtlCol="0" anchor="t"/>
          <a:lstStyle/>
          <a:p>
            <a:pPr indent="0" marL="0">
              <a:buNone/>
            </a:pPr>
            <a:r>
              <a:rPr lang="en-US" sz="1400" dirty="0">
                <a:solidFill>
                  <a:schemeClr val="tx2"/>
                </a:solidFill>
              </a:rPr>
              <a:t>cmd.exe start opens apps, URLs and URI schemes such as ms-settings:.</a:t>
            </a:r>
            <a:endParaRPr lang="en-US" sz="1400" dirty="0"/>
          </a:p>
        </p:txBody>
      </p:sp>
      <p:sp>
        <p:nvSpPr>
          <p:cNvPr id="10" name="mech-card"/>
          <p:cNvSpPr/>
          <p:nvPr/>
        </p:nvSpPr>
        <p:spPr>
          <a:xfrm>
            <a:off x="4311396" y="1554480"/>
            <a:ext cx="3566160" cy="2240280"/>
          </a:xfrm>
          <a:prstGeom prst="roundRect">
            <a:avLst>
              <a:gd name="adj" fmla="val 3265"/>
            </a:avLst>
          </a:prstGeom>
          <a:solidFill>
            <a:schemeClr val="bg2"/>
          </a:solidFill>
          <a:ln w="9525">
            <a:solidFill>
              <a:schemeClr val="accent3"/>
            </a:solidFill>
            <a:prstDash val="solid"/>
          </a:ln>
        </p:spPr>
      </p:sp>
      <p:sp>
        <p:nvSpPr>
          <p:cNvPr id="11" name="icon-circle"/>
          <p:cNvSpPr/>
          <p:nvPr/>
        </p:nvSpPr>
        <p:spPr>
          <a:xfrm>
            <a:off x="4539996" y="1783080"/>
            <a:ext cx="548640" cy="548640"/>
          </a:xfrm>
          <a:prstGeom prst="ellipse">
            <a:avLst/>
          </a:prstGeom>
          <a:solidFill>
            <a:schemeClr val="accent4"/>
          </a:solidFill>
          <a:ln w="9525">
            <a:solidFill>
              <a:schemeClr val="accent3"/>
            </a:solidFill>
            <a:prstDash val="solid"/>
          </a:ln>
        </p:spPr>
      </p:sp>
      <p:pic>
        <p:nvPicPr>
          <p:cNvPr id="12" name="Image 1" descr="Keyboard icon">    </p:cNvPr>
          <p:cNvPicPr>
            <a:picLocks noChangeAspect="1"/>
          </p:cNvPicPr>
          <p:nvPr/>
        </p:nvPicPr>
        <p:blipFill>
          <a:blip r:embed="rId2"/>
          <a:stretch>
            <a:fillRect/>
          </a:stretch>
        </p:blipFill>
        <p:spPr>
          <a:xfrm>
            <a:off x="4671670" y="1914754"/>
            <a:ext cx="285293" cy="285293"/>
          </a:xfrm>
          <a:prstGeom prst="rect">
            <a:avLst/>
          </a:prstGeom>
        </p:spPr>
      </p:pic>
      <p:sp>
        <p:nvSpPr>
          <p:cNvPr id="13" name="Text 8"/>
          <p:cNvSpPr txBox="1"/>
          <p:nvPr/>
        </p:nvSpPr>
        <p:spPr>
          <a:xfrm>
            <a:off x="5225796" y="1783080"/>
            <a:ext cx="2514600" cy="54864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SendKeys typing</a:t>
            </a:r>
            <a:endParaRPr lang="en-US" sz="1700" dirty="0"/>
          </a:p>
        </p:txBody>
      </p:sp>
      <p:sp>
        <p:nvSpPr>
          <p:cNvPr id="14" name="Text 9"/>
          <p:cNvSpPr txBox="1"/>
          <p:nvPr/>
        </p:nvSpPr>
        <p:spPr>
          <a:xfrm>
            <a:off x="4539996" y="2514600"/>
            <a:ext cx="3154680" cy="1188720"/>
          </a:xfrm>
          <a:prstGeom prst="rect">
            <a:avLst/>
          </a:prstGeom>
          <a:noFill/>
          <a:ln/>
        </p:spPr>
        <p:txBody>
          <a:bodyPr wrap="square" lIns="0" tIns="0" rIns="0" bIns="0" rtlCol="0" anchor="t"/>
          <a:lstStyle/>
          <a:p>
            <a:pPr indent="0" marL="0">
              <a:buNone/>
            </a:pPr>
            <a:r>
              <a:rPr lang="en-US" sz="1400" dirty="0">
                <a:solidFill>
                  <a:schemeClr val="tx2"/>
                </a:solidFill>
              </a:rPr>
              <a:t>PowerShell + .NET types text and shortcuts (^c, %{F4}, {ENTER}); special characters are escaped.</a:t>
            </a:r>
            <a:endParaRPr lang="en-US" sz="1400" dirty="0"/>
          </a:p>
        </p:txBody>
      </p:sp>
      <p:sp>
        <p:nvSpPr>
          <p:cNvPr id="15" name="mech-card"/>
          <p:cNvSpPr/>
          <p:nvPr/>
        </p:nvSpPr>
        <p:spPr>
          <a:xfrm>
            <a:off x="8074152" y="1554480"/>
            <a:ext cx="3566160" cy="2240280"/>
          </a:xfrm>
          <a:prstGeom prst="roundRect">
            <a:avLst>
              <a:gd name="adj" fmla="val 3265"/>
            </a:avLst>
          </a:prstGeom>
          <a:solidFill>
            <a:schemeClr val="bg2"/>
          </a:solidFill>
          <a:ln w="9525">
            <a:solidFill>
              <a:schemeClr val="accent3"/>
            </a:solidFill>
            <a:prstDash val="solid"/>
          </a:ln>
        </p:spPr>
      </p:sp>
      <p:sp>
        <p:nvSpPr>
          <p:cNvPr id="16" name="icon-circle"/>
          <p:cNvSpPr/>
          <p:nvPr/>
        </p:nvSpPr>
        <p:spPr>
          <a:xfrm>
            <a:off x="8302752" y="1783080"/>
            <a:ext cx="548640" cy="548640"/>
          </a:xfrm>
          <a:prstGeom prst="ellipse">
            <a:avLst/>
          </a:prstGeom>
          <a:solidFill>
            <a:schemeClr val="accent4"/>
          </a:solidFill>
          <a:ln w="9525">
            <a:solidFill>
              <a:schemeClr val="accent3"/>
            </a:solidFill>
            <a:prstDash val="solid"/>
          </a:ln>
        </p:spPr>
      </p:sp>
      <p:pic>
        <p:nvPicPr>
          <p:cNvPr id="17" name="Image 2" descr="AudioLines icon">    </p:cNvPr>
          <p:cNvPicPr>
            <a:picLocks noChangeAspect="1"/>
          </p:cNvPicPr>
          <p:nvPr/>
        </p:nvPicPr>
        <p:blipFill>
          <a:blip r:embed="rId3"/>
          <a:stretch>
            <a:fillRect/>
          </a:stretch>
        </p:blipFill>
        <p:spPr>
          <a:xfrm>
            <a:off x="8434426" y="1914754"/>
            <a:ext cx="285293" cy="285293"/>
          </a:xfrm>
          <a:prstGeom prst="rect">
            <a:avLst/>
          </a:prstGeom>
        </p:spPr>
      </p:pic>
      <p:sp>
        <p:nvSpPr>
          <p:cNvPr id="18" name="Text 12"/>
          <p:cNvSpPr txBox="1"/>
          <p:nvPr/>
        </p:nvSpPr>
        <p:spPr>
          <a:xfrm>
            <a:off x="8988552" y="1783080"/>
            <a:ext cx="2514600" cy="54864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Media keys</a:t>
            </a:r>
            <a:endParaRPr lang="en-US" sz="1700" dirty="0"/>
          </a:p>
        </p:txBody>
      </p:sp>
      <p:sp>
        <p:nvSpPr>
          <p:cNvPr id="19" name="Text 13"/>
          <p:cNvSpPr txBox="1"/>
          <p:nvPr/>
        </p:nvSpPr>
        <p:spPr>
          <a:xfrm>
            <a:off x="8302752" y="2514600"/>
            <a:ext cx="3154680" cy="1188720"/>
          </a:xfrm>
          <a:prstGeom prst="rect">
            <a:avLst/>
          </a:prstGeom>
          <a:noFill/>
          <a:ln/>
        </p:spPr>
        <p:txBody>
          <a:bodyPr wrap="square" lIns="0" tIns="0" rIns="0" bIns="0" rtlCol="0" anchor="t"/>
          <a:lstStyle/>
          <a:p>
            <a:pPr indent="0" marL="0">
              <a:buNone/>
            </a:pPr>
            <a:r>
              <a:rPr lang="en-US" sz="1400" dirty="0">
                <a:solidFill>
                  <a:schemeClr val="tx2"/>
                </a:solidFill>
              </a:rPr>
              <a:t>Inline C# calls user32 keybd_event for play/pause, next, previous and mute.</a:t>
            </a:r>
            <a:endParaRPr lang="en-US" sz="1400" dirty="0"/>
          </a:p>
        </p:txBody>
      </p:sp>
      <p:sp>
        <p:nvSpPr>
          <p:cNvPr id="20" name="mech-card"/>
          <p:cNvSpPr/>
          <p:nvPr/>
        </p:nvSpPr>
        <p:spPr>
          <a:xfrm>
            <a:off x="548640" y="3931920"/>
            <a:ext cx="3566160" cy="2240280"/>
          </a:xfrm>
          <a:prstGeom prst="roundRect">
            <a:avLst>
              <a:gd name="adj" fmla="val 3265"/>
            </a:avLst>
          </a:prstGeom>
          <a:solidFill>
            <a:schemeClr val="bg2"/>
          </a:solidFill>
          <a:ln w="9525">
            <a:solidFill>
              <a:schemeClr val="accent3"/>
            </a:solidFill>
            <a:prstDash val="solid"/>
          </a:ln>
        </p:spPr>
      </p:sp>
      <p:sp>
        <p:nvSpPr>
          <p:cNvPr id="21" name="icon-circle"/>
          <p:cNvSpPr/>
          <p:nvPr/>
        </p:nvSpPr>
        <p:spPr>
          <a:xfrm>
            <a:off x="777240" y="4160520"/>
            <a:ext cx="548640" cy="548640"/>
          </a:xfrm>
          <a:prstGeom prst="ellipse">
            <a:avLst/>
          </a:prstGeom>
          <a:solidFill>
            <a:schemeClr val="accent4"/>
          </a:solidFill>
          <a:ln w="9525">
            <a:solidFill>
              <a:schemeClr val="accent3"/>
            </a:solidFill>
            <a:prstDash val="solid"/>
          </a:ln>
        </p:spPr>
      </p:sp>
      <p:pic>
        <p:nvPicPr>
          <p:cNvPr id="22" name="Image 3" descr="Camera icon">    </p:cNvPr>
          <p:cNvPicPr>
            <a:picLocks noChangeAspect="1"/>
          </p:cNvPicPr>
          <p:nvPr/>
        </p:nvPicPr>
        <p:blipFill>
          <a:blip r:embed="rId4"/>
          <a:stretch>
            <a:fillRect/>
          </a:stretch>
        </p:blipFill>
        <p:spPr>
          <a:xfrm>
            <a:off x="908914" y="4292194"/>
            <a:ext cx="285293" cy="285293"/>
          </a:xfrm>
          <a:prstGeom prst="rect">
            <a:avLst/>
          </a:prstGeom>
        </p:spPr>
      </p:pic>
      <p:sp>
        <p:nvSpPr>
          <p:cNvPr id="23" name="Text 16"/>
          <p:cNvSpPr txBox="1"/>
          <p:nvPr/>
        </p:nvSpPr>
        <p:spPr>
          <a:xfrm>
            <a:off x="1463040" y="4160520"/>
            <a:ext cx="2514600" cy="54864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Screenshots</a:t>
            </a:r>
            <a:endParaRPr lang="en-US" sz="1700" dirty="0"/>
          </a:p>
        </p:txBody>
      </p:sp>
      <p:sp>
        <p:nvSpPr>
          <p:cNvPr id="24" name="Text 17"/>
          <p:cNvSpPr txBox="1"/>
          <p:nvPr/>
        </p:nvSpPr>
        <p:spPr>
          <a:xfrm>
            <a:off x="777240" y="4892040"/>
            <a:ext cx="3154680" cy="1188720"/>
          </a:xfrm>
          <a:prstGeom prst="rect">
            <a:avLst/>
          </a:prstGeom>
          <a:noFill/>
          <a:ln/>
        </p:spPr>
        <p:txBody>
          <a:bodyPr wrap="square" lIns="0" tIns="0" rIns="0" bIns="0" rtlCol="0" anchor="t"/>
          <a:lstStyle/>
          <a:p>
            <a:pPr indent="0" marL="0">
              <a:buNone/>
            </a:pPr>
            <a:r>
              <a:rPr lang="en-US" sz="1400" dirty="0">
                <a:solidFill>
                  <a:schemeClr val="tx2"/>
                </a:solidFill>
              </a:rPr>
              <a:t>System.Drawing CopyFromScreen saves Ultron_Screenshot_&lt;time&gt;.png to the Desktop.</a:t>
            </a:r>
            <a:endParaRPr lang="en-US" sz="1400" dirty="0"/>
          </a:p>
        </p:txBody>
      </p:sp>
      <p:sp>
        <p:nvSpPr>
          <p:cNvPr id="25" name="mech-card"/>
          <p:cNvSpPr/>
          <p:nvPr/>
        </p:nvSpPr>
        <p:spPr>
          <a:xfrm>
            <a:off x="4311396" y="3931920"/>
            <a:ext cx="3566160" cy="2240280"/>
          </a:xfrm>
          <a:prstGeom prst="roundRect">
            <a:avLst>
              <a:gd name="adj" fmla="val 3265"/>
            </a:avLst>
          </a:prstGeom>
          <a:solidFill>
            <a:schemeClr val="bg2"/>
          </a:solidFill>
          <a:ln w="9525">
            <a:solidFill>
              <a:schemeClr val="accent3"/>
            </a:solidFill>
            <a:prstDash val="solid"/>
          </a:ln>
        </p:spPr>
      </p:sp>
      <p:sp>
        <p:nvSpPr>
          <p:cNvPr id="26" name="icon-circle"/>
          <p:cNvSpPr/>
          <p:nvPr/>
        </p:nvSpPr>
        <p:spPr>
          <a:xfrm>
            <a:off x="4539996" y="4160520"/>
            <a:ext cx="548640" cy="548640"/>
          </a:xfrm>
          <a:prstGeom prst="ellipse">
            <a:avLst/>
          </a:prstGeom>
          <a:solidFill>
            <a:schemeClr val="accent4"/>
          </a:solidFill>
          <a:ln w="9525">
            <a:solidFill>
              <a:schemeClr val="accent3"/>
            </a:solidFill>
            <a:prstDash val="solid"/>
          </a:ln>
        </p:spPr>
      </p:sp>
      <p:pic>
        <p:nvPicPr>
          <p:cNvPr id="27" name="Image 4" descr="Folder icon">    </p:cNvPr>
          <p:cNvPicPr>
            <a:picLocks noChangeAspect="1"/>
          </p:cNvPicPr>
          <p:nvPr/>
        </p:nvPicPr>
        <p:blipFill>
          <a:blip r:embed="rId5"/>
          <a:stretch>
            <a:fillRect/>
          </a:stretch>
        </p:blipFill>
        <p:spPr>
          <a:xfrm>
            <a:off x="4671670" y="4292194"/>
            <a:ext cx="285293" cy="285293"/>
          </a:xfrm>
          <a:prstGeom prst="rect">
            <a:avLst/>
          </a:prstGeom>
        </p:spPr>
      </p:pic>
      <p:sp>
        <p:nvSpPr>
          <p:cNvPr id="28" name="Text 20"/>
          <p:cNvSpPr txBox="1"/>
          <p:nvPr/>
        </p:nvSpPr>
        <p:spPr>
          <a:xfrm>
            <a:off x="5225796" y="4160520"/>
            <a:ext cx="2514600" cy="54864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File operations</a:t>
            </a:r>
            <a:endParaRPr lang="en-US" sz="1700" dirty="0"/>
          </a:p>
        </p:txBody>
      </p:sp>
      <p:sp>
        <p:nvSpPr>
          <p:cNvPr id="29" name="Text 21"/>
          <p:cNvSpPr txBox="1"/>
          <p:nvPr/>
        </p:nvSpPr>
        <p:spPr>
          <a:xfrm>
            <a:off x="4539996" y="4892040"/>
            <a:ext cx="3154680" cy="1188720"/>
          </a:xfrm>
          <a:prstGeom prst="rect">
            <a:avLst/>
          </a:prstGeom>
          <a:noFill/>
          <a:ln/>
        </p:spPr>
        <p:txBody>
          <a:bodyPr wrap="square" lIns="0" tIns="0" rIns="0" bIns="0" rtlCol="0" anchor="t"/>
          <a:lstStyle/>
          <a:p>
            <a:pPr indent="0" marL="0">
              <a:buNone/>
            </a:pPr>
            <a:r>
              <a:rPr lang="en-US" sz="1400" dirty="0">
                <a:solidFill>
                  <a:schemeClr val="tx2"/>
                </a:solidFill>
              </a:rPr>
              <a:t>Node fs creates, moves, copies and deletes. Relative paths resolve to the Desktop.</a:t>
            </a:r>
            <a:endParaRPr lang="en-US" sz="1400" dirty="0"/>
          </a:p>
        </p:txBody>
      </p:sp>
      <p:sp>
        <p:nvSpPr>
          <p:cNvPr id="30" name="mech-card"/>
          <p:cNvSpPr/>
          <p:nvPr/>
        </p:nvSpPr>
        <p:spPr>
          <a:xfrm>
            <a:off x="8074152" y="3931920"/>
            <a:ext cx="3566160" cy="2240280"/>
          </a:xfrm>
          <a:prstGeom prst="roundRect">
            <a:avLst>
              <a:gd name="adj" fmla="val 3265"/>
            </a:avLst>
          </a:prstGeom>
          <a:solidFill>
            <a:schemeClr val="bg2"/>
          </a:solidFill>
          <a:ln w="9525">
            <a:solidFill>
              <a:schemeClr val="accent3"/>
            </a:solidFill>
            <a:prstDash val="solid"/>
          </a:ln>
        </p:spPr>
      </p:sp>
      <p:sp>
        <p:nvSpPr>
          <p:cNvPr id="31" name="icon-circle"/>
          <p:cNvSpPr/>
          <p:nvPr/>
        </p:nvSpPr>
        <p:spPr>
          <a:xfrm>
            <a:off x="8302752" y="4160520"/>
            <a:ext cx="548640" cy="548640"/>
          </a:xfrm>
          <a:prstGeom prst="ellipse">
            <a:avLst/>
          </a:prstGeom>
          <a:solidFill>
            <a:schemeClr val="accent4"/>
          </a:solidFill>
          <a:ln w="9525">
            <a:solidFill>
              <a:schemeClr val="accent3"/>
            </a:solidFill>
            <a:prstDash val="solid"/>
          </a:ln>
        </p:spPr>
      </p:sp>
      <p:pic>
        <p:nvPicPr>
          <p:cNvPr id="32" name="Image 5" descr="Wrench icon">    </p:cNvPr>
          <p:cNvPicPr>
            <a:picLocks noChangeAspect="1"/>
          </p:cNvPicPr>
          <p:nvPr/>
        </p:nvPicPr>
        <p:blipFill>
          <a:blip r:embed="rId6"/>
          <a:stretch>
            <a:fillRect/>
          </a:stretch>
        </p:blipFill>
        <p:spPr>
          <a:xfrm>
            <a:off x="8434426" y="4292194"/>
            <a:ext cx="285293" cy="285293"/>
          </a:xfrm>
          <a:prstGeom prst="rect">
            <a:avLst/>
          </a:prstGeom>
        </p:spPr>
      </p:pic>
      <p:sp>
        <p:nvSpPr>
          <p:cNvPr id="33" name="Text 24"/>
          <p:cNvSpPr txBox="1"/>
          <p:nvPr/>
        </p:nvSpPr>
        <p:spPr>
          <a:xfrm>
            <a:off x="8988552" y="4160520"/>
            <a:ext cx="2514600" cy="54864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PowerShell escape hatch</a:t>
            </a:r>
            <a:endParaRPr lang="en-US" sz="1700" dirty="0"/>
          </a:p>
        </p:txBody>
      </p:sp>
      <p:sp>
        <p:nvSpPr>
          <p:cNvPr id="34" name="Text 25"/>
          <p:cNvSpPr txBox="1"/>
          <p:nvPr/>
        </p:nvSpPr>
        <p:spPr>
          <a:xfrm>
            <a:off x="8302752" y="4892040"/>
            <a:ext cx="3154680" cy="1188720"/>
          </a:xfrm>
          <a:prstGeom prst="rect">
            <a:avLst/>
          </a:prstGeom>
          <a:noFill/>
          <a:ln/>
        </p:spPr>
        <p:txBody>
          <a:bodyPr wrap="square" lIns="0" tIns="0" rIns="0" bIns="0" rtlCol="0" anchor="t"/>
          <a:lstStyle/>
          <a:p>
            <a:pPr indent="0" marL="0">
              <a:buNone/>
            </a:pPr>
            <a:r>
              <a:rPr lang="en-US" sz="1400" dirty="0">
                <a:solidFill>
                  <a:schemeClr val="tx2"/>
                </a:solidFill>
              </a:rPr>
              <a:t>run_powershell handles anything else; output is trimmed to 1,800 characters.</a:t>
            </a:r>
            <a:endParaRPr lang="en-US" sz="1400" dirty="0"/>
          </a:p>
        </p:txBody>
      </p:sp>
      <p:sp>
        <p:nvSpPr>
          <p:cNvPr id="25" name="Slide Number Placeholder 0"/>
          <p:cNvSpPr>
            <a:spLocks noGrp="1"/>
          </p:cNvSpPr>
          <p:nvPr>
            <p:ph type="sldNum" sz="quarter" idx="4294967295"/>
          </p:nvPr>
        </p:nvSpPr>
        <p:spPr>
          <a:xfrm>
            <a:off x="10972800" y="6437376"/>
            <a:ext cx="667512"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t"/>
          <a:lstStyle/>
          <a:p>
            <a:pPr indent="0" marL="0">
              <a:buNone/>
            </a:pPr>
            <a:r>
              <a:rPr lang="en-US" sz="1100" b="1" spc="300" kern="0" dirty="0">
                <a:solidFill>
                  <a:schemeClr val="accent1"/>
                </a:solidFill>
              </a:rPr>
              <a:t>RELIABILITY</a:t>
            </a:r>
            <a:endParaRPr lang="en-US" sz="1100" dirty="0"/>
          </a:p>
        </p:txBody>
      </p:sp>
      <p:sp>
        <p:nvSpPr>
          <p:cNvPr id="3" name="Text 0"/>
          <p:cNvSpPr/>
          <p:nvPr>
            <p:ph idx="101" type="title" hasCustomPrompt="1"/>
          </p:nvPr>
        </p:nvSpPr>
        <p:spPr>
          <a:xfrm>
            <a:off x="548640" y="640080"/>
            <a:ext cx="11091672" cy="685800"/>
          </a:xfrm>
          <a:prstGeom prst="rect">
            <a:avLst/>
          </a:prstGeom>
          <a:noFill/>
          <a:ln/>
        </p:spPr>
        <p:txBody>
          <a:bodyPr wrap="square" lIns="0" tIns="0" rIns="0" bIns="0" rtlCol="0" anchor="t"/>
          <a:lstStyle/>
          <a:p>
            <a:pPr algn="l" indent="0" marL="0">
              <a:buNone/>
            </a:pPr>
            <a:r>
              <a:rPr lang="en-US" sz="3400" b="1" dirty="0">
                <a:solidFill>
                  <a:schemeClr val="tx1"/>
                </a:solidFill>
              </a:rPr>
              <a:t>Staying Live: Gemini Model Rotation</a:t>
            </a:r>
            <a:endParaRPr lang="en-US" sz="3400" dirty="0"/>
          </a:p>
        </p:txBody>
      </p:sp>
      <p:sp>
        <p:nvSpPr>
          <p:cNvPr id="5" name="model-pill"/>
          <p:cNvSpPr/>
          <p:nvPr/>
        </p:nvSpPr>
        <p:spPr>
          <a:xfrm>
            <a:off x="548640" y="1554480"/>
            <a:ext cx="4480560" cy="457200"/>
          </a:xfrm>
          <a:prstGeom prst="roundRect">
            <a:avLst>
              <a:gd name="adj" fmla="val 16000"/>
            </a:avLst>
          </a:prstGeom>
          <a:solidFill>
            <a:schemeClr val="accent4"/>
          </a:solidFill>
          <a:ln w="15875">
            <a:solidFill>
              <a:schemeClr val="accent1"/>
            </a:solidFill>
            <a:prstDash val="solid"/>
          </a:ln>
        </p:spPr>
      </p:sp>
      <p:sp>
        <p:nvSpPr>
          <p:cNvPr id="6" name="Text 3"/>
          <p:cNvSpPr txBox="1"/>
          <p:nvPr/>
        </p:nvSpPr>
        <p:spPr>
          <a:xfrm>
            <a:off x="713232" y="1554480"/>
            <a:ext cx="320040" cy="457200"/>
          </a:xfrm>
          <a:prstGeom prst="rect">
            <a:avLst/>
          </a:prstGeom>
          <a:noFill/>
          <a:ln/>
        </p:spPr>
        <p:txBody>
          <a:bodyPr wrap="square" lIns="0" tIns="0" rIns="0" bIns="0" rtlCol="0" anchor="ctr"/>
          <a:lstStyle/>
          <a:p>
            <a:pPr indent="0" marL="0">
              <a:buNone/>
            </a:pPr>
            <a:r>
              <a:rPr lang="en-US" sz="1300" b="1" dirty="0">
                <a:solidFill>
                  <a:schemeClr val="accent1"/>
                </a:solidFill>
              </a:rPr>
              <a:t>1</a:t>
            </a:r>
            <a:endParaRPr lang="en-US" sz="1300" dirty="0"/>
          </a:p>
        </p:txBody>
      </p:sp>
      <p:sp>
        <p:nvSpPr>
          <p:cNvPr id="7" name="Text 4"/>
          <p:cNvSpPr txBox="1"/>
          <p:nvPr/>
        </p:nvSpPr>
        <p:spPr>
          <a:xfrm>
            <a:off x="1097280" y="1554480"/>
            <a:ext cx="3566160" cy="457200"/>
          </a:xfrm>
          <a:prstGeom prst="rect">
            <a:avLst/>
          </a:prstGeom>
          <a:noFill/>
          <a:ln/>
        </p:spPr>
        <p:txBody>
          <a:bodyPr wrap="square" lIns="0" tIns="0" rIns="0" bIns="0" rtlCol="0" anchor="ctr"/>
          <a:lstStyle/>
          <a:p>
            <a:pPr indent="0" marL="0">
              <a:buNone/>
            </a:pPr>
            <a:r>
              <a:rPr lang="en-US" sz="1400" dirty="0">
                <a:solidFill>
                  <a:schemeClr val="tx1"/>
                </a:solidFill>
                <a:latin typeface="Courier New" pitchFamily="34" charset="0"/>
                <a:ea typeface="Courier New" pitchFamily="34" charset="-122"/>
                <a:cs typeface="Courier New" pitchFamily="34" charset="-120"/>
              </a:rPr>
              <a:t>gemini-2.0-flash</a:t>
            </a:r>
            <a:endParaRPr lang="en-US" sz="1400" dirty="0"/>
          </a:p>
        </p:txBody>
      </p:sp>
      <p:sp>
        <p:nvSpPr>
          <p:cNvPr id="8" name="model-pill"/>
          <p:cNvSpPr/>
          <p:nvPr/>
        </p:nvSpPr>
        <p:spPr>
          <a:xfrm>
            <a:off x="548640" y="2103120"/>
            <a:ext cx="4480560" cy="457200"/>
          </a:xfrm>
          <a:prstGeom prst="roundRect">
            <a:avLst>
              <a:gd name="adj" fmla="val 16000"/>
            </a:avLst>
          </a:prstGeom>
          <a:solidFill>
            <a:schemeClr val="bg2"/>
          </a:solidFill>
          <a:ln w="9525">
            <a:solidFill>
              <a:schemeClr val="accent3"/>
            </a:solidFill>
            <a:prstDash val="solid"/>
          </a:ln>
        </p:spPr>
      </p:sp>
      <p:sp>
        <p:nvSpPr>
          <p:cNvPr id="9" name="Text 6"/>
          <p:cNvSpPr txBox="1"/>
          <p:nvPr/>
        </p:nvSpPr>
        <p:spPr>
          <a:xfrm>
            <a:off x="713232" y="2103120"/>
            <a:ext cx="320040" cy="457200"/>
          </a:xfrm>
          <a:prstGeom prst="rect">
            <a:avLst/>
          </a:prstGeom>
          <a:noFill/>
          <a:ln/>
        </p:spPr>
        <p:txBody>
          <a:bodyPr wrap="square" lIns="0" tIns="0" rIns="0" bIns="0" rtlCol="0" anchor="ctr"/>
          <a:lstStyle/>
          <a:p>
            <a:pPr indent="0" marL="0">
              <a:buNone/>
            </a:pPr>
            <a:r>
              <a:rPr lang="en-US" sz="1300" b="1" dirty="0">
                <a:solidFill>
                  <a:schemeClr val="accent1"/>
                </a:solidFill>
              </a:rPr>
              <a:t>2</a:t>
            </a:r>
            <a:endParaRPr lang="en-US" sz="1300" dirty="0"/>
          </a:p>
        </p:txBody>
      </p:sp>
      <p:sp>
        <p:nvSpPr>
          <p:cNvPr id="10" name="Text 7"/>
          <p:cNvSpPr txBox="1"/>
          <p:nvPr/>
        </p:nvSpPr>
        <p:spPr>
          <a:xfrm>
            <a:off x="1097280" y="2103120"/>
            <a:ext cx="3566160" cy="457200"/>
          </a:xfrm>
          <a:prstGeom prst="rect">
            <a:avLst/>
          </a:prstGeom>
          <a:noFill/>
          <a:ln/>
        </p:spPr>
        <p:txBody>
          <a:bodyPr wrap="square" lIns="0" tIns="0" rIns="0" bIns="0" rtlCol="0" anchor="ctr"/>
          <a:lstStyle/>
          <a:p>
            <a:pPr indent="0" marL="0">
              <a:buNone/>
            </a:pPr>
            <a:r>
              <a:rPr lang="en-US" sz="1400" dirty="0">
                <a:solidFill>
                  <a:schemeClr val="tx1"/>
                </a:solidFill>
                <a:latin typeface="Courier New" pitchFamily="34" charset="0"/>
                <a:ea typeface="Courier New" pitchFamily="34" charset="-122"/>
                <a:cs typeface="Courier New" pitchFamily="34" charset="-120"/>
              </a:rPr>
              <a:t>gemini-2.0-flash-lite</a:t>
            </a:r>
            <a:endParaRPr lang="en-US" sz="1400" dirty="0"/>
          </a:p>
        </p:txBody>
      </p:sp>
      <p:sp>
        <p:nvSpPr>
          <p:cNvPr id="11" name="model-pill"/>
          <p:cNvSpPr/>
          <p:nvPr/>
        </p:nvSpPr>
        <p:spPr>
          <a:xfrm>
            <a:off x="548640" y="2651760"/>
            <a:ext cx="4480560" cy="457200"/>
          </a:xfrm>
          <a:prstGeom prst="roundRect">
            <a:avLst>
              <a:gd name="adj" fmla="val 16000"/>
            </a:avLst>
          </a:prstGeom>
          <a:solidFill>
            <a:schemeClr val="bg2"/>
          </a:solidFill>
          <a:ln w="9525">
            <a:solidFill>
              <a:schemeClr val="accent3"/>
            </a:solidFill>
            <a:prstDash val="solid"/>
          </a:ln>
        </p:spPr>
      </p:sp>
      <p:sp>
        <p:nvSpPr>
          <p:cNvPr id="12" name="Text 9"/>
          <p:cNvSpPr txBox="1"/>
          <p:nvPr/>
        </p:nvSpPr>
        <p:spPr>
          <a:xfrm>
            <a:off x="713232" y="2651760"/>
            <a:ext cx="320040" cy="457200"/>
          </a:xfrm>
          <a:prstGeom prst="rect">
            <a:avLst/>
          </a:prstGeom>
          <a:noFill/>
          <a:ln/>
        </p:spPr>
        <p:txBody>
          <a:bodyPr wrap="square" lIns="0" tIns="0" rIns="0" bIns="0" rtlCol="0" anchor="ctr"/>
          <a:lstStyle/>
          <a:p>
            <a:pPr indent="0" marL="0">
              <a:buNone/>
            </a:pPr>
            <a:r>
              <a:rPr lang="en-US" sz="1300" b="1" dirty="0">
                <a:solidFill>
                  <a:schemeClr val="accent1"/>
                </a:solidFill>
              </a:rPr>
              <a:t>3</a:t>
            </a:r>
            <a:endParaRPr lang="en-US" sz="1300" dirty="0"/>
          </a:p>
        </p:txBody>
      </p:sp>
      <p:sp>
        <p:nvSpPr>
          <p:cNvPr id="13" name="Text 10"/>
          <p:cNvSpPr txBox="1"/>
          <p:nvPr/>
        </p:nvSpPr>
        <p:spPr>
          <a:xfrm>
            <a:off x="1097280" y="2651760"/>
            <a:ext cx="3566160" cy="457200"/>
          </a:xfrm>
          <a:prstGeom prst="rect">
            <a:avLst/>
          </a:prstGeom>
          <a:noFill/>
          <a:ln/>
        </p:spPr>
        <p:txBody>
          <a:bodyPr wrap="square" lIns="0" tIns="0" rIns="0" bIns="0" rtlCol="0" anchor="ctr"/>
          <a:lstStyle/>
          <a:p>
            <a:pPr indent="0" marL="0">
              <a:buNone/>
            </a:pPr>
            <a:r>
              <a:rPr lang="en-US" sz="1400" dirty="0">
                <a:solidFill>
                  <a:schemeClr val="tx1"/>
                </a:solidFill>
                <a:latin typeface="Courier New" pitchFamily="34" charset="0"/>
                <a:ea typeface="Courier New" pitchFamily="34" charset="-122"/>
                <a:cs typeface="Courier New" pitchFamily="34" charset="-120"/>
              </a:rPr>
              <a:t>gemini-1.5-flash</a:t>
            </a:r>
            <a:endParaRPr lang="en-US" sz="1400" dirty="0"/>
          </a:p>
        </p:txBody>
      </p:sp>
      <p:sp>
        <p:nvSpPr>
          <p:cNvPr id="14" name="model-pill"/>
          <p:cNvSpPr/>
          <p:nvPr/>
        </p:nvSpPr>
        <p:spPr>
          <a:xfrm>
            <a:off x="548640" y="3200400"/>
            <a:ext cx="4480560" cy="457200"/>
          </a:xfrm>
          <a:prstGeom prst="roundRect">
            <a:avLst>
              <a:gd name="adj" fmla="val 16000"/>
            </a:avLst>
          </a:prstGeom>
          <a:solidFill>
            <a:schemeClr val="bg2"/>
          </a:solidFill>
          <a:ln w="9525">
            <a:solidFill>
              <a:schemeClr val="accent3"/>
            </a:solidFill>
            <a:prstDash val="solid"/>
          </a:ln>
        </p:spPr>
      </p:sp>
      <p:sp>
        <p:nvSpPr>
          <p:cNvPr id="15" name="Text 12"/>
          <p:cNvSpPr txBox="1"/>
          <p:nvPr/>
        </p:nvSpPr>
        <p:spPr>
          <a:xfrm>
            <a:off x="713232" y="3200400"/>
            <a:ext cx="320040" cy="457200"/>
          </a:xfrm>
          <a:prstGeom prst="rect">
            <a:avLst/>
          </a:prstGeom>
          <a:noFill/>
          <a:ln/>
        </p:spPr>
        <p:txBody>
          <a:bodyPr wrap="square" lIns="0" tIns="0" rIns="0" bIns="0" rtlCol="0" anchor="ctr"/>
          <a:lstStyle/>
          <a:p>
            <a:pPr indent="0" marL="0">
              <a:buNone/>
            </a:pPr>
            <a:r>
              <a:rPr lang="en-US" sz="1300" b="1" dirty="0">
                <a:solidFill>
                  <a:schemeClr val="accent1"/>
                </a:solidFill>
              </a:rPr>
              <a:t>4</a:t>
            </a:r>
            <a:endParaRPr lang="en-US" sz="1300" dirty="0"/>
          </a:p>
        </p:txBody>
      </p:sp>
      <p:sp>
        <p:nvSpPr>
          <p:cNvPr id="16" name="Text 13"/>
          <p:cNvSpPr txBox="1"/>
          <p:nvPr/>
        </p:nvSpPr>
        <p:spPr>
          <a:xfrm>
            <a:off x="1097280" y="3200400"/>
            <a:ext cx="3566160" cy="457200"/>
          </a:xfrm>
          <a:prstGeom prst="rect">
            <a:avLst/>
          </a:prstGeom>
          <a:noFill/>
          <a:ln/>
        </p:spPr>
        <p:txBody>
          <a:bodyPr wrap="square" lIns="0" tIns="0" rIns="0" bIns="0" rtlCol="0" anchor="ctr"/>
          <a:lstStyle/>
          <a:p>
            <a:pPr indent="0" marL="0">
              <a:buNone/>
            </a:pPr>
            <a:r>
              <a:rPr lang="en-US" sz="1400" dirty="0">
                <a:solidFill>
                  <a:schemeClr val="tx1"/>
                </a:solidFill>
                <a:latin typeface="Courier New" pitchFamily="34" charset="0"/>
                <a:ea typeface="Courier New" pitchFamily="34" charset="-122"/>
                <a:cs typeface="Courier New" pitchFamily="34" charset="-120"/>
              </a:rPr>
              <a:t>gemini-1.5-flash-8b</a:t>
            </a:r>
            <a:endParaRPr lang="en-US" sz="1400" dirty="0"/>
          </a:p>
        </p:txBody>
      </p:sp>
      <p:sp>
        <p:nvSpPr>
          <p:cNvPr id="17" name="model-pill"/>
          <p:cNvSpPr/>
          <p:nvPr/>
        </p:nvSpPr>
        <p:spPr>
          <a:xfrm>
            <a:off x="548640" y="3749040"/>
            <a:ext cx="4480560" cy="457200"/>
          </a:xfrm>
          <a:prstGeom prst="roundRect">
            <a:avLst>
              <a:gd name="adj" fmla="val 16000"/>
            </a:avLst>
          </a:prstGeom>
          <a:solidFill>
            <a:schemeClr val="bg2"/>
          </a:solidFill>
          <a:ln w="9525">
            <a:solidFill>
              <a:schemeClr val="accent3"/>
            </a:solidFill>
            <a:prstDash val="solid"/>
          </a:ln>
        </p:spPr>
      </p:sp>
      <p:sp>
        <p:nvSpPr>
          <p:cNvPr id="18" name="Text 15"/>
          <p:cNvSpPr txBox="1"/>
          <p:nvPr/>
        </p:nvSpPr>
        <p:spPr>
          <a:xfrm>
            <a:off x="713232" y="3749040"/>
            <a:ext cx="320040" cy="457200"/>
          </a:xfrm>
          <a:prstGeom prst="rect">
            <a:avLst/>
          </a:prstGeom>
          <a:noFill/>
          <a:ln/>
        </p:spPr>
        <p:txBody>
          <a:bodyPr wrap="square" lIns="0" tIns="0" rIns="0" bIns="0" rtlCol="0" anchor="ctr"/>
          <a:lstStyle/>
          <a:p>
            <a:pPr indent="0" marL="0">
              <a:buNone/>
            </a:pPr>
            <a:r>
              <a:rPr lang="en-US" sz="1300" b="1" dirty="0">
                <a:solidFill>
                  <a:schemeClr val="accent1"/>
                </a:solidFill>
              </a:rPr>
              <a:t>5</a:t>
            </a:r>
            <a:endParaRPr lang="en-US" sz="1300" dirty="0"/>
          </a:p>
        </p:txBody>
      </p:sp>
      <p:sp>
        <p:nvSpPr>
          <p:cNvPr id="19" name="Text 16"/>
          <p:cNvSpPr txBox="1"/>
          <p:nvPr/>
        </p:nvSpPr>
        <p:spPr>
          <a:xfrm>
            <a:off x="1097280" y="3749040"/>
            <a:ext cx="3566160" cy="457200"/>
          </a:xfrm>
          <a:prstGeom prst="rect">
            <a:avLst/>
          </a:prstGeom>
          <a:noFill/>
          <a:ln/>
        </p:spPr>
        <p:txBody>
          <a:bodyPr wrap="square" lIns="0" tIns="0" rIns="0" bIns="0" rtlCol="0" anchor="ctr"/>
          <a:lstStyle/>
          <a:p>
            <a:pPr indent="0" marL="0">
              <a:buNone/>
            </a:pPr>
            <a:r>
              <a:rPr lang="en-US" sz="1400" dirty="0">
                <a:solidFill>
                  <a:schemeClr val="tx1"/>
                </a:solidFill>
                <a:latin typeface="Courier New" pitchFamily="34" charset="0"/>
                <a:ea typeface="Courier New" pitchFamily="34" charset="-122"/>
                <a:cs typeface="Courier New" pitchFamily="34" charset="-120"/>
              </a:rPr>
              <a:t>gemini-1.5-pro</a:t>
            </a:r>
            <a:endParaRPr lang="en-US" sz="1400" dirty="0"/>
          </a:p>
        </p:txBody>
      </p:sp>
      <p:sp>
        <p:nvSpPr>
          <p:cNvPr id="20" name="model-pill"/>
          <p:cNvSpPr/>
          <p:nvPr/>
        </p:nvSpPr>
        <p:spPr>
          <a:xfrm>
            <a:off x="548640" y="4297680"/>
            <a:ext cx="4480560" cy="457200"/>
          </a:xfrm>
          <a:prstGeom prst="roundRect">
            <a:avLst>
              <a:gd name="adj" fmla="val 16000"/>
            </a:avLst>
          </a:prstGeom>
          <a:solidFill>
            <a:schemeClr val="bg2"/>
          </a:solidFill>
          <a:ln w="9525">
            <a:solidFill>
              <a:schemeClr val="accent3"/>
            </a:solidFill>
            <a:prstDash val="solid"/>
          </a:ln>
        </p:spPr>
      </p:sp>
      <p:sp>
        <p:nvSpPr>
          <p:cNvPr id="21" name="Text 18"/>
          <p:cNvSpPr txBox="1"/>
          <p:nvPr/>
        </p:nvSpPr>
        <p:spPr>
          <a:xfrm>
            <a:off x="713232" y="4297680"/>
            <a:ext cx="320040" cy="457200"/>
          </a:xfrm>
          <a:prstGeom prst="rect">
            <a:avLst/>
          </a:prstGeom>
          <a:noFill/>
          <a:ln/>
        </p:spPr>
        <p:txBody>
          <a:bodyPr wrap="square" lIns="0" tIns="0" rIns="0" bIns="0" rtlCol="0" anchor="ctr"/>
          <a:lstStyle/>
          <a:p>
            <a:pPr indent="0" marL="0">
              <a:buNone/>
            </a:pPr>
            <a:r>
              <a:rPr lang="en-US" sz="1300" b="1" dirty="0">
                <a:solidFill>
                  <a:schemeClr val="accent1"/>
                </a:solidFill>
              </a:rPr>
              <a:t>6</a:t>
            </a:r>
            <a:endParaRPr lang="en-US" sz="1300" dirty="0"/>
          </a:p>
        </p:txBody>
      </p:sp>
      <p:sp>
        <p:nvSpPr>
          <p:cNvPr id="22" name="Text 19"/>
          <p:cNvSpPr txBox="1"/>
          <p:nvPr/>
        </p:nvSpPr>
        <p:spPr>
          <a:xfrm>
            <a:off x="1097280" y="4297680"/>
            <a:ext cx="3566160" cy="457200"/>
          </a:xfrm>
          <a:prstGeom prst="rect">
            <a:avLst/>
          </a:prstGeom>
          <a:noFill/>
          <a:ln/>
        </p:spPr>
        <p:txBody>
          <a:bodyPr wrap="square" lIns="0" tIns="0" rIns="0" bIns="0" rtlCol="0" anchor="ctr"/>
          <a:lstStyle/>
          <a:p>
            <a:pPr indent="0" marL="0">
              <a:buNone/>
            </a:pPr>
            <a:r>
              <a:rPr lang="en-US" sz="1400" dirty="0">
                <a:solidFill>
                  <a:schemeClr val="tx1"/>
                </a:solidFill>
                <a:latin typeface="Courier New" pitchFamily="34" charset="0"/>
                <a:ea typeface="Courier New" pitchFamily="34" charset="-122"/>
                <a:cs typeface="Courier New" pitchFamily="34" charset="-120"/>
              </a:rPr>
              <a:t>gemini-2.5-flash</a:t>
            </a:r>
            <a:endParaRPr lang="en-US" sz="1400" dirty="0"/>
          </a:p>
        </p:txBody>
      </p:sp>
      <p:sp>
        <p:nvSpPr>
          <p:cNvPr id="23" name="model-pill"/>
          <p:cNvSpPr/>
          <p:nvPr/>
        </p:nvSpPr>
        <p:spPr>
          <a:xfrm>
            <a:off x="548640" y="4846320"/>
            <a:ext cx="4480560" cy="457200"/>
          </a:xfrm>
          <a:prstGeom prst="roundRect">
            <a:avLst>
              <a:gd name="adj" fmla="val 16000"/>
            </a:avLst>
          </a:prstGeom>
          <a:solidFill>
            <a:schemeClr val="bg2"/>
          </a:solidFill>
          <a:ln w="9525">
            <a:solidFill>
              <a:schemeClr val="accent3"/>
            </a:solidFill>
            <a:prstDash val="solid"/>
          </a:ln>
        </p:spPr>
      </p:sp>
      <p:sp>
        <p:nvSpPr>
          <p:cNvPr id="24" name="Text 21"/>
          <p:cNvSpPr txBox="1"/>
          <p:nvPr/>
        </p:nvSpPr>
        <p:spPr>
          <a:xfrm>
            <a:off x="713232" y="4846320"/>
            <a:ext cx="320040" cy="457200"/>
          </a:xfrm>
          <a:prstGeom prst="rect">
            <a:avLst/>
          </a:prstGeom>
          <a:noFill/>
          <a:ln/>
        </p:spPr>
        <p:txBody>
          <a:bodyPr wrap="square" lIns="0" tIns="0" rIns="0" bIns="0" rtlCol="0" anchor="ctr"/>
          <a:lstStyle/>
          <a:p>
            <a:pPr indent="0" marL="0">
              <a:buNone/>
            </a:pPr>
            <a:r>
              <a:rPr lang="en-US" sz="1300" b="1" dirty="0">
                <a:solidFill>
                  <a:schemeClr val="accent1"/>
                </a:solidFill>
              </a:rPr>
              <a:t>7</a:t>
            </a:r>
            <a:endParaRPr lang="en-US" sz="1300" dirty="0"/>
          </a:p>
        </p:txBody>
      </p:sp>
      <p:sp>
        <p:nvSpPr>
          <p:cNvPr id="25" name="Text 22"/>
          <p:cNvSpPr txBox="1"/>
          <p:nvPr/>
        </p:nvSpPr>
        <p:spPr>
          <a:xfrm>
            <a:off x="1097280" y="4846320"/>
            <a:ext cx="3566160" cy="457200"/>
          </a:xfrm>
          <a:prstGeom prst="rect">
            <a:avLst/>
          </a:prstGeom>
          <a:noFill/>
          <a:ln/>
        </p:spPr>
        <p:txBody>
          <a:bodyPr wrap="square" lIns="0" tIns="0" rIns="0" bIns="0" rtlCol="0" anchor="ctr"/>
          <a:lstStyle/>
          <a:p>
            <a:pPr indent="0" marL="0">
              <a:buNone/>
            </a:pPr>
            <a:r>
              <a:rPr lang="en-US" sz="1400" dirty="0">
                <a:solidFill>
                  <a:schemeClr val="tx1"/>
                </a:solidFill>
                <a:latin typeface="Courier New" pitchFamily="34" charset="0"/>
                <a:ea typeface="Courier New" pitchFamily="34" charset="-122"/>
                <a:cs typeface="Courier New" pitchFamily="34" charset="-120"/>
              </a:rPr>
              <a:t>gemini-2.5-flash-lite</a:t>
            </a:r>
            <a:endParaRPr lang="en-US" sz="1400" dirty="0"/>
          </a:p>
        </p:txBody>
      </p:sp>
      <p:sp>
        <p:nvSpPr>
          <p:cNvPr id="26" name="model-pill"/>
          <p:cNvSpPr/>
          <p:nvPr/>
        </p:nvSpPr>
        <p:spPr>
          <a:xfrm>
            <a:off x="548640" y="5394960"/>
            <a:ext cx="4480560" cy="457200"/>
          </a:xfrm>
          <a:prstGeom prst="roundRect">
            <a:avLst>
              <a:gd name="adj" fmla="val 16000"/>
            </a:avLst>
          </a:prstGeom>
          <a:solidFill>
            <a:schemeClr val="bg2"/>
          </a:solidFill>
          <a:ln w="9525">
            <a:solidFill>
              <a:schemeClr val="accent3"/>
            </a:solidFill>
            <a:prstDash val="solid"/>
          </a:ln>
        </p:spPr>
      </p:sp>
      <p:sp>
        <p:nvSpPr>
          <p:cNvPr id="27" name="Text 24"/>
          <p:cNvSpPr txBox="1"/>
          <p:nvPr/>
        </p:nvSpPr>
        <p:spPr>
          <a:xfrm>
            <a:off x="713232" y="5394960"/>
            <a:ext cx="320040" cy="457200"/>
          </a:xfrm>
          <a:prstGeom prst="rect">
            <a:avLst/>
          </a:prstGeom>
          <a:noFill/>
          <a:ln/>
        </p:spPr>
        <p:txBody>
          <a:bodyPr wrap="square" lIns="0" tIns="0" rIns="0" bIns="0" rtlCol="0" anchor="ctr"/>
          <a:lstStyle/>
          <a:p>
            <a:pPr indent="0" marL="0">
              <a:buNone/>
            </a:pPr>
            <a:r>
              <a:rPr lang="en-US" sz="1300" b="1" dirty="0">
                <a:solidFill>
                  <a:schemeClr val="accent1"/>
                </a:solidFill>
              </a:rPr>
              <a:t>8</a:t>
            </a:r>
            <a:endParaRPr lang="en-US" sz="1300" dirty="0"/>
          </a:p>
        </p:txBody>
      </p:sp>
      <p:sp>
        <p:nvSpPr>
          <p:cNvPr id="28" name="Text 25"/>
          <p:cNvSpPr txBox="1"/>
          <p:nvPr/>
        </p:nvSpPr>
        <p:spPr>
          <a:xfrm>
            <a:off x="1097280" y="5394960"/>
            <a:ext cx="3566160" cy="457200"/>
          </a:xfrm>
          <a:prstGeom prst="rect">
            <a:avLst/>
          </a:prstGeom>
          <a:noFill/>
          <a:ln/>
        </p:spPr>
        <p:txBody>
          <a:bodyPr wrap="square" lIns="0" tIns="0" rIns="0" bIns="0" rtlCol="0" anchor="ctr"/>
          <a:lstStyle/>
          <a:p>
            <a:pPr indent="0" marL="0">
              <a:buNone/>
            </a:pPr>
            <a:r>
              <a:rPr lang="en-US" sz="1400" dirty="0">
                <a:solidFill>
                  <a:schemeClr val="tx1"/>
                </a:solidFill>
                <a:latin typeface="Courier New" pitchFamily="34" charset="0"/>
                <a:ea typeface="Courier New" pitchFamily="34" charset="-122"/>
                <a:cs typeface="Courier New" pitchFamily="34" charset="-120"/>
              </a:rPr>
              <a:t>gemini-flash-latest</a:t>
            </a:r>
            <a:endParaRPr lang="en-US" sz="1400" dirty="0"/>
          </a:p>
        </p:txBody>
      </p:sp>
      <p:sp>
        <p:nvSpPr>
          <p:cNvPr id="29" name="Text 26"/>
          <p:cNvSpPr txBox="1"/>
          <p:nvPr/>
        </p:nvSpPr>
        <p:spPr>
          <a:xfrm>
            <a:off x="548640" y="5989320"/>
            <a:ext cx="4480560" cy="274320"/>
          </a:xfrm>
          <a:prstGeom prst="rect">
            <a:avLst/>
          </a:prstGeom>
          <a:noFill/>
          <a:ln/>
        </p:spPr>
        <p:txBody>
          <a:bodyPr wrap="square" lIns="0" tIns="0" rIns="0" bIns="0" rtlCol="0" anchor="t"/>
          <a:lstStyle/>
          <a:p>
            <a:pPr indent="0" marL="0">
              <a:buNone/>
            </a:pPr>
            <a:r>
              <a:rPr lang="en-US" sz="1200" dirty="0">
                <a:solidFill>
                  <a:schemeClr val="tx2"/>
                </a:solidFill>
              </a:rPr>
              <a:t>↻  after #8 it wraps back to #1</a:t>
            </a:r>
            <a:endParaRPr lang="en-US" sz="1200" dirty="0"/>
          </a:p>
        </p:txBody>
      </p:sp>
      <p:sp>
        <p:nvSpPr>
          <p:cNvPr id="30" name="rel-card"/>
          <p:cNvSpPr/>
          <p:nvPr/>
        </p:nvSpPr>
        <p:spPr>
          <a:xfrm>
            <a:off x="5349240" y="1554480"/>
            <a:ext cx="6291072" cy="1143000"/>
          </a:xfrm>
          <a:prstGeom prst="roundRect">
            <a:avLst>
              <a:gd name="adj" fmla="val 6400"/>
            </a:avLst>
          </a:prstGeom>
          <a:solidFill>
            <a:schemeClr val="bg2"/>
          </a:solidFill>
          <a:ln w="9525">
            <a:solidFill>
              <a:schemeClr val="accent3"/>
            </a:solidFill>
            <a:prstDash val="solid"/>
          </a:ln>
        </p:spPr>
      </p:sp>
      <p:sp>
        <p:nvSpPr>
          <p:cNvPr id="31" name="Text 28"/>
          <p:cNvSpPr txBox="1"/>
          <p:nvPr/>
        </p:nvSpPr>
        <p:spPr>
          <a:xfrm>
            <a:off x="5623560" y="1709928"/>
            <a:ext cx="548640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WHEN IT SWITCHES</a:t>
            </a:r>
            <a:endParaRPr lang="en-US" sz="1000" dirty="0"/>
          </a:p>
        </p:txBody>
      </p:sp>
      <p:sp>
        <p:nvSpPr>
          <p:cNvPr id="32" name="Text 29"/>
          <p:cNvSpPr txBox="1"/>
          <p:nvPr/>
        </p:nvSpPr>
        <p:spPr>
          <a:xfrm>
            <a:off x="5623560" y="2011680"/>
            <a:ext cx="5760720" cy="594360"/>
          </a:xfrm>
          <a:prstGeom prst="rect">
            <a:avLst/>
          </a:prstGeom>
          <a:noFill/>
          <a:ln/>
        </p:spPr>
        <p:txBody>
          <a:bodyPr wrap="square" lIns="0" tIns="0" rIns="0" bIns="0" rtlCol="0" anchor="t"/>
          <a:lstStyle/>
          <a:p>
            <a:pPr indent="0" marL="0">
              <a:buNone/>
            </a:pPr>
            <a:r>
              <a:rPr lang="en-US" sz="1400" dirty="0">
                <a:solidFill>
                  <a:schemeClr val="tx1"/>
                </a:solidFill>
              </a:rPr>
              <a:t>HTTP 429 · quota exceeded · rate limit · resource exhausted · model not found (404)</a:t>
            </a:r>
            <a:endParaRPr lang="en-US" sz="1400" dirty="0"/>
          </a:p>
        </p:txBody>
      </p:sp>
      <p:sp>
        <p:nvSpPr>
          <p:cNvPr id="33" name="rel-card"/>
          <p:cNvSpPr/>
          <p:nvPr/>
        </p:nvSpPr>
        <p:spPr>
          <a:xfrm>
            <a:off x="5349240" y="2880360"/>
            <a:ext cx="6291072" cy="1417320"/>
          </a:xfrm>
          <a:prstGeom prst="roundRect">
            <a:avLst>
              <a:gd name="adj" fmla="val 5161"/>
            </a:avLst>
          </a:prstGeom>
          <a:solidFill>
            <a:schemeClr val="accent4"/>
          </a:solidFill>
          <a:ln w="9525">
            <a:solidFill>
              <a:schemeClr val="accent1"/>
            </a:solidFill>
            <a:prstDash val="solid"/>
          </a:ln>
        </p:spPr>
      </p:sp>
      <p:sp>
        <p:nvSpPr>
          <p:cNvPr id="34" name="Text 31"/>
          <p:cNvSpPr txBox="1"/>
          <p:nvPr/>
        </p:nvSpPr>
        <p:spPr>
          <a:xfrm>
            <a:off x="5623560" y="3035808"/>
            <a:ext cx="548640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WHAT HAPPENS</a:t>
            </a:r>
            <a:endParaRPr lang="en-US" sz="1000" dirty="0"/>
          </a:p>
        </p:txBody>
      </p:sp>
      <p:sp>
        <p:nvSpPr>
          <p:cNvPr id="35" name="Text 32"/>
          <p:cNvSpPr txBox="1"/>
          <p:nvPr/>
        </p:nvSpPr>
        <p:spPr>
          <a:xfrm>
            <a:off x="5623560" y="3337560"/>
            <a:ext cx="5760720" cy="868680"/>
          </a:xfrm>
          <a:prstGeom prst="rect">
            <a:avLst/>
          </a:prstGeom>
          <a:noFill/>
          <a:ln/>
        </p:spPr>
        <p:txBody>
          <a:bodyPr wrap="square" lIns="0" tIns="0" rIns="0" bIns="0" rtlCol="0" anchor="t"/>
          <a:lstStyle/>
          <a:p>
            <a:pPr indent="0" marL="0">
              <a:buNone/>
            </a:pPr>
            <a:r>
              <a:rPr lang="en-US" sz="1400" dirty="0">
                <a:solidFill>
                  <a:schemeClr val="tx1"/>
                </a:solidFill>
              </a:rPr>
              <a:t>switchModel() advances to the next candidate and retries the same message — up to 8 attempts, then a friendly “try again in a minute”.</a:t>
            </a:r>
            <a:endParaRPr lang="en-US" sz="1400" dirty="0"/>
          </a:p>
        </p:txBody>
      </p:sp>
      <p:sp>
        <p:nvSpPr>
          <p:cNvPr id="36" name="rel-card"/>
          <p:cNvSpPr/>
          <p:nvPr/>
        </p:nvSpPr>
        <p:spPr>
          <a:xfrm>
            <a:off x="5349240" y="4480560"/>
            <a:ext cx="6291072" cy="1783080"/>
          </a:xfrm>
          <a:prstGeom prst="roundRect">
            <a:avLst>
              <a:gd name="adj" fmla="val 4103"/>
            </a:avLst>
          </a:prstGeom>
          <a:solidFill>
            <a:schemeClr val="bg2"/>
          </a:solidFill>
          <a:ln w="9525">
            <a:solidFill>
              <a:schemeClr val="accent3"/>
            </a:solidFill>
            <a:prstDash val="solid"/>
          </a:ln>
        </p:spPr>
      </p:sp>
      <p:sp>
        <p:nvSpPr>
          <p:cNvPr id="37" name="Text 34"/>
          <p:cNvSpPr txBox="1"/>
          <p:nvPr/>
        </p:nvSpPr>
        <p:spPr>
          <a:xfrm>
            <a:off x="5623560" y="4636008"/>
            <a:ext cx="548640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OTHER SAFETY NETS</a:t>
            </a:r>
            <a:endParaRPr lang="en-US" sz="1000" dirty="0"/>
          </a:p>
        </p:txBody>
      </p:sp>
      <p:sp>
        <p:nvSpPr>
          <p:cNvPr id="38" name="Text 35"/>
          <p:cNvSpPr txBox="1"/>
          <p:nvPr/>
        </p:nvSpPr>
        <p:spPr>
          <a:xfrm>
            <a:off x="5623560" y="4937760"/>
            <a:ext cx="5760720" cy="1234440"/>
          </a:xfrm>
          <a:prstGeom prst="rect">
            <a:avLst/>
          </a:prstGeom>
          <a:noFill/>
          <a:ln/>
        </p:spPr>
        <p:txBody>
          <a:bodyPr wrap="square" lIns="0" tIns="0" rIns="0" bIns="0" rtlCol="0" anchor="t"/>
          <a:lstStyle/>
          <a:p>
            <a:pPr indent="0" marL="0">
              <a:buNone/>
            </a:pPr>
            <a:r>
              <a:rPr lang="en-US" sz="1400" dirty="0">
                <a:solidFill>
                  <a:schemeClr val="tx1"/>
                </a:solidFill>
              </a:rPr>
              <a:t>Every tool call is wrapped in try/catch and failures go back to the model to try an alternative. History is capped at the last 20 messages. The active model shows live in the orb status tag.</a:t>
            </a:r>
            <a:endParaRPr lang="en-US" sz="1400" dirty="0"/>
          </a:p>
        </p:txBody>
      </p:sp>
      <p:sp>
        <p:nvSpPr>
          <p:cNvPr id="25" name="Slide Number Placeholder 0"/>
          <p:cNvSpPr>
            <a:spLocks noGrp="1"/>
          </p:cNvSpPr>
          <p:nvPr>
            <p:ph type="sldNum" sz="quarter" idx="4294967295"/>
          </p:nvPr>
        </p:nvSpPr>
        <p:spPr>
          <a:xfrm>
            <a:off x="10972800" y="6437376"/>
            <a:ext cx="667512"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t"/>
          <a:lstStyle/>
          <a:p>
            <a:pPr indent="0" marL="0">
              <a:buNone/>
            </a:pPr>
            <a:r>
              <a:rPr lang="en-US" sz="1100" b="1" spc="300" kern="0" dirty="0">
                <a:solidFill>
                  <a:schemeClr val="accent1"/>
                </a:solidFill>
              </a:rPr>
              <a:t>USER EXPERIENCE</a:t>
            </a:r>
            <a:endParaRPr lang="en-US" sz="1100" dirty="0"/>
          </a:p>
        </p:txBody>
      </p:sp>
      <p:sp>
        <p:nvSpPr>
          <p:cNvPr id="3" name="Text 0"/>
          <p:cNvSpPr/>
          <p:nvPr>
            <p:ph idx="101" type="title" hasCustomPrompt="1"/>
          </p:nvPr>
        </p:nvSpPr>
        <p:spPr>
          <a:xfrm>
            <a:off x="548640" y="640080"/>
            <a:ext cx="11091672" cy="685800"/>
          </a:xfrm>
          <a:prstGeom prst="rect">
            <a:avLst/>
          </a:prstGeom>
          <a:noFill/>
          <a:ln/>
        </p:spPr>
        <p:txBody>
          <a:bodyPr wrap="square" lIns="0" tIns="0" rIns="0" bIns="0" rtlCol="0" anchor="t"/>
          <a:lstStyle/>
          <a:p>
            <a:pPr algn="l" indent="0" marL="0">
              <a:buNone/>
            </a:pPr>
            <a:r>
              <a:rPr lang="en-US" sz="3400" b="1" dirty="0">
                <a:solidFill>
                  <a:schemeClr val="tx1"/>
                </a:solidFill>
              </a:rPr>
              <a:t>Voice, Orb &amp; Always-On Desktop Presence</a:t>
            </a:r>
            <a:endParaRPr lang="en-US" sz="3400" dirty="0"/>
          </a:p>
        </p:txBody>
      </p:sp>
      <p:sp>
        <p:nvSpPr>
          <p:cNvPr id="5" name="mock-window"/>
          <p:cNvSpPr/>
          <p:nvPr/>
        </p:nvSpPr>
        <p:spPr>
          <a:xfrm>
            <a:off x="548640" y="1554480"/>
            <a:ext cx="5943600" cy="4663440"/>
          </a:xfrm>
          <a:prstGeom prst="roundRect">
            <a:avLst>
              <a:gd name="adj" fmla="val 1961"/>
            </a:avLst>
          </a:prstGeom>
          <a:solidFill>
            <a:srgbClr val="05080F"/>
          </a:solidFill>
          <a:ln w="12700">
            <a:solidFill>
              <a:srgbClr val="1E2A3F"/>
            </a:solidFill>
            <a:prstDash val="solid"/>
          </a:ln>
        </p:spPr>
      </p:sp>
      <p:sp>
        <p:nvSpPr>
          <p:cNvPr id="6" name="Text 3"/>
          <p:cNvSpPr txBox="1"/>
          <p:nvPr/>
        </p:nvSpPr>
        <p:spPr>
          <a:xfrm>
            <a:off x="822960" y="1682496"/>
            <a:ext cx="1828800" cy="274320"/>
          </a:xfrm>
          <a:prstGeom prst="rect">
            <a:avLst/>
          </a:prstGeom>
          <a:noFill/>
          <a:ln/>
        </p:spPr>
        <p:txBody>
          <a:bodyPr wrap="square" lIns="0" tIns="0" rIns="0" bIns="0" rtlCol="0" anchor="t"/>
          <a:lstStyle/>
          <a:p>
            <a:pPr indent="0" marL="0">
              <a:buNone/>
            </a:pPr>
            <a:r>
              <a:rPr lang="en-US" sz="1200" b="1" spc="300" kern="0" dirty="0">
                <a:solidFill>
                  <a:srgbClr val="00E5FF"/>
                </a:solidFill>
              </a:rPr>
              <a:t>ULTRON</a:t>
            </a:r>
            <a:endParaRPr lang="en-US" sz="1200" dirty="0"/>
          </a:p>
        </p:txBody>
      </p:sp>
      <p:sp>
        <p:nvSpPr>
          <p:cNvPr id="7" name="Text 4"/>
          <p:cNvSpPr txBox="1"/>
          <p:nvPr/>
        </p:nvSpPr>
        <p:spPr>
          <a:xfrm>
            <a:off x="5120640" y="1682496"/>
            <a:ext cx="1188720" cy="274320"/>
          </a:xfrm>
          <a:prstGeom prst="rect">
            <a:avLst/>
          </a:prstGeom>
          <a:noFill/>
          <a:ln/>
        </p:spPr>
        <p:txBody>
          <a:bodyPr wrap="square" lIns="0" tIns="0" rIns="0" bIns="0" rtlCol="0" anchor="t"/>
          <a:lstStyle/>
          <a:p>
            <a:pPr algn="r" indent="0" marL="0">
              <a:buNone/>
            </a:pPr>
            <a:r>
              <a:rPr lang="en-US" sz="1200" dirty="0">
                <a:solidFill>
                  <a:srgbClr val="7A8BA3"/>
                </a:solidFill>
              </a:rPr>
              <a:t>─   ▣   ✕</a:t>
            </a:r>
            <a:endParaRPr lang="en-US" sz="1200" dirty="0"/>
          </a:p>
        </p:txBody>
      </p:sp>
      <p:sp>
        <p:nvSpPr>
          <p:cNvPr id="8" name="mock-orb-shell"/>
          <p:cNvSpPr/>
          <p:nvPr/>
        </p:nvSpPr>
        <p:spPr>
          <a:xfrm>
            <a:off x="1280160" y="2788920"/>
            <a:ext cx="1737360" cy="1737360"/>
          </a:xfrm>
          <a:prstGeom prst="ellipse">
            <a:avLst/>
          </a:prstGeom>
          <a:ln w="15875">
            <a:solidFill>
              <a:srgbClr val="7B61FF">
                <a:alpha val="40000"/>
              </a:srgbClr>
            </a:solidFill>
            <a:prstDash val="solid"/>
          </a:ln>
        </p:spPr>
      </p:sp>
      <p:sp>
        <p:nvSpPr>
          <p:cNvPr id="9" name="mock-orb-shell"/>
          <p:cNvSpPr/>
          <p:nvPr/>
        </p:nvSpPr>
        <p:spPr>
          <a:xfrm>
            <a:off x="1485900" y="2994660"/>
            <a:ext cx="1325880" cy="1325880"/>
          </a:xfrm>
          <a:prstGeom prst="ellipse">
            <a:avLst/>
          </a:prstGeom>
          <a:ln w="15875">
            <a:solidFill>
              <a:srgbClr val="00E5FF">
                <a:alpha val="60000"/>
              </a:srgbClr>
            </a:solidFill>
            <a:prstDash val="solid"/>
          </a:ln>
        </p:spPr>
      </p:sp>
      <p:sp>
        <p:nvSpPr>
          <p:cNvPr id="10" name="mock-orb-core"/>
          <p:cNvSpPr/>
          <p:nvPr/>
        </p:nvSpPr>
        <p:spPr>
          <a:xfrm>
            <a:off x="1645920" y="3154680"/>
            <a:ext cx="1005840" cy="1005840"/>
          </a:xfrm>
          <a:prstGeom prst="ellipse">
            <a:avLst/>
          </a:prstGeom>
          <a:ln w="19050">
            <a:solidFill>
              <a:srgbClr val="00E5FF"/>
            </a:solidFill>
            <a:prstDash val="solid"/>
          </a:ln>
        </p:spPr>
      </p:sp>
      <p:sp>
        <p:nvSpPr>
          <p:cNvPr id="11" name="mock-orb-light"/>
          <p:cNvSpPr/>
          <p:nvPr/>
        </p:nvSpPr>
        <p:spPr>
          <a:xfrm>
            <a:off x="1993392" y="3502152"/>
            <a:ext cx="310896" cy="310896"/>
          </a:xfrm>
          <a:prstGeom prst="ellipse">
            <a:avLst/>
          </a:prstGeom>
          <a:solidFill>
            <a:srgbClr val="FFFFFF"/>
          </a:solidFill>
          <a:ln/>
        </p:spPr>
      </p:sp>
      <p:sp>
        <p:nvSpPr>
          <p:cNvPr id="12" name="mock-status-dot"/>
          <p:cNvSpPr/>
          <p:nvPr/>
        </p:nvSpPr>
        <p:spPr>
          <a:xfrm>
            <a:off x="1051560" y="5367528"/>
            <a:ext cx="146304" cy="146304"/>
          </a:xfrm>
          <a:prstGeom prst="ellipse">
            <a:avLst/>
          </a:prstGeom>
          <a:solidFill>
            <a:schemeClr val="accent5"/>
          </a:solidFill>
          <a:ln/>
        </p:spPr>
      </p:sp>
      <p:sp>
        <p:nvSpPr>
          <p:cNvPr id="13" name="Text 10"/>
          <p:cNvSpPr txBox="1"/>
          <p:nvPr/>
        </p:nvSpPr>
        <p:spPr>
          <a:xfrm>
            <a:off x="1298448" y="5285232"/>
            <a:ext cx="2560320" cy="310896"/>
          </a:xfrm>
          <a:prstGeom prst="rect">
            <a:avLst/>
          </a:prstGeom>
          <a:noFill/>
          <a:ln/>
        </p:spPr>
        <p:txBody>
          <a:bodyPr wrap="square" lIns="0" tIns="0" rIns="0" bIns="0" rtlCol="0" anchor="ctr"/>
          <a:lstStyle/>
          <a:p>
            <a:pPr indent="0" marL="0">
              <a:buNone/>
            </a:pPr>
            <a:r>
              <a:rPr lang="en-US" sz="1200" dirty="0">
                <a:solidFill>
                  <a:srgbClr val="7A8BA3"/>
                </a:solidFill>
              </a:rPr>
              <a:t>idle   gemini-2.0-flash</a:t>
            </a:r>
            <a:endParaRPr lang="en-US" sz="1200" dirty="0"/>
          </a:p>
        </p:txBody>
      </p:sp>
      <p:sp>
        <p:nvSpPr>
          <p:cNvPr id="14" name="mock-chat"/>
          <p:cNvSpPr/>
          <p:nvPr/>
        </p:nvSpPr>
        <p:spPr>
          <a:xfrm>
            <a:off x="3794760" y="2103120"/>
            <a:ext cx="2514600" cy="3931920"/>
          </a:xfrm>
          <a:prstGeom prst="roundRect">
            <a:avLst>
              <a:gd name="adj" fmla="val 2182"/>
            </a:avLst>
          </a:prstGeom>
          <a:solidFill>
            <a:srgbClr val="0A1220"/>
          </a:solidFill>
          <a:ln w="9525">
            <a:solidFill>
              <a:srgbClr val="1E2A3F"/>
            </a:solidFill>
            <a:prstDash val="solid"/>
          </a:ln>
        </p:spPr>
      </p:sp>
      <p:sp>
        <p:nvSpPr>
          <p:cNvPr id="15" name="mock-user-bubble"/>
          <p:cNvSpPr/>
          <p:nvPr/>
        </p:nvSpPr>
        <p:spPr>
          <a:xfrm>
            <a:off x="4251960" y="2286000"/>
            <a:ext cx="1920240" cy="457200"/>
          </a:xfrm>
          <a:prstGeom prst="roundRect">
            <a:avLst>
              <a:gd name="adj" fmla="val 12000"/>
            </a:avLst>
          </a:prstGeom>
          <a:solidFill>
            <a:srgbClr val="123B4A"/>
          </a:solidFill>
          <a:ln/>
        </p:spPr>
      </p:sp>
      <p:sp>
        <p:nvSpPr>
          <p:cNvPr id="16" name="Text 13"/>
          <p:cNvSpPr txBox="1"/>
          <p:nvPr/>
        </p:nvSpPr>
        <p:spPr>
          <a:xfrm>
            <a:off x="4343400" y="2286000"/>
            <a:ext cx="1783080" cy="457200"/>
          </a:xfrm>
          <a:prstGeom prst="rect">
            <a:avLst/>
          </a:prstGeom>
          <a:noFill/>
          <a:ln/>
        </p:spPr>
        <p:txBody>
          <a:bodyPr wrap="square" lIns="0" tIns="0" rIns="0" bIns="0" rtlCol="0" anchor="ctr"/>
          <a:lstStyle/>
          <a:p>
            <a:pPr indent="0" marL="0">
              <a:buNone/>
            </a:pPr>
            <a:r>
              <a:rPr lang="en-US" sz="1200" dirty="0">
                <a:solidFill>
                  <a:srgbClr val="E8F4FF"/>
                </a:solidFill>
              </a:rPr>
              <a:t>Chrome open చెయ్</a:t>
            </a:r>
            <a:endParaRPr lang="en-US" sz="1200" dirty="0"/>
          </a:p>
        </p:txBody>
      </p:sp>
      <p:sp>
        <p:nvSpPr>
          <p:cNvPr id="17" name="mock-bot-bubble"/>
          <p:cNvSpPr/>
          <p:nvPr/>
        </p:nvSpPr>
        <p:spPr>
          <a:xfrm>
            <a:off x="3931920" y="2926080"/>
            <a:ext cx="1920240" cy="868680"/>
          </a:xfrm>
          <a:prstGeom prst="roundRect">
            <a:avLst>
              <a:gd name="adj" fmla="val 6316"/>
            </a:avLst>
          </a:prstGeom>
          <a:solidFill>
            <a:srgbClr val="151F33"/>
          </a:solidFill>
          <a:ln/>
        </p:spPr>
      </p:sp>
      <p:sp>
        <p:nvSpPr>
          <p:cNvPr id="18" name="Text 15"/>
          <p:cNvSpPr txBox="1"/>
          <p:nvPr/>
        </p:nvSpPr>
        <p:spPr>
          <a:xfrm>
            <a:off x="4023360" y="2926080"/>
            <a:ext cx="1783080" cy="868680"/>
          </a:xfrm>
          <a:prstGeom prst="rect">
            <a:avLst/>
          </a:prstGeom>
          <a:noFill/>
          <a:ln/>
        </p:spPr>
        <p:txBody>
          <a:bodyPr wrap="square" lIns="0" tIns="0" rIns="0" bIns="0" rtlCol="0" anchor="ctr"/>
          <a:lstStyle/>
          <a:p>
            <a:pPr indent="0" marL="0">
              <a:buNone/>
            </a:pPr>
            <a:r>
              <a:rPr lang="en-US" sz="1200" dirty="0">
                <a:solidFill>
                  <a:srgbClr val="E8F4FF"/>
                </a:solidFill>
              </a:rPr>
              <a:t>Opened chrome.</a:t>
            </a:r>
            <a:endParaRPr lang="en-US" sz="1200" dirty="0"/>
          </a:p>
          <a:p>
            <a:pPr indent="0" marL="0">
              <a:buNone/>
            </a:pPr>
            <a:r>
              <a:rPr lang="en-US" sz="1100" dirty="0">
                <a:solidFill>
                  <a:srgbClr val="00E5FF"/>
                </a:solidFill>
              </a:rPr>
              <a:t>Tools: open_app</a:t>
            </a:r>
            <a:endParaRPr lang="en-US" sz="1200" dirty="0"/>
          </a:p>
        </p:txBody>
      </p:sp>
      <p:sp>
        <p:nvSpPr>
          <p:cNvPr id="19" name="mock-input"/>
          <p:cNvSpPr/>
          <p:nvPr/>
        </p:nvSpPr>
        <p:spPr>
          <a:xfrm>
            <a:off x="3931920" y="5440680"/>
            <a:ext cx="2240280" cy="457200"/>
          </a:xfrm>
          <a:prstGeom prst="roundRect">
            <a:avLst>
              <a:gd name="adj" fmla="val 12000"/>
            </a:avLst>
          </a:prstGeom>
          <a:solidFill>
            <a:srgbClr val="05080F"/>
          </a:solidFill>
          <a:ln w="9525">
            <a:solidFill>
              <a:srgbClr val="1E2A3F"/>
            </a:solidFill>
            <a:prstDash val="solid"/>
          </a:ln>
        </p:spPr>
      </p:sp>
      <p:sp>
        <p:nvSpPr>
          <p:cNvPr id="20" name="mock-mic"/>
          <p:cNvSpPr/>
          <p:nvPr/>
        </p:nvSpPr>
        <p:spPr>
          <a:xfrm>
            <a:off x="4005072" y="5513832"/>
            <a:ext cx="310896" cy="310896"/>
          </a:xfrm>
          <a:prstGeom prst="ellipse">
            <a:avLst/>
          </a:prstGeom>
          <a:solidFill>
            <a:srgbClr val="7B61FF"/>
          </a:solidFill>
          <a:ln/>
        </p:spPr>
      </p:sp>
      <p:sp>
        <p:nvSpPr>
          <p:cNvPr id="21" name="Text 18"/>
          <p:cNvSpPr txBox="1"/>
          <p:nvPr/>
        </p:nvSpPr>
        <p:spPr>
          <a:xfrm>
            <a:off x="4407408" y="5440680"/>
            <a:ext cx="1645920" cy="457200"/>
          </a:xfrm>
          <a:prstGeom prst="rect">
            <a:avLst/>
          </a:prstGeom>
          <a:noFill/>
          <a:ln/>
        </p:spPr>
        <p:txBody>
          <a:bodyPr wrap="square" lIns="0" tIns="0" rIns="0" bIns="0" rtlCol="0" anchor="ctr"/>
          <a:lstStyle/>
          <a:p>
            <a:pPr indent="0" marL="0">
              <a:buNone/>
            </a:pPr>
            <a:r>
              <a:rPr lang="en-US" sz="1100" dirty="0">
                <a:solidFill>
                  <a:srgbClr val="7A8BA3"/>
                </a:solidFill>
              </a:rPr>
              <a:t>Command…</a:t>
            </a:r>
            <a:endParaRPr lang="en-US" sz="1100" dirty="0"/>
          </a:p>
        </p:txBody>
      </p:sp>
      <p:sp>
        <p:nvSpPr>
          <p:cNvPr id="22" name="Text 19"/>
          <p:cNvSpPr txBox="1"/>
          <p:nvPr/>
        </p:nvSpPr>
        <p:spPr>
          <a:xfrm>
            <a:off x="822960" y="5779008"/>
            <a:ext cx="2926080" cy="274320"/>
          </a:xfrm>
          <a:prstGeom prst="rect">
            <a:avLst/>
          </a:prstGeom>
          <a:noFill/>
          <a:ln/>
        </p:spPr>
        <p:txBody>
          <a:bodyPr wrap="square" lIns="0" tIns="0" rIns="0" bIns="0" rtlCol="0" anchor="t"/>
          <a:lstStyle/>
          <a:p>
            <a:pPr indent="0" marL="0">
              <a:buNone/>
            </a:pPr>
            <a:r>
              <a:rPr lang="en-US" sz="1000" dirty="0">
                <a:solidFill>
                  <a:srgbClr val="7A8BA3"/>
                </a:solidFill>
              </a:rPr>
              <a:t>Mock-up of the v2 window (actual UI palette)</a:t>
            </a:r>
            <a:endParaRPr lang="en-US" sz="1000" dirty="0"/>
          </a:p>
        </p:txBody>
      </p:sp>
      <p:sp>
        <p:nvSpPr>
          <p:cNvPr id="23" name="ux-card"/>
          <p:cNvSpPr/>
          <p:nvPr/>
        </p:nvSpPr>
        <p:spPr>
          <a:xfrm>
            <a:off x="6766560" y="1554480"/>
            <a:ext cx="4873752" cy="1051560"/>
          </a:xfrm>
          <a:prstGeom prst="roundRect">
            <a:avLst>
              <a:gd name="adj" fmla="val 6957"/>
            </a:avLst>
          </a:prstGeom>
          <a:solidFill>
            <a:schemeClr val="bg2"/>
          </a:solidFill>
          <a:ln w="9525">
            <a:solidFill>
              <a:schemeClr val="accent3"/>
            </a:solidFill>
            <a:prstDash val="solid"/>
          </a:ln>
        </p:spPr>
      </p:sp>
      <p:sp>
        <p:nvSpPr>
          <p:cNvPr id="24" name="icon-circle"/>
          <p:cNvSpPr/>
          <p:nvPr/>
        </p:nvSpPr>
        <p:spPr>
          <a:xfrm>
            <a:off x="6949440" y="1801368"/>
            <a:ext cx="548640" cy="548640"/>
          </a:xfrm>
          <a:prstGeom prst="ellipse">
            <a:avLst/>
          </a:prstGeom>
          <a:solidFill>
            <a:schemeClr val="accent4"/>
          </a:solidFill>
          <a:ln w="9525">
            <a:solidFill>
              <a:schemeClr val="accent3"/>
            </a:solidFill>
            <a:prstDash val="solid"/>
          </a:ln>
        </p:spPr>
      </p:sp>
      <p:pic>
        <p:nvPicPr>
          <p:cNvPr id="25" name="Image 0" descr="Mic icon">    </p:cNvPr>
          <p:cNvPicPr>
            <a:picLocks noChangeAspect="1"/>
          </p:cNvPicPr>
          <p:nvPr/>
        </p:nvPicPr>
        <p:blipFill>
          <a:blip r:embed="rId1"/>
          <a:stretch>
            <a:fillRect/>
          </a:stretch>
        </p:blipFill>
        <p:spPr>
          <a:xfrm>
            <a:off x="7081114" y="1933042"/>
            <a:ext cx="285293" cy="285293"/>
          </a:xfrm>
          <a:prstGeom prst="rect">
            <a:avLst/>
          </a:prstGeom>
        </p:spPr>
      </p:pic>
      <p:sp>
        <p:nvSpPr>
          <p:cNvPr id="26" name="Text 22"/>
          <p:cNvSpPr txBox="1"/>
          <p:nvPr/>
        </p:nvSpPr>
        <p:spPr>
          <a:xfrm>
            <a:off x="7680960" y="1682496"/>
            <a:ext cx="3840480" cy="32004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Live voice commands</a:t>
            </a:r>
            <a:endParaRPr lang="en-US" sz="1600" dirty="0"/>
          </a:p>
        </p:txBody>
      </p:sp>
      <p:sp>
        <p:nvSpPr>
          <p:cNvPr id="27" name="Text 23"/>
          <p:cNvSpPr txBox="1"/>
          <p:nvPr/>
        </p:nvSpPr>
        <p:spPr>
          <a:xfrm>
            <a:off x="7680960" y="2011680"/>
            <a:ext cx="3840480" cy="566928"/>
          </a:xfrm>
          <a:prstGeom prst="rect">
            <a:avLst/>
          </a:prstGeom>
          <a:noFill/>
          <a:ln/>
        </p:spPr>
        <p:txBody>
          <a:bodyPr wrap="square" lIns="0" tIns="0" rIns="0" bIns="0" rtlCol="0" anchor="t"/>
          <a:lstStyle/>
          <a:p>
            <a:pPr indent="0" marL="0">
              <a:buNone/>
            </a:pPr>
            <a:r>
              <a:rPr lang="en-US" sz="1300" dirty="0">
                <a:solidFill>
                  <a:schemeClr val="tx2"/>
                </a:solidFill>
              </a:rPr>
              <a:t>Web Speech API (en-IN) streams interim subtitles and auto-sends the final phrase.</a:t>
            </a:r>
            <a:endParaRPr lang="en-US" sz="1300" dirty="0"/>
          </a:p>
        </p:txBody>
      </p:sp>
      <p:sp>
        <p:nvSpPr>
          <p:cNvPr id="28" name="ux-card"/>
          <p:cNvSpPr/>
          <p:nvPr/>
        </p:nvSpPr>
        <p:spPr>
          <a:xfrm>
            <a:off x="6766560" y="2743200"/>
            <a:ext cx="4873752" cy="1051560"/>
          </a:xfrm>
          <a:prstGeom prst="roundRect">
            <a:avLst>
              <a:gd name="adj" fmla="val 6957"/>
            </a:avLst>
          </a:prstGeom>
          <a:solidFill>
            <a:schemeClr val="bg2"/>
          </a:solidFill>
          <a:ln w="9525">
            <a:solidFill>
              <a:schemeClr val="accent3"/>
            </a:solidFill>
            <a:prstDash val="solid"/>
          </a:ln>
        </p:spPr>
      </p:sp>
      <p:sp>
        <p:nvSpPr>
          <p:cNvPr id="29" name="icon-circle"/>
          <p:cNvSpPr/>
          <p:nvPr/>
        </p:nvSpPr>
        <p:spPr>
          <a:xfrm>
            <a:off x="6949440" y="2990088"/>
            <a:ext cx="548640" cy="548640"/>
          </a:xfrm>
          <a:prstGeom prst="ellipse">
            <a:avLst/>
          </a:prstGeom>
          <a:solidFill>
            <a:schemeClr val="accent4"/>
          </a:solidFill>
          <a:ln w="9525">
            <a:solidFill>
              <a:schemeClr val="accent3"/>
            </a:solidFill>
            <a:prstDash val="solid"/>
          </a:ln>
        </p:spPr>
      </p:sp>
      <p:pic>
        <p:nvPicPr>
          <p:cNvPr id="30" name="Image 1" descr="Eye icon">    </p:cNvPr>
          <p:cNvPicPr>
            <a:picLocks noChangeAspect="1"/>
          </p:cNvPicPr>
          <p:nvPr/>
        </p:nvPicPr>
        <p:blipFill>
          <a:blip r:embed="rId2"/>
          <a:stretch>
            <a:fillRect/>
          </a:stretch>
        </p:blipFill>
        <p:spPr>
          <a:xfrm>
            <a:off x="7081114" y="3121762"/>
            <a:ext cx="285293" cy="285293"/>
          </a:xfrm>
          <a:prstGeom prst="rect">
            <a:avLst/>
          </a:prstGeom>
        </p:spPr>
      </p:pic>
      <p:sp>
        <p:nvSpPr>
          <p:cNvPr id="31" name="Text 26"/>
          <p:cNvSpPr txBox="1"/>
          <p:nvPr/>
        </p:nvSpPr>
        <p:spPr>
          <a:xfrm>
            <a:off x="7680960" y="2871216"/>
            <a:ext cx="3840480" cy="32004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Transparent tool trail</a:t>
            </a:r>
            <a:endParaRPr lang="en-US" sz="1600" dirty="0"/>
          </a:p>
        </p:txBody>
      </p:sp>
      <p:sp>
        <p:nvSpPr>
          <p:cNvPr id="32" name="Text 27"/>
          <p:cNvSpPr txBox="1"/>
          <p:nvPr/>
        </p:nvSpPr>
        <p:spPr>
          <a:xfrm>
            <a:off x="7680960" y="3200400"/>
            <a:ext cx="3840480" cy="566928"/>
          </a:xfrm>
          <a:prstGeom prst="rect">
            <a:avLst/>
          </a:prstGeom>
          <a:noFill/>
          <a:ln/>
        </p:spPr>
        <p:txBody>
          <a:bodyPr wrap="square" lIns="0" tIns="0" rIns="0" bIns="0" rtlCol="0" anchor="t"/>
          <a:lstStyle/>
          <a:p>
            <a:pPr indent="0" marL="0">
              <a:buNone/>
            </a:pPr>
            <a:r>
              <a:rPr lang="en-US" sz="1300" dirty="0">
                <a:solidFill>
                  <a:schemeClr val="tx2"/>
                </a:solidFill>
              </a:rPr>
              <a:t>Every reply lists the tools it used, so no action is hidden from the user.</a:t>
            </a:r>
            <a:endParaRPr lang="en-US" sz="1300" dirty="0"/>
          </a:p>
        </p:txBody>
      </p:sp>
      <p:sp>
        <p:nvSpPr>
          <p:cNvPr id="33" name="ux-card"/>
          <p:cNvSpPr/>
          <p:nvPr/>
        </p:nvSpPr>
        <p:spPr>
          <a:xfrm>
            <a:off x="6766560" y="3931920"/>
            <a:ext cx="4873752" cy="1051560"/>
          </a:xfrm>
          <a:prstGeom prst="roundRect">
            <a:avLst>
              <a:gd name="adj" fmla="val 6957"/>
            </a:avLst>
          </a:prstGeom>
          <a:solidFill>
            <a:schemeClr val="bg2"/>
          </a:solidFill>
          <a:ln w="9525">
            <a:solidFill>
              <a:schemeClr val="accent3"/>
            </a:solidFill>
            <a:prstDash val="solid"/>
          </a:ln>
        </p:spPr>
      </p:sp>
      <p:sp>
        <p:nvSpPr>
          <p:cNvPr id="34" name="icon-circle"/>
          <p:cNvSpPr/>
          <p:nvPr/>
        </p:nvSpPr>
        <p:spPr>
          <a:xfrm>
            <a:off x="6949440" y="4178808"/>
            <a:ext cx="548640" cy="548640"/>
          </a:xfrm>
          <a:prstGeom prst="ellipse">
            <a:avLst/>
          </a:prstGeom>
          <a:solidFill>
            <a:schemeClr val="accent4"/>
          </a:solidFill>
          <a:ln w="9525">
            <a:solidFill>
              <a:schemeClr val="accent3"/>
            </a:solidFill>
            <a:prstDash val="solid"/>
          </a:ln>
        </p:spPr>
      </p:sp>
      <p:pic>
        <p:nvPicPr>
          <p:cNvPr id="35" name="Image 2" descr="Layers icon">    </p:cNvPr>
          <p:cNvPicPr>
            <a:picLocks noChangeAspect="1"/>
          </p:cNvPicPr>
          <p:nvPr/>
        </p:nvPicPr>
        <p:blipFill>
          <a:blip r:embed="rId3"/>
          <a:stretch>
            <a:fillRect/>
          </a:stretch>
        </p:blipFill>
        <p:spPr>
          <a:xfrm>
            <a:off x="7081114" y="4310482"/>
            <a:ext cx="285293" cy="285293"/>
          </a:xfrm>
          <a:prstGeom prst="rect">
            <a:avLst/>
          </a:prstGeom>
        </p:spPr>
      </p:pic>
      <p:sp>
        <p:nvSpPr>
          <p:cNvPr id="36" name="Text 30"/>
          <p:cNvSpPr txBox="1"/>
          <p:nvPr/>
        </p:nvSpPr>
        <p:spPr>
          <a:xfrm>
            <a:off x="7680960" y="4059936"/>
            <a:ext cx="3840480" cy="32004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Always-on tray app</a:t>
            </a:r>
            <a:endParaRPr lang="en-US" sz="1600" dirty="0"/>
          </a:p>
        </p:txBody>
      </p:sp>
      <p:sp>
        <p:nvSpPr>
          <p:cNvPr id="37" name="Text 31"/>
          <p:cNvSpPr txBox="1"/>
          <p:nvPr/>
        </p:nvSpPr>
        <p:spPr>
          <a:xfrm>
            <a:off x="7680960" y="4389120"/>
            <a:ext cx="3840480" cy="566928"/>
          </a:xfrm>
          <a:prstGeom prst="rect">
            <a:avLst/>
          </a:prstGeom>
          <a:noFill/>
          <a:ln/>
        </p:spPr>
        <p:txBody>
          <a:bodyPr wrap="square" lIns="0" tIns="0" rIns="0" bIns="0" rtlCol="0" anchor="t"/>
          <a:lstStyle/>
          <a:p>
            <a:pPr indent="0" marL="0">
              <a:buNone/>
            </a:pPr>
            <a:r>
              <a:rPr lang="en-US" sz="1300" dirty="0">
                <a:solidFill>
                  <a:schemeClr val="tx2"/>
                </a:solidFill>
              </a:rPr>
              <a:t>Frameless window, hide to tray, Ctrl + Shift + U toggles it from anywhere.</a:t>
            </a:r>
            <a:endParaRPr lang="en-US" sz="1300" dirty="0"/>
          </a:p>
        </p:txBody>
      </p:sp>
      <p:sp>
        <p:nvSpPr>
          <p:cNvPr id="38" name="ux-card"/>
          <p:cNvSpPr/>
          <p:nvPr/>
        </p:nvSpPr>
        <p:spPr>
          <a:xfrm>
            <a:off x="6766560" y="5120640"/>
            <a:ext cx="4873752" cy="1051560"/>
          </a:xfrm>
          <a:prstGeom prst="roundRect">
            <a:avLst>
              <a:gd name="adj" fmla="val 6957"/>
            </a:avLst>
          </a:prstGeom>
          <a:solidFill>
            <a:schemeClr val="bg2"/>
          </a:solidFill>
          <a:ln w="9525">
            <a:solidFill>
              <a:schemeClr val="accent3"/>
            </a:solidFill>
            <a:prstDash val="solid"/>
          </a:ln>
        </p:spPr>
      </p:sp>
      <p:sp>
        <p:nvSpPr>
          <p:cNvPr id="39" name="icon-circle"/>
          <p:cNvSpPr/>
          <p:nvPr/>
        </p:nvSpPr>
        <p:spPr>
          <a:xfrm>
            <a:off x="6949440" y="5367528"/>
            <a:ext cx="548640" cy="548640"/>
          </a:xfrm>
          <a:prstGeom prst="ellipse">
            <a:avLst/>
          </a:prstGeom>
          <a:solidFill>
            <a:schemeClr val="accent4"/>
          </a:solidFill>
          <a:ln w="9525">
            <a:solidFill>
              <a:schemeClr val="accent3"/>
            </a:solidFill>
            <a:prstDash val="solid"/>
          </a:ln>
        </p:spPr>
      </p:sp>
      <p:pic>
        <p:nvPicPr>
          <p:cNvPr id="40" name="Image 3" descr="Sparkles icon">    </p:cNvPr>
          <p:cNvPicPr>
            <a:picLocks noChangeAspect="1"/>
          </p:cNvPicPr>
          <p:nvPr/>
        </p:nvPicPr>
        <p:blipFill>
          <a:blip r:embed="rId4"/>
          <a:stretch>
            <a:fillRect/>
          </a:stretch>
        </p:blipFill>
        <p:spPr>
          <a:xfrm>
            <a:off x="7081114" y="5499202"/>
            <a:ext cx="285293" cy="285293"/>
          </a:xfrm>
          <a:prstGeom prst="rect">
            <a:avLst/>
          </a:prstGeom>
        </p:spPr>
      </p:pic>
      <p:sp>
        <p:nvSpPr>
          <p:cNvPr id="41" name="Text 34"/>
          <p:cNvSpPr txBox="1"/>
          <p:nvPr/>
        </p:nvSpPr>
        <p:spPr>
          <a:xfrm>
            <a:off x="7680960" y="5248656"/>
            <a:ext cx="3840480" cy="32004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Cinematic Three.js orb</a:t>
            </a:r>
            <a:endParaRPr lang="en-US" sz="1600" dirty="0"/>
          </a:p>
        </p:txBody>
      </p:sp>
      <p:sp>
        <p:nvSpPr>
          <p:cNvPr id="42" name="Text 35"/>
          <p:cNvSpPr txBox="1"/>
          <p:nvPr/>
        </p:nvSpPr>
        <p:spPr>
          <a:xfrm>
            <a:off x="7680960" y="5577840"/>
            <a:ext cx="3840480" cy="566928"/>
          </a:xfrm>
          <a:prstGeom prst="rect">
            <a:avLst/>
          </a:prstGeom>
          <a:noFill/>
          <a:ln/>
        </p:spPr>
        <p:txBody>
          <a:bodyPr wrap="square" lIns="0" tIns="0" rIns="0" bIns="0" rtlCol="0" anchor="t"/>
          <a:lstStyle/>
          <a:p>
            <a:pPr indent="0" marL="0">
              <a:buNone/>
            </a:pPr>
            <a:r>
              <a:rPr lang="en-US" sz="1300" dirty="0">
                <a:solidFill>
                  <a:schemeClr val="tx2"/>
                </a:solidFill>
              </a:rPr>
              <a:t>Wireframe core and shell, 400 particles, two rings and a pulsing light.</a:t>
            </a:r>
            <a:endParaRPr lang="en-US" sz="1300" dirty="0"/>
          </a:p>
        </p:txBody>
      </p:sp>
      <p:sp>
        <p:nvSpPr>
          <p:cNvPr id="25" name="Slide Number Placeholder 0"/>
          <p:cNvSpPr>
            <a:spLocks noGrp="1"/>
          </p:cNvSpPr>
          <p:nvPr>
            <p:ph type="sldNum" sz="quarter" idx="4294967295"/>
          </p:nvPr>
        </p:nvSpPr>
        <p:spPr>
          <a:xfrm>
            <a:off x="10972800" y="6437376"/>
            <a:ext cx="667512"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t"/>
          <a:lstStyle/>
          <a:p>
            <a:pPr indent="0" marL="0">
              <a:buNone/>
            </a:pPr>
            <a:r>
              <a:rPr lang="en-US" sz="1100" b="1" spc="300" kern="0" dirty="0">
                <a:solidFill>
                  <a:schemeClr val="accent1"/>
                </a:solidFill>
              </a:rPr>
              <a:t>DIFFERENTIATORS</a:t>
            </a:r>
            <a:endParaRPr lang="en-US" sz="1100" dirty="0"/>
          </a:p>
        </p:txBody>
      </p:sp>
      <p:sp>
        <p:nvSpPr>
          <p:cNvPr id="3" name="Text 0"/>
          <p:cNvSpPr/>
          <p:nvPr>
            <p:ph idx="101" type="title" hasCustomPrompt="1"/>
          </p:nvPr>
        </p:nvSpPr>
        <p:spPr>
          <a:xfrm>
            <a:off x="548640" y="640080"/>
            <a:ext cx="11091672" cy="685800"/>
          </a:xfrm>
          <a:prstGeom prst="rect">
            <a:avLst/>
          </a:prstGeom>
          <a:noFill/>
          <a:ln/>
        </p:spPr>
        <p:txBody>
          <a:bodyPr wrap="square" lIns="0" tIns="0" rIns="0" bIns="0" rtlCol="0" anchor="t"/>
          <a:lstStyle/>
          <a:p>
            <a:pPr algn="l" indent="0" marL="0">
              <a:buNone/>
            </a:pPr>
            <a:r>
              <a:rPr lang="en-US" sz="3400" b="1" dirty="0">
                <a:solidFill>
                  <a:schemeClr val="tx1"/>
                </a:solidFill>
              </a:rPr>
              <a:t>What Is Unique About ULTRON</a:t>
            </a:r>
            <a:endParaRPr lang="en-US" sz="3400" dirty="0"/>
          </a:p>
        </p:txBody>
      </p:sp>
      <p:sp>
        <p:nvSpPr>
          <p:cNvPr id="5" name="feature-card"/>
          <p:cNvSpPr/>
          <p:nvPr/>
        </p:nvSpPr>
        <p:spPr>
          <a:xfrm>
            <a:off x="548640" y="1554480"/>
            <a:ext cx="4206240" cy="4663440"/>
          </a:xfrm>
          <a:prstGeom prst="roundRect">
            <a:avLst>
              <a:gd name="adj" fmla="val 1739"/>
            </a:avLst>
          </a:prstGeom>
          <a:solidFill>
            <a:schemeClr val="accent4"/>
          </a:solidFill>
          <a:ln w="19050">
            <a:solidFill>
              <a:schemeClr val="accent1"/>
            </a:solidFill>
            <a:prstDash val="solid"/>
          </a:ln>
        </p:spPr>
      </p:sp>
      <p:sp>
        <p:nvSpPr>
          <p:cNvPr id="6" name="icon-circle"/>
          <p:cNvSpPr/>
          <p:nvPr/>
        </p:nvSpPr>
        <p:spPr>
          <a:xfrm>
            <a:off x="868680" y="1874520"/>
            <a:ext cx="822960" cy="822960"/>
          </a:xfrm>
          <a:prstGeom prst="ellipse">
            <a:avLst/>
          </a:prstGeom>
          <a:solidFill>
            <a:schemeClr val="bg1"/>
          </a:solidFill>
          <a:ln w="9525">
            <a:solidFill>
              <a:schemeClr val="accent1"/>
            </a:solidFill>
            <a:prstDash val="solid"/>
          </a:ln>
        </p:spPr>
      </p:sp>
      <p:pic>
        <p:nvPicPr>
          <p:cNvPr id="7" name="Image 0" descr="Target icon">    </p:cNvPr>
          <p:cNvPicPr>
            <a:picLocks noChangeAspect="1"/>
          </p:cNvPicPr>
          <p:nvPr/>
        </p:nvPicPr>
        <p:blipFill>
          <a:blip r:embed="rId1"/>
          <a:stretch>
            <a:fillRect/>
          </a:stretch>
        </p:blipFill>
        <p:spPr>
          <a:xfrm>
            <a:off x="1066190" y="2072030"/>
            <a:ext cx="427939" cy="427939"/>
          </a:xfrm>
          <a:prstGeom prst="rect">
            <a:avLst/>
          </a:prstGeom>
        </p:spPr>
      </p:pic>
      <p:sp>
        <p:nvSpPr>
          <p:cNvPr id="8" name="Text 4"/>
          <p:cNvSpPr txBox="1"/>
          <p:nvPr/>
        </p:nvSpPr>
        <p:spPr>
          <a:xfrm>
            <a:off x="868680" y="2926080"/>
            <a:ext cx="3611880" cy="914400"/>
          </a:xfrm>
          <a:prstGeom prst="rect">
            <a:avLst/>
          </a:prstGeom>
          <a:noFill/>
          <a:ln/>
        </p:spPr>
        <p:txBody>
          <a:bodyPr wrap="square" lIns="0" tIns="0" rIns="0" bIns="0" rtlCol="0" anchor="t"/>
          <a:lstStyle/>
          <a:p>
            <a:pPr indent="0" marL="0">
              <a:buNone/>
            </a:pPr>
            <a:r>
              <a:rPr lang="en-US" sz="2800" b="1" dirty="0">
                <a:solidFill>
                  <a:schemeClr val="tx1"/>
                </a:solidFill>
                <a:latin typeface="Cambria" pitchFamily="34" charset="0"/>
                <a:ea typeface="Cambria" pitchFamily="34" charset="-122"/>
                <a:cs typeface="Cambria" pitchFamily="34" charset="-120"/>
              </a:rPr>
              <a:t>Acts, not just answers</a:t>
            </a:r>
            <a:endParaRPr lang="en-US" sz="2800" dirty="0"/>
          </a:p>
        </p:txBody>
      </p:sp>
      <p:sp>
        <p:nvSpPr>
          <p:cNvPr id="9" name="Text 5"/>
          <p:cNvSpPr txBox="1"/>
          <p:nvPr/>
        </p:nvSpPr>
        <p:spPr>
          <a:xfrm>
            <a:off x="868680" y="3931920"/>
            <a:ext cx="3611880" cy="2103120"/>
          </a:xfrm>
          <a:prstGeom prst="rect">
            <a:avLst/>
          </a:prstGeom>
          <a:noFill/>
          <a:ln/>
        </p:spPr>
        <p:txBody>
          <a:bodyPr wrap="square" lIns="0" tIns="0" rIns="0" bIns="0" rtlCol="0" anchor="t"/>
          <a:lstStyle/>
          <a:p>
            <a:pPr indent="0" marL="0">
              <a:buNone/>
            </a:pPr>
            <a:r>
              <a:rPr lang="en-US" sz="1700" dirty="0">
                <a:solidFill>
                  <a:schemeClr val="tx1"/>
                </a:solidFill>
              </a:rPr>
              <a:t>Gemini function calling turns one sentence into real OS actions — opening, closing, typing, moving files — and the system prompt forbids merely describing them.</a:t>
            </a:r>
            <a:endParaRPr lang="en-US" sz="1700" dirty="0"/>
          </a:p>
        </p:txBody>
      </p:sp>
      <p:sp>
        <p:nvSpPr>
          <p:cNvPr id="10" name="unique-card"/>
          <p:cNvSpPr/>
          <p:nvPr/>
        </p:nvSpPr>
        <p:spPr>
          <a:xfrm>
            <a:off x="4983480" y="1554480"/>
            <a:ext cx="3200400" cy="2286000"/>
          </a:xfrm>
          <a:prstGeom prst="roundRect">
            <a:avLst>
              <a:gd name="adj" fmla="val 3200"/>
            </a:avLst>
          </a:prstGeom>
          <a:solidFill>
            <a:schemeClr val="bg2"/>
          </a:solidFill>
          <a:ln w="9525">
            <a:solidFill>
              <a:schemeClr val="accent3"/>
            </a:solidFill>
            <a:prstDash val="solid"/>
          </a:ln>
        </p:spPr>
      </p:sp>
      <p:sp>
        <p:nvSpPr>
          <p:cNvPr id="11" name="icon-circle"/>
          <p:cNvSpPr/>
          <p:nvPr/>
        </p:nvSpPr>
        <p:spPr>
          <a:xfrm>
            <a:off x="5212080" y="1783080"/>
            <a:ext cx="548640" cy="548640"/>
          </a:xfrm>
          <a:prstGeom prst="ellipse">
            <a:avLst/>
          </a:prstGeom>
          <a:solidFill>
            <a:schemeClr val="accent4"/>
          </a:solidFill>
          <a:ln w="9525">
            <a:solidFill>
              <a:schemeClr val="accent3"/>
            </a:solidFill>
            <a:prstDash val="solid"/>
          </a:ln>
        </p:spPr>
      </p:sp>
      <p:pic>
        <p:nvPicPr>
          <p:cNvPr id="12" name="Image 1" descr="Languages icon">    </p:cNvPr>
          <p:cNvPicPr>
            <a:picLocks noChangeAspect="1"/>
          </p:cNvPicPr>
          <p:nvPr/>
        </p:nvPicPr>
        <p:blipFill>
          <a:blip r:embed="rId2"/>
          <a:stretch>
            <a:fillRect/>
          </a:stretch>
        </p:blipFill>
        <p:spPr>
          <a:xfrm>
            <a:off x="5343754" y="1914754"/>
            <a:ext cx="285293" cy="285293"/>
          </a:xfrm>
          <a:prstGeom prst="rect">
            <a:avLst/>
          </a:prstGeom>
        </p:spPr>
      </p:pic>
      <p:sp>
        <p:nvSpPr>
          <p:cNvPr id="13" name="Text 8"/>
          <p:cNvSpPr txBox="1"/>
          <p:nvPr/>
        </p:nvSpPr>
        <p:spPr>
          <a:xfrm>
            <a:off x="5212080" y="2514600"/>
            <a:ext cx="274320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Telugu + English</a:t>
            </a:r>
            <a:endParaRPr lang="en-US" sz="1800" dirty="0"/>
          </a:p>
        </p:txBody>
      </p:sp>
      <p:sp>
        <p:nvSpPr>
          <p:cNvPr id="14" name="Text 9"/>
          <p:cNvSpPr txBox="1"/>
          <p:nvPr/>
        </p:nvSpPr>
        <p:spPr>
          <a:xfrm>
            <a:off x="5212080" y="2926080"/>
            <a:ext cx="2743200" cy="868680"/>
          </a:xfrm>
          <a:prstGeom prst="rect">
            <a:avLst/>
          </a:prstGeom>
          <a:noFill/>
          <a:ln/>
        </p:spPr>
        <p:txBody>
          <a:bodyPr wrap="square" lIns="0" tIns="0" rIns="0" bIns="0" rtlCol="0" anchor="t"/>
          <a:lstStyle/>
          <a:p>
            <a:pPr indent="0" marL="0">
              <a:buNone/>
            </a:pPr>
            <a:r>
              <a:rPr lang="en-US" sz="1400" dirty="0">
                <a:solidFill>
                  <a:schemeClr val="tx2"/>
                </a:solidFill>
              </a:rPr>
              <a:t>Built for code-mixed commands and replies in the user's own style.</a:t>
            </a:r>
            <a:endParaRPr lang="en-US" sz="1400" dirty="0"/>
          </a:p>
        </p:txBody>
      </p:sp>
      <p:sp>
        <p:nvSpPr>
          <p:cNvPr id="15" name="unique-card"/>
          <p:cNvSpPr/>
          <p:nvPr/>
        </p:nvSpPr>
        <p:spPr>
          <a:xfrm>
            <a:off x="8439912" y="1554480"/>
            <a:ext cx="3200400" cy="2286000"/>
          </a:xfrm>
          <a:prstGeom prst="roundRect">
            <a:avLst>
              <a:gd name="adj" fmla="val 3200"/>
            </a:avLst>
          </a:prstGeom>
          <a:solidFill>
            <a:schemeClr val="bg2"/>
          </a:solidFill>
          <a:ln w="9525">
            <a:solidFill>
              <a:schemeClr val="accent3"/>
            </a:solidFill>
            <a:prstDash val="solid"/>
          </a:ln>
        </p:spPr>
      </p:sp>
      <p:sp>
        <p:nvSpPr>
          <p:cNvPr id="16" name="icon-circle"/>
          <p:cNvSpPr/>
          <p:nvPr/>
        </p:nvSpPr>
        <p:spPr>
          <a:xfrm>
            <a:off x="8668512" y="1783080"/>
            <a:ext cx="548640" cy="548640"/>
          </a:xfrm>
          <a:prstGeom prst="ellipse">
            <a:avLst/>
          </a:prstGeom>
          <a:solidFill>
            <a:schemeClr val="accent4"/>
          </a:solidFill>
          <a:ln w="9525">
            <a:solidFill>
              <a:schemeClr val="accent3"/>
            </a:solidFill>
            <a:prstDash val="solid"/>
          </a:ln>
        </p:spPr>
      </p:sp>
      <p:pic>
        <p:nvPicPr>
          <p:cNvPr id="17" name="Image 2" descr="RefreshCw icon">    </p:cNvPr>
          <p:cNvPicPr>
            <a:picLocks noChangeAspect="1"/>
          </p:cNvPicPr>
          <p:nvPr/>
        </p:nvPicPr>
        <p:blipFill>
          <a:blip r:embed="rId3"/>
          <a:stretch>
            <a:fillRect/>
          </a:stretch>
        </p:blipFill>
        <p:spPr>
          <a:xfrm>
            <a:off x="8800186" y="1914754"/>
            <a:ext cx="285293" cy="285293"/>
          </a:xfrm>
          <a:prstGeom prst="rect">
            <a:avLst/>
          </a:prstGeom>
        </p:spPr>
      </p:pic>
      <p:sp>
        <p:nvSpPr>
          <p:cNvPr id="18" name="Text 12"/>
          <p:cNvSpPr txBox="1"/>
          <p:nvPr/>
        </p:nvSpPr>
        <p:spPr>
          <a:xfrm>
            <a:off x="8668512" y="2514600"/>
            <a:ext cx="274320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Never stalls</a:t>
            </a:r>
            <a:endParaRPr lang="en-US" sz="1800" dirty="0"/>
          </a:p>
        </p:txBody>
      </p:sp>
      <p:sp>
        <p:nvSpPr>
          <p:cNvPr id="19" name="Text 13"/>
          <p:cNvSpPr txBox="1"/>
          <p:nvPr/>
        </p:nvSpPr>
        <p:spPr>
          <a:xfrm>
            <a:off x="8668512" y="2926080"/>
            <a:ext cx="2743200" cy="868680"/>
          </a:xfrm>
          <a:prstGeom prst="rect">
            <a:avLst/>
          </a:prstGeom>
          <a:noFill/>
          <a:ln/>
        </p:spPr>
        <p:txBody>
          <a:bodyPr wrap="square" lIns="0" tIns="0" rIns="0" bIns="0" rtlCol="0" anchor="t"/>
          <a:lstStyle/>
          <a:p>
            <a:pPr indent="0" marL="0">
              <a:buNone/>
            </a:pPr>
            <a:r>
              <a:rPr lang="en-US" sz="1400" dirty="0">
                <a:solidFill>
                  <a:schemeClr val="tx2"/>
                </a:solidFill>
              </a:rPr>
              <a:t>Rotates across 8 Gemini models when quota or rate limits hit.</a:t>
            </a:r>
            <a:endParaRPr lang="en-US" sz="1400" dirty="0"/>
          </a:p>
        </p:txBody>
      </p:sp>
      <p:sp>
        <p:nvSpPr>
          <p:cNvPr id="20" name="unique-card"/>
          <p:cNvSpPr/>
          <p:nvPr/>
        </p:nvSpPr>
        <p:spPr>
          <a:xfrm>
            <a:off x="4983480" y="3931920"/>
            <a:ext cx="3200400" cy="2286000"/>
          </a:xfrm>
          <a:prstGeom prst="roundRect">
            <a:avLst>
              <a:gd name="adj" fmla="val 3200"/>
            </a:avLst>
          </a:prstGeom>
          <a:solidFill>
            <a:schemeClr val="bg2"/>
          </a:solidFill>
          <a:ln w="9525">
            <a:solidFill>
              <a:schemeClr val="accent3"/>
            </a:solidFill>
            <a:prstDash val="solid"/>
          </a:ln>
        </p:spPr>
      </p:sp>
      <p:sp>
        <p:nvSpPr>
          <p:cNvPr id="21" name="icon-circle"/>
          <p:cNvSpPr/>
          <p:nvPr/>
        </p:nvSpPr>
        <p:spPr>
          <a:xfrm>
            <a:off x="5212080" y="4160520"/>
            <a:ext cx="548640" cy="548640"/>
          </a:xfrm>
          <a:prstGeom prst="ellipse">
            <a:avLst/>
          </a:prstGeom>
          <a:solidFill>
            <a:schemeClr val="accent4"/>
          </a:solidFill>
          <a:ln w="9525">
            <a:solidFill>
              <a:schemeClr val="accent3"/>
            </a:solidFill>
            <a:prstDash val="solid"/>
          </a:ln>
        </p:spPr>
      </p:sp>
      <p:pic>
        <p:nvPicPr>
          <p:cNvPr id="22" name="Image 3" descr="Mic icon">    </p:cNvPr>
          <p:cNvPicPr>
            <a:picLocks noChangeAspect="1"/>
          </p:cNvPicPr>
          <p:nvPr/>
        </p:nvPicPr>
        <p:blipFill>
          <a:blip r:embed="rId4"/>
          <a:stretch>
            <a:fillRect/>
          </a:stretch>
        </p:blipFill>
        <p:spPr>
          <a:xfrm>
            <a:off x="5343754" y="4292194"/>
            <a:ext cx="285293" cy="285293"/>
          </a:xfrm>
          <a:prstGeom prst="rect">
            <a:avLst/>
          </a:prstGeom>
        </p:spPr>
      </p:pic>
      <p:sp>
        <p:nvSpPr>
          <p:cNvPr id="23" name="Text 16"/>
          <p:cNvSpPr txBox="1"/>
          <p:nvPr/>
        </p:nvSpPr>
        <p:spPr>
          <a:xfrm>
            <a:off x="5212080" y="4892040"/>
            <a:ext cx="274320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Always within reach</a:t>
            </a:r>
            <a:endParaRPr lang="en-US" sz="1800" dirty="0"/>
          </a:p>
        </p:txBody>
      </p:sp>
      <p:sp>
        <p:nvSpPr>
          <p:cNvPr id="24" name="Text 17"/>
          <p:cNvSpPr txBox="1"/>
          <p:nvPr/>
        </p:nvSpPr>
        <p:spPr>
          <a:xfrm>
            <a:off x="5212080" y="5303520"/>
            <a:ext cx="2743200" cy="868680"/>
          </a:xfrm>
          <a:prstGeom prst="rect">
            <a:avLst/>
          </a:prstGeom>
          <a:noFill/>
          <a:ln/>
        </p:spPr>
        <p:txBody>
          <a:bodyPr wrap="square" lIns="0" tIns="0" rIns="0" bIns="0" rtlCol="0" anchor="t"/>
          <a:lstStyle/>
          <a:p>
            <a:pPr indent="0" marL="0">
              <a:buNone/>
            </a:pPr>
            <a:r>
              <a:rPr lang="en-US" sz="1400" dirty="0">
                <a:solidFill>
                  <a:schemeClr val="tx2"/>
                </a:solidFill>
              </a:rPr>
              <a:t>Tray app, Ctrl + Shift + U, voice with live subtitles, cinematic orb.</a:t>
            </a:r>
            <a:endParaRPr lang="en-US" sz="1400" dirty="0"/>
          </a:p>
        </p:txBody>
      </p:sp>
      <p:sp>
        <p:nvSpPr>
          <p:cNvPr id="25" name="unique-card"/>
          <p:cNvSpPr/>
          <p:nvPr/>
        </p:nvSpPr>
        <p:spPr>
          <a:xfrm>
            <a:off x="8439912" y="3931920"/>
            <a:ext cx="3200400" cy="2286000"/>
          </a:xfrm>
          <a:prstGeom prst="roundRect">
            <a:avLst>
              <a:gd name="adj" fmla="val 3200"/>
            </a:avLst>
          </a:prstGeom>
          <a:solidFill>
            <a:schemeClr val="bg2"/>
          </a:solidFill>
          <a:ln w="9525">
            <a:solidFill>
              <a:schemeClr val="accent3"/>
            </a:solidFill>
            <a:prstDash val="solid"/>
          </a:ln>
        </p:spPr>
      </p:sp>
      <p:sp>
        <p:nvSpPr>
          <p:cNvPr id="26" name="icon-circle"/>
          <p:cNvSpPr/>
          <p:nvPr/>
        </p:nvSpPr>
        <p:spPr>
          <a:xfrm>
            <a:off x="8668512" y="4160520"/>
            <a:ext cx="548640" cy="548640"/>
          </a:xfrm>
          <a:prstGeom prst="ellipse">
            <a:avLst/>
          </a:prstGeom>
          <a:solidFill>
            <a:schemeClr val="accent4"/>
          </a:solidFill>
          <a:ln w="9525">
            <a:solidFill>
              <a:schemeClr val="accent3"/>
            </a:solidFill>
            <a:prstDash val="solid"/>
          </a:ln>
        </p:spPr>
      </p:sp>
      <p:pic>
        <p:nvPicPr>
          <p:cNvPr id="27" name="Image 4" descr="Puzzle icon">    </p:cNvPr>
          <p:cNvPicPr>
            <a:picLocks noChangeAspect="1"/>
          </p:cNvPicPr>
          <p:nvPr/>
        </p:nvPicPr>
        <p:blipFill>
          <a:blip r:embed="rId5"/>
          <a:stretch>
            <a:fillRect/>
          </a:stretch>
        </p:blipFill>
        <p:spPr>
          <a:xfrm>
            <a:off x="8800186" y="4292194"/>
            <a:ext cx="285293" cy="285293"/>
          </a:xfrm>
          <a:prstGeom prst="rect">
            <a:avLst/>
          </a:prstGeom>
        </p:spPr>
      </p:pic>
      <p:sp>
        <p:nvSpPr>
          <p:cNvPr id="28" name="Text 20"/>
          <p:cNvSpPr txBox="1"/>
          <p:nvPr/>
        </p:nvSpPr>
        <p:spPr>
          <a:xfrm>
            <a:off x="8668512" y="4892040"/>
            <a:ext cx="274320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Easy to extend</a:t>
            </a:r>
            <a:endParaRPr lang="en-US" sz="1800" dirty="0"/>
          </a:p>
        </p:txBody>
      </p:sp>
      <p:sp>
        <p:nvSpPr>
          <p:cNvPr id="29" name="Text 21"/>
          <p:cNvSpPr txBox="1"/>
          <p:nvPr/>
        </p:nvSpPr>
        <p:spPr>
          <a:xfrm>
            <a:off x="8668512" y="5303520"/>
            <a:ext cx="2743200" cy="868680"/>
          </a:xfrm>
          <a:prstGeom prst="rect">
            <a:avLst/>
          </a:prstGeom>
          <a:noFill/>
          <a:ln/>
        </p:spPr>
        <p:txBody>
          <a:bodyPr wrap="square" lIns="0" tIns="0" rIns="0" bIns="0" rtlCol="0" anchor="t"/>
          <a:lstStyle/>
          <a:p>
            <a:pPr indent="0" marL="0">
              <a:buNone/>
            </a:pPr>
            <a:r>
              <a:rPr lang="en-US" sz="1400" dirty="0">
                <a:solidFill>
                  <a:schemeClr val="tx2"/>
                </a:solidFill>
              </a:rPr>
              <a:t>No training, no grammar: a new tool is one declaration and one case.</a:t>
            </a:r>
            <a:endParaRPr lang="en-US" sz="1400" dirty="0"/>
          </a:p>
        </p:txBody>
      </p:sp>
      <p:sp>
        <p:nvSpPr>
          <p:cNvPr id="25" name="Slide Number Placeholder 0"/>
          <p:cNvSpPr>
            <a:spLocks noGrp="1"/>
          </p:cNvSpPr>
          <p:nvPr>
            <p:ph type="sldNum" sz="quarter" idx="4294967295"/>
          </p:nvPr>
        </p:nvSpPr>
        <p:spPr>
          <a:xfrm>
            <a:off x="10972800" y="6437376"/>
            <a:ext cx="667512"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t"/>
          <a:lstStyle/>
          <a:p>
            <a:pPr indent="0" marL="0">
              <a:buNone/>
            </a:pPr>
            <a:r>
              <a:rPr lang="en-US" sz="1100" b="1" spc="300" kern="0" dirty="0">
                <a:solidFill>
                  <a:schemeClr val="accent1"/>
                </a:solidFill>
              </a:rPr>
              <a:t>POSITIONING</a:t>
            </a:r>
            <a:endParaRPr lang="en-US" sz="1100" dirty="0"/>
          </a:p>
        </p:txBody>
      </p:sp>
      <p:sp>
        <p:nvSpPr>
          <p:cNvPr id="3" name="Text 0"/>
          <p:cNvSpPr/>
          <p:nvPr>
            <p:ph idx="101" type="title" hasCustomPrompt="1"/>
          </p:nvPr>
        </p:nvSpPr>
        <p:spPr>
          <a:xfrm>
            <a:off x="548640" y="640080"/>
            <a:ext cx="11091672" cy="685800"/>
          </a:xfrm>
          <a:prstGeom prst="rect">
            <a:avLst/>
          </a:prstGeom>
          <a:noFill/>
          <a:ln/>
        </p:spPr>
        <p:txBody>
          <a:bodyPr wrap="square" lIns="0" tIns="0" rIns="0" bIns="0" rtlCol="0" anchor="t"/>
          <a:lstStyle/>
          <a:p>
            <a:pPr algn="l" indent="0" marL="0">
              <a:buNone/>
            </a:pPr>
            <a:r>
              <a:rPr lang="en-US" sz="3400" b="1" dirty="0">
                <a:solidFill>
                  <a:schemeClr val="tx1"/>
                </a:solidFill>
              </a:rPr>
              <a:t>ULTRON vs Existing Approaches</a:t>
            </a:r>
            <a:endParaRPr lang="en-US" sz="3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3566160"/>
                <a:gridCol w="2651760"/>
                <a:gridCol w="2651760"/>
                <a:gridCol w="2221992"/>
              </a:tblGrid>
              <a:tr h="585216">
                <a:tc>
                  <a:txBody>
                    <a:bodyPr/>
                    <a:lstStyle/>
                    <a:p>
                      <a:pPr algn="ctr" indent="0" marL="0">
                        <a:buNone/>
                      </a:pPr>
                      <a:endParaRPr lang="en-US" sz="1300" dirty="0"/>
                    </a:p>
                  </a:txBody>
                  <a:tcPr marL="137160" marR="137160" marT="45720" marB="45720"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tx2"/>
                          </a:solidFill>
                        </a:rPr>
                        <a:t>Conversational assistants</a:t>
                      </a:r>
                      <a:endParaRPr lang="en-US" sz="1300" dirty="0"/>
                    </a:p>
                  </a:txBody>
                  <a:tcPr marL="137160" marR="137160" marT="45720" marB="45720"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tx2"/>
                          </a:solidFill>
                        </a:rPr>
                        <a:t>Desktop automation tools</a:t>
                      </a:r>
                      <a:endParaRPr lang="en-US" sz="1300" dirty="0"/>
                    </a:p>
                  </a:txBody>
                  <a:tcPr marL="137160" marR="137160" marT="45720" marB="45720"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1"/>
                          </a:solidFill>
                        </a:rPr>
                        <a:t>ULTRON</a:t>
                      </a:r>
                      <a:endParaRPr lang="en-US" sz="1300" dirty="0"/>
                    </a:p>
                  </a:txBody>
                  <a:tcPr marL="137160" marR="137160" marT="45720" marB="45720"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1"/>
                    </a:solidFill>
                  </a:tcPr>
                </a:tc>
              </a:tr>
              <a:tr h="585216">
                <a:tc>
                  <a:txBody>
                    <a:bodyPr/>
                    <a:lstStyle/>
                    <a:p>
                      <a:pPr indent="0" marL="0">
                        <a:buNone/>
                      </a:pPr>
                      <a:r>
                        <a:rPr lang="en-US" sz="1400" b="1" dirty="0">
                          <a:solidFill>
                            <a:schemeClr val="tx1"/>
                          </a:solidFill>
                        </a:rPr>
                        <a:t>Understands free-form language</a:t>
                      </a:r>
                      <a:endParaRPr lang="en-US" sz="1400" dirty="0"/>
                    </a:p>
                  </a:txBody>
                  <a:tcPr marL="137160" marR="137160" marT="45720" marB="45720"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2"/>
                          </a:solidFill>
                        </a:rPr>
                        <a:t>Yes</a:t>
                      </a:r>
                      <a:endParaRPr lang="en-US" sz="1400" dirty="0"/>
                    </a:p>
                  </a:txBody>
                  <a:tcPr marL="137160" marR="137160" marT="45720" marB="45720"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2"/>
                          </a:solidFill>
                        </a:rPr>
                        <a:t>No</a:t>
                      </a:r>
                      <a:endParaRPr lang="en-US" sz="1400" dirty="0"/>
                    </a:p>
                  </a:txBody>
                  <a:tcPr marL="137160" marR="137160" marT="45720" marB="45720"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accent2"/>
                          </a:solidFill>
                        </a:rPr>
                        <a:t>Yes</a:t>
                      </a:r>
                      <a:endParaRPr lang="en-US" sz="1400" dirty="0"/>
                    </a:p>
                  </a:txBody>
                  <a:tcPr marL="137160" marR="137160" marT="45720" marB="45720"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accent4"/>
                    </a:solidFill>
                  </a:tcPr>
                </a:tc>
              </a:tr>
              <a:tr h="585216">
                <a:tc>
                  <a:txBody>
                    <a:bodyPr/>
                    <a:lstStyle/>
                    <a:p>
                      <a:pPr indent="0" marL="0">
                        <a:buNone/>
                      </a:pPr>
                      <a:r>
                        <a:rPr lang="en-US" sz="1400" b="1" dirty="0">
                          <a:solidFill>
                            <a:schemeClr val="tx1"/>
                          </a:solidFill>
                        </a:rPr>
                        <a:t>Controls Windows apps &amp; files</a:t>
                      </a:r>
                      <a:endParaRPr lang="en-US" sz="1400" dirty="0"/>
                    </a:p>
                  </a:txBody>
                  <a:tcPr marL="137160" marR="137160" marT="45720" marB="45720"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2"/>
                          </a:solidFill>
                        </a:rPr>
                        <a:t>Limited</a:t>
                      </a:r>
                      <a:endParaRPr lang="en-US" sz="1400" dirty="0"/>
                    </a:p>
                  </a:txBody>
                  <a:tcPr marL="137160" marR="137160" marT="45720" marB="45720"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2"/>
                          </a:solidFill>
                        </a:rPr>
                        <a:t>Yes</a:t>
                      </a:r>
                      <a:endParaRPr lang="en-US" sz="1400" dirty="0"/>
                    </a:p>
                  </a:txBody>
                  <a:tcPr marL="137160" marR="137160" marT="45720" marB="45720"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accent2"/>
                          </a:solidFill>
                        </a:rPr>
                        <a:t>Yes</a:t>
                      </a:r>
                      <a:endParaRPr lang="en-US" sz="1400" dirty="0"/>
                    </a:p>
                  </a:txBody>
                  <a:tcPr marL="137160" marR="137160" marT="45720" marB="45720"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accent4"/>
                    </a:solidFill>
                  </a:tcPr>
                </a:tc>
              </a:tr>
              <a:tr h="585216">
                <a:tc>
                  <a:txBody>
                    <a:bodyPr/>
                    <a:lstStyle/>
                    <a:p>
                      <a:pPr indent="0" marL="0">
                        <a:buNone/>
                      </a:pPr>
                      <a:r>
                        <a:rPr lang="en-US" sz="1400" b="1" dirty="0">
                          <a:solidFill>
                            <a:schemeClr val="tx1"/>
                          </a:solidFill>
                        </a:rPr>
                        <a:t>Needs user-written scripts</a:t>
                      </a:r>
                      <a:endParaRPr lang="en-US" sz="1400" dirty="0"/>
                    </a:p>
                  </a:txBody>
                  <a:tcPr marL="137160" marR="137160" marT="45720" marB="45720"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2"/>
                          </a:solidFill>
                        </a:rPr>
                        <a:t>No</a:t>
                      </a:r>
                      <a:endParaRPr lang="en-US" sz="1400" dirty="0"/>
                    </a:p>
                  </a:txBody>
                  <a:tcPr marL="137160" marR="137160" marT="45720" marB="45720"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2"/>
                          </a:solidFill>
                        </a:rPr>
                        <a:t>Yes</a:t>
                      </a:r>
                      <a:endParaRPr lang="en-US" sz="1400" dirty="0"/>
                    </a:p>
                  </a:txBody>
                  <a:tcPr marL="137160" marR="137160" marT="45720" marB="45720"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accent2"/>
                          </a:solidFill>
                        </a:rPr>
                        <a:t>No</a:t>
                      </a:r>
                      <a:endParaRPr lang="en-US" sz="1400" dirty="0"/>
                    </a:p>
                  </a:txBody>
                  <a:tcPr marL="137160" marR="137160" marT="45720" marB="45720"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accent4"/>
                    </a:solidFill>
                  </a:tcPr>
                </a:tc>
              </a:tr>
              <a:tr h="585216">
                <a:tc>
                  <a:txBody>
                    <a:bodyPr/>
                    <a:lstStyle/>
                    <a:p>
                      <a:pPr indent="0" marL="0">
                        <a:buNone/>
                      </a:pPr>
                      <a:r>
                        <a:rPr lang="en-US" sz="1400" b="1" dirty="0">
                          <a:solidFill>
                            <a:schemeClr val="tx1"/>
                          </a:solidFill>
                        </a:rPr>
                        <a:t>One sentence → multi-step task</a:t>
                      </a:r>
                      <a:endParaRPr lang="en-US" sz="1400" dirty="0"/>
                    </a:p>
                  </a:txBody>
                  <a:tcPr marL="137160" marR="137160" marT="45720" marB="45720"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2"/>
                          </a:solidFill>
                        </a:rPr>
                        <a:t>Limited</a:t>
                      </a:r>
                      <a:endParaRPr lang="en-US" sz="1400" dirty="0"/>
                    </a:p>
                  </a:txBody>
                  <a:tcPr marL="137160" marR="137160" marT="45720" marB="45720"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2"/>
                          </a:solidFill>
                        </a:rPr>
                        <a:t>Only if scripted</a:t>
                      </a:r>
                      <a:endParaRPr lang="en-US" sz="1400" dirty="0"/>
                    </a:p>
                  </a:txBody>
                  <a:tcPr marL="137160" marR="137160" marT="45720" marB="45720"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accent2"/>
                          </a:solidFill>
                        </a:rPr>
                        <a:t>Yes</a:t>
                      </a:r>
                      <a:endParaRPr lang="en-US" sz="1400" dirty="0"/>
                    </a:p>
                  </a:txBody>
                  <a:tcPr marL="137160" marR="137160" marT="45720" marB="45720"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accent4"/>
                    </a:solidFill>
                  </a:tcPr>
                </a:tc>
              </a:tr>
              <a:tr h="585216">
                <a:tc>
                  <a:txBody>
                    <a:bodyPr/>
                    <a:lstStyle/>
                    <a:p>
                      <a:pPr indent="0" marL="0">
                        <a:buNone/>
                      </a:pPr>
                      <a:r>
                        <a:rPr lang="en-US" sz="1400" b="1" dirty="0">
                          <a:solidFill>
                            <a:schemeClr val="tx1"/>
                          </a:solidFill>
                        </a:rPr>
                        <a:t>Code-mixed Telugu + English</a:t>
                      </a:r>
                      <a:endParaRPr lang="en-US" sz="1400" dirty="0"/>
                    </a:p>
                  </a:txBody>
                  <a:tcPr marL="137160" marR="137160" marT="45720" marB="45720"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2"/>
                          </a:solidFill>
                        </a:rPr>
                        <a:t>Varies</a:t>
                      </a:r>
                      <a:endParaRPr lang="en-US" sz="1400" dirty="0"/>
                    </a:p>
                  </a:txBody>
                  <a:tcPr marL="137160" marR="137160" marT="45720" marB="45720"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2"/>
                          </a:solidFill>
                        </a:rPr>
                        <a:t>Not a goal</a:t>
                      </a:r>
                      <a:endParaRPr lang="en-US" sz="1400" dirty="0"/>
                    </a:p>
                  </a:txBody>
                  <a:tcPr marL="137160" marR="137160" marT="45720" marB="45720"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accent2"/>
                          </a:solidFill>
                        </a:rPr>
                        <a:t>Design goal</a:t>
                      </a:r>
                      <a:endParaRPr lang="en-US" sz="1400" dirty="0"/>
                    </a:p>
                  </a:txBody>
                  <a:tcPr marL="137160" marR="137160" marT="45720" marB="45720"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accent4"/>
                    </a:solidFill>
                  </a:tcPr>
                </a:tc>
              </a:tr>
              <a:tr h="585216">
                <a:tc>
                  <a:txBody>
                    <a:bodyPr/>
                    <a:lstStyle/>
                    <a:p>
                      <a:pPr indent="0" marL="0">
                        <a:buNone/>
                      </a:pPr>
                      <a:r>
                        <a:rPr lang="en-US" sz="1400" b="1" dirty="0">
                          <a:solidFill>
                            <a:schemeClr val="tx1"/>
                          </a:solidFill>
                        </a:rPr>
                        <a:t>Open to adding new tools</a:t>
                      </a:r>
                      <a:endParaRPr lang="en-US" sz="1400" dirty="0"/>
                    </a:p>
                  </a:txBody>
                  <a:tcPr marL="137160" marR="137160" marT="45720" marB="45720"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2"/>
                          </a:solidFill>
                        </a:rPr>
                        <a:t>Closed platforms</a:t>
                      </a:r>
                      <a:endParaRPr lang="en-US" sz="1400" dirty="0"/>
                    </a:p>
                  </a:txBody>
                  <a:tcPr marL="137160" marR="137160" marT="45720" marB="45720"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2"/>
                          </a:solidFill>
                        </a:rPr>
                        <a:t>Yes</a:t>
                      </a:r>
                      <a:endParaRPr lang="en-US" sz="1400" dirty="0"/>
                    </a:p>
                  </a:txBody>
                  <a:tcPr marL="137160" marR="137160" marT="45720" marB="45720"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accent2"/>
                          </a:solidFill>
                        </a:rPr>
                        <a:t>Yes</a:t>
                      </a:r>
                      <a:endParaRPr lang="en-US" sz="1400" dirty="0"/>
                    </a:p>
                  </a:txBody>
                  <a:tcPr marL="137160" marR="137160" marT="45720" marB="45720"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accent4"/>
                    </a:solidFill>
                  </a:tcPr>
                </a:tc>
              </a:tr>
            </a:tbl>
          </a:graphicData>
        </a:graphic>
      </p:graphicFrame>
      <p:sp>
        <p:nvSpPr>
          <p:cNvPr id="6" name="Text 2"/>
          <p:cNvSpPr txBox="1"/>
          <p:nvPr/>
        </p:nvSpPr>
        <p:spPr>
          <a:xfrm>
            <a:off x="548640" y="5852160"/>
            <a:ext cx="11091672" cy="274320"/>
          </a:xfrm>
          <a:prstGeom prst="rect">
            <a:avLst/>
          </a:prstGeom>
          <a:noFill/>
          <a:ln/>
        </p:spPr>
        <p:txBody>
          <a:bodyPr wrap="square" lIns="0" tIns="0" rIns="0" bIns="0" rtlCol="0" anchor="t"/>
          <a:lstStyle/>
          <a:p>
            <a:pPr indent="0" marL="0">
              <a:buNone/>
            </a:pPr>
            <a:r>
              <a:rPr lang="en-US" sz="1200" dirty="0">
                <a:solidFill>
                  <a:schemeClr val="tx2"/>
                </a:solidFill>
              </a:rPr>
              <a:t>Categories follow the Review 1 background study (Siri / Alexa / Google Assistant; AutoHotkey / shell scripts / RPA bots).</a:t>
            </a:r>
            <a:endParaRPr lang="en-US" sz="1200" dirty="0"/>
          </a:p>
        </p:txBody>
      </p:sp>
      <p:sp>
        <p:nvSpPr>
          <p:cNvPr id="25" name="Slide Number Placeholder 0"/>
          <p:cNvSpPr>
            <a:spLocks noGrp="1"/>
          </p:cNvSpPr>
          <p:nvPr>
            <p:ph type="sldNum" sz="quarter" idx="4294967295"/>
          </p:nvPr>
        </p:nvSpPr>
        <p:spPr>
          <a:xfrm>
            <a:off x="10972800" y="6437376"/>
            <a:ext cx="667512"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t"/>
          <a:lstStyle/>
          <a:p>
            <a:pPr indent="0" marL="0">
              <a:buNone/>
            </a:pPr>
            <a:r>
              <a:rPr lang="en-US" sz="1100" b="1" spc="300" kern="0" dirty="0">
                <a:solidFill>
                  <a:schemeClr val="accent1"/>
                </a:solidFill>
              </a:rPr>
              <a:t>VERSIONS</a:t>
            </a:r>
            <a:endParaRPr lang="en-US" sz="1100" dirty="0"/>
          </a:p>
        </p:txBody>
      </p:sp>
      <p:sp>
        <p:nvSpPr>
          <p:cNvPr id="3" name="Text 0"/>
          <p:cNvSpPr/>
          <p:nvPr>
            <p:ph idx="101" type="title" hasCustomPrompt="1"/>
          </p:nvPr>
        </p:nvSpPr>
        <p:spPr>
          <a:xfrm>
            <a:off x="548640" y="640080"/>
            <a:ext cx="11091672" cy="685800"/>
          </a:xfrm>
          <a:prstGeom prst="rect">
            <a:avLst/>
          </a:prstGeom>
          <a:noFill/>
          <a:ln/>
        </p:spPr>
        <p:txBody>
          <a:bodyPr wrap="square" lIns="0" tIns="0" rIns="0" bIns="0" rtlCol="0" anchor="t"/>
          <a:lstStyle/>
          <a:p>
            <a:pPr algn="l" indent="0" marL="0">
              <a:buNone/>
            </a:pPr>
            <a:r>
              <a:rPr lang="en-US" sz="3400" b="1" dirty="0">
                <a:solidFill>
                  <a:schemeClr val="tx1"/>
                </a:solidFill>
              </a:rPr>
              <a:t>Version Roadmap: v1 → v2 → v3</a:t>
            </a:r>
            <a:endParaRPr lang="en-US" sz="3400" dirty="0"/>
          </a:p>
        </p:txBody>
      </p:sp>
      <p:sp>
        <p:nvSpPr>
          <p:cNvPr id="5" name="timeline"/>
          <p:cNvSpPr/>
          <p:nvPr/>
        </p:nvSpPr>
        <p:spPr>
          <a:xfrm>
            <a:off x="548640" y="1938528"/>
            <a:ext cx="11091672" cy="0"/>
          </a:xfrm>
          <a:prstGeom prst="line">
            <a:avLst/>
          </a:prstGeom>
          <a:noFill/>
          <a:ln w="25400">
            <a:solidFill>
              <a:schemeClr val="accent3"/>
            </a:solidFill>
            <a:prstDash val="solid"/>
          </a:ln>
        </p:spPr>
      </p:sp>
      <p:sp>
        <p:nvSpPr>
          <p:cNvPr id="6" name="version-node"/>
          <p:cNvSpPr/>
          <p:nvPr/>
        </p:nvSpPr>
        <p:spPr>
          <a:xfrm>
            <a:off x="548640" y="1664208"/>
            <a:ext cx="548640" cy="548640"/>
          </a:xfrm>
          <a:prstGeom prst="ellipse">
            <a:avLst/>
          </a:prstGeom>
          <a:solidFill>
            <a:schemeClr val="bg2"/>
          </a:solidFill>
          <a:ln w="19050">
            <a:solidFill>
              <a:schemeClr val="accent1"/>
            </a:solidFill>
            <a:prstDash val="solid"/>
          </a:ln>
        </p:spPr>
      </p:sp>
      <p:sp>
        <p:nvSpPr>
          <p:cNvPr id="7" name="Text 4"/>
          <p:cNvSpPr txBox="1"/>
          <p:nvPr/>
        </p:nvSpPr>
        <p:spPr>
          <a:xfrm>
            <a:off x="548640" y="1664208"/>
            <a:ext cx="548640" cy="548640"/>
          </a:xfrm>
          <a:prstGeom prst="rect">
            <a:avLst/>
          </a:prstGeom>
          <a:noFill/>
          <a:ln/>
        </p:spPr>
        <p:txBody>
          <a:bodyPr wrap="square" lIns="0" tIns="0" rIns="0" bIns="0" rtlCol="0" anchor="ctr"/>
          <a:lstStyle/>
          <a:p>
            <a:pPr algn="ctr" indent="0" marL="0">
              <a:buNone/>
            </a:pPr>
            <a:r>
              <a:rPr lang="en-US" sz="1400" b="1" dirty="0">
                <a:solidFill>
                  <a:schemeClr val="accent1"/>
                </a:solidFill>
              </a:rPr>
              <a:t>v1</a:t>
            </a:r>
            <a:endParaRPr lang="en-US" sz="1400" dirty="0"/>
          </a:p>
        </p:txBody>
      </p:sp>
      <p:sp>
        <p:nvSpPr>
          <p:cNvPr id="8" name="version-card"/>
          <p:cNvSpPr/>
          <p:nvPr/>
        </p:nvSpPr>
        <p:spPr>
          <a:xfrm>
            <a:off x="548640" y="2468880"/>
            <a:ext cx="3566160" cy="3383280"/>
          </a:xfrm>
          <a:prstGeom prst="roundRect">
            <a:avLst>
              <a:gd name="adj" fmla="val 2162"/>
            </a:avLst>
          </a:prstGeom>
          <a:solidFill>
            <a:schemeClr val="bg2"/>
          </a:solidFill>
          <a:ln w="9525">
            <a:solidFill>
              <a:schemeClr val="accent3"/>
            </a:solidFill>
            <a:prstDash val="solid"/>
          </a:ln>
        </p:spPr>
      </p:sp>
      <p:sp>
        <p:nvSpPr>
          <p:cNvPr id="9" name="Text 6"/>
          <p:cNvSpPr txBox="1"/>
          <p:nvPr/>
        </p:nvSpPr>
        <p:spPr>
          <a:xfrm>
            <a:off x="777240" y="2633472"/>
            <a:ext cx="310896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REVIEW 1 · DONE</a:t>
            </a:r>
            <a:endParaRPr lang="en-US" sz="1000" dirty="0"/>
          </a:p>
        </p:txBody>
      </p:sp>
      <p:sp>
        <p:nvSpPr>
          <p:cNvPr id="10" name="Text 7"/>
          <p:cNvSpPr txBox="1"/>
          <p:nvPr/>
        </p:nvSpPr>
        <p:spPr>
          <a:xfrm>
            <a:off x="777240" y="2926080"/>
            <a:ext cx="3108960" cy="411480"/>
          </a:xfrm>
          <a:prstGeom prst="rect">
            <a:avLst/>
          </a:prstGeom>
          <a:noFill/>
          <a:ln/>
        </p:spPr>
        <p:txBody>
          <a:bodyPr wrap="square" lIns="0" tIns="0" rIns="0" bIns="0" rtlCol="0" anchor="t"/>
          <a:lstStyle/>
          <a:p>
            <a:pPr indent="0" marL="0">
              <a:buNone/>
            </a:pPr>
            <a:r>
              <a:rPr lang="en-US" sz="2100" b="1" dirty="0">
                <a:solidFill>
                  <a:schemeClr val="tx1"/>
                </a:solidFill>
                <a:latin typeface="Cambria" pitchFamily="34" charset="0"/>
                <a:ea typeface="Cambria" pitchFamily="34" charset="-122"/>
                <a:cs typeface="Cambria" pitchFamily="34" charset="-120"/>
              </a:rPr>
              <a:t>The Companion</a:t>
            </a:r>
            <a:endParaRPr lang="en-US" sz="2100" dirty="0"/>
          </a:p>
        </p:txBody>
      </p:sp>
      <p:sp>
        <p:nvSpPr>
          <p:cNvPr id="11" name="Text 8"/>
          <p:cNvSpPr txBox="1"/>
          <p:nvPr/>
        </p:nvSpPr>
        <p:spPr>
          <a:xfrm>
            <a:off x="777240" y="3520440"/>
            <a:ext cx="3154680" cy="2606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3D orb with pinch-gesture spin &amp; zoom</a:t>
            </a:r>
            <a:endParaRPr lang="en-US" sz="1400" dirty="0"/>
          </a:p>
          <a:p>
            <a:pPr marL="342900" indent="-342900">
              <a:spcAft>
                <a:spcPts val="600"/>
              </a:spcAft>
              <a:buSzPct val="100000"/>
              <a:buChar char="•"/>
            </a:pPr>
            <a:r>
              <a:rPr lang="en-US" sz="1400" dirty="0">
                <a:solidFill>
                  <a:schemeClr val="tx2"/>
                </a:solidFill>
              </a:rPr>
              <a:t>Gemini chat with persona</a:t>
            </a:r>
            <a:endParaRPr lang="en-US" sz="1400" dirty="0"/>
          </a:p>
          <a:p>
            <a:pPr marL="342900" indent="-342900">
              <a:spcAft>
                <a:spcPts val="600"/>
              </a:spcAft>
              <a:buSzPct val="100000"/>
              <a:buChar char="•"/>
            </a:pPr>
            <a:r>
              <a:rPr lang="en-US" sz="1400" dirty="0">
                <a:solidFill>
                  <a:schemeClr val="tx2"/>
                </a:solidFill>
              </a:rPr>
              <a:t>SQLite memory of facts &amp; history</a:t>
            </a:r>
            <a:endParaRPr lang="en-US" sz="1400" dirty="0"/>
          </a:p>
          <a:p>
            <a:pPr marL="342900" indent="-342900">
              <a:spcAft>
                <a:spcPts val="600"/>
              </a:spcAft>
              <a:buSzPct val="100000"/>
              <a:buChar char="•"/>
            </a:pPr>
            <a:r>
              <a:rPr lang="en-US" sz="1400" dirty="0">
                <a:solidFill>
                  <a:schemeClr val="tx2"/>
                </a:solidFill>
              </a:rPr>
              <a:t>Keyword intent router</a:t>
            </a:r>
            <a:endParaRPr lang="en-US" sz="1400" dirty="0"/>
          </a:p>
        </p:txBody>
      </p:sp>
      <p:sp>
        <p:nvSpPr>
          <p:cNvPr id="12" name="version-node"/>
          <p:cNvSpPr/>
          <p:nvPr/>
        </p:nvSpPr>
        <p:spPr>
          <a:xfrm>
            <a:off x="4311396" y="1664208"/>
            <a:ext cx="548640" cy="548640"/>
          </a:xfrm>
          <a:prstGeom prst="ellipse">
            <a:avLst/>
          </a:prstGeom>
          <a:solidFill>
            <a:schemeClr val="accent1"/>
          </a:solidFill>
          <a:ln w="19050">
            <a:solidFill>
              <a:schemeClr val="accent1"/>
            </a:solidFill>
            <a:prstDash val="solid"/>
          </a:ln>
        </p:spPr>
      </p:sp>
      <p:sp>
        <p:nvSpPr>
          <p:cNvPr id="13" name="Text 10"/>
          <p:cNvSpPr txBox="1"/>
          <p:nvPr/>
        </p:nvSpPr>
        <p:spPr>
          <a:xfrm>
            <a:off x="4311396" y="1664208"/>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v2</a:t>
            </a:r>
            <a:endParaRPr lang="en-US" sz="1400" dirty="0"/>
          </a:p>
        </p:txBody>
      </p:sp>
      <p:sp>
        <p:nvSpPr>
          <p:cNvPr id="14" name="version-card"/>
          <p:cNvSpPr/>
          <p:nvPr/>
        </p:nvSpPr>
        <p:spPr>
          <a:xfrm>
            <a:off x="4311396" y="2468880"/>
            <a:ext cx="3566160" cy="3383280"/>
          </a:xfrm>
          <a:prstGeom prst="roundRect">
            <a:avLst>
              <a:gd name="adj" fmla="val 2162"/>
            </a:avLst>
          </a:prstGeom>
          <a:solidFill>
            <a:schemeClr val="accent4"/>
          </a:solidFill>
          <a:ln w="19050">
            <a:solidFill>
              <a:schemeClr val="accent1"/>
            </a:solidFill>
            <a:prstDash val="solid"/>
          </a:ln>
        </p:spPr>
      </p:sp>
      <p:sp>
        <p:nvSpPr>
          <p:cNvPr id="15" name="Text 12"/>
          <p:cNvSpPr txBox="1"/>
          <p:nvPr/>
        </p:nvSpPr>
        <p:spPr>
          <a:xfrm>
            <a:off x="4539996" y="2633472"/>
            <a:ext cx="310896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REVIEW 2 · TODAY</a:t>
            </a:r>
            <a:endParaRPr lang="en-US" sz="1000" dirty="0"/>
          </a:p>
        </p:txBody>
      </p:sp>
      <p:sp>
        <p:nvSpPr>
          <p:cNvPr id="16" name="Text 13"/>
          <p:cNvSpPr txBox="1"/>
          <p:nvPr/>
        </p:nvSpPr>
        <p:spPr>
          <a:xfrm>
            <a:off x="4539996" y="2926080"/>
            <a:ext cx="3108960" cy="411480"/>
          </a:xfrm>
          <a:prstGeom prst="rect">
            <a:avLst/>
          </a:prstGeom>
          <a:noFill/>
          <a:ln/>
        </p:spPr>
        <p:txBody>
          <a:bodyPr wrap="square" lIns="0" tIns="0" rIns="0" bIns="0" rtlCol="0" anchor="t"/>
          <a:lstStyle/>
          <a:p>
            <a:pPr indent="0" marL="0">
              <a:buNone/>
            </a:pPr>
            <a:r>
              <a:rPr lang="en-US" sz="2100" b="1" dirty="0">
                <a:solidFill>
                  <a:schemeClr val="tx1"/>
                </a:solidFill>
                <a:latin typeface="Cambria" pitchFamily="34" charset="0"/>
                <a:ea typeface="Cambria" pitchFamily="34" charset="-122"/>
                <a:cs typeface="Cambria" pitchFamily="34" charset="-120"/>
              </a:rPr>
              <a:t>The Agent</a:t>
            </a:r>
            <a:endParaRPr lang="en-US" sz="2100" dirty="0"/>
          </a:p>
        </p:txBody>
      </p:sp>
      <p:sp>
        <p:nvSpPr>
          <p:cNvPr id="17" name="Text 14"/>
          <p:cNvSpPr txBox="1"/>
          <p:nvPr/>
        </p:nvSpPr>
        <p:spPr>
          <a:xfrm>
            <a:off x="4539996" y="3520440"/>
            <a:ext cx="3154680" cy="2606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Gemini function calling</a:t>
            </a:r>
            <a:endParaRPr lang="en-US" sz="1400" dirty="0"/>
          </a:p>
          <a:p>
            <a:pPr marL="342900" indent="-342900">
              <a:spcAft>
                <a:spcPts val="600"/>
              </a:spcAft>
              <a:buSzPct val="100000"/>
              <a:buChar char="•"/>
            </a:pPr>
            <a:r>
              <a:rPr lang="en-US" sz="1400" dirty="0">
                <a:solidFill>
                  <a:schemeClr val="tx1"/>
                </a:solidFill>
              </a:rPr>
              <a:t>27 Windows tools</a:t>
            </a:r>
            <a:endParaRPr lang="en-US" sz="1400" dirty="0"/>
          </a:p>
          <a:p>
            <a:pPr marL="342900" indent="-342900">
              <a:spcAft>
                <a:spcPts val="600"/>
              </a:spcAft>
              <a:buSzPct val="100000"/>
              <a:buChar char="•"/>
            </a:pPr>
            <a:r>
              <a:rPr lang="en-US" sz="1400" dirty="0">
                <a:solidFill>
                  <a:schemeClr val="tx1"/>
                </a:solidFill>
              </a:rPr>
              <a:t>Telugu + English commands</a:t>
            </a:r>
            <a:endParaRPr lang="en-US" sz="1400" dirty="0"/>
          </a:p>
          <a:p>
            <a:pPr marL="342900" indent="-342900">
              <a:spcAft>
                <a:spcPts val="600"/>
              </a:spcAft>
              <a:buSzPct val="100000"/>
              <a:buChar char="•"/>
            </a:pPr>
            <a:r>
              <a:rPr lang="en-US" sz="1400" dirty="0">
                <a:solidFill>
                  <a:schemeClr val="tx1"/>
                </a:solidFill>
              </a:rPr>
              <a:t>8-model rotation</a:t>
            </a:r>
            <a:endParaRPr lang="en-US" sz="1400" dirty="0"/>
          </a:p>
          <a:p>
            <a:pPr marL="342900" indent="-342900">
              <a:spcAft>
                <a:spcPts val="600"/>
              </a:spcAft>
              <a:buSzPct val="100000"/>
              <a:buChar char="•"/>
            </a:pPr>
            <a:r>
              <a:rPr lang="en-US" sz="1400" dirty="0">
                <a:solidFill>
                  <a:schemeClr val="tx1"/>
                </a:solidFill>
              </a:rPr>
              <a:t>Tray, hotkey &amp; live voice subtitles</a:t>
            </a:r>
            <a:endParaRPr lang="en-US" sz="1400" dirty="0"/>
          </a:p>
          <a:p>
            <a:pPr marL="342900" indent="-342900">
              <a:spcAft>
                <a:spcPts val="600"/>
              </a:spcAft>
              <a:buSzPct val="100000"/>
              <a:buChar char="•"/>
            </a:pPr>
            <a:r>
              <a:rPr lang="en-US" sz="1400" dirty="0">
                <a:solidFill>
                  <a:schemeClr val="tx1"/>
                </a:solidFill>
              </a:rPr>
              <a:t>Packageable portable .exe</a:t>
            </a:r>
            <a:endParaRPr lang="en-US" sz="1400" dirty="0"/>
          </a:p>
        </p:txBody>
      </p:sp>
      <p:sp>
        <p:nvSpPr>
          <p:cNvPr id="18" name="version-node"/>
          <p:cNvSpPr/>
          <p:nvPr/>
        </p:nvSpPr>
        <p:spPr>
          <a:xfrm>
            <a:off x="8074152" y="1664208"/>
            <a:ext cx="548640" cy="548640"/>
          </a:xfrm>
          <a:prstGeom prst="ellipse">
            <a:avLst/>
          </a:prstGeom>
          <a:solidFill>
            <a:schemeClr val="bg2"/>
          </a:solidFill>
          <a:ln w="19050">
            <a:solidFill>
              <a:schemeClr val="accent1"/>
            </a:solidFill>
            <a:prstDash val="solid"/>
          </a:ln>
        </p:spPr>
      </p:sp>
      <p:sp>
        <p:nvSpPr>
          <p:cNvPr id="19" name="Text 16"/>
          <p:cNvSpPr txBox="1"/>
          <p:nvPr/>
        </p:nvSpPr>
        <p:spPr>
          <a:xfrm>
            <a:off x="8074152" y="1664208"/>
            <a:ext cx="548640" cy="548640"/>
          </a:xfrm>
          <a:prstGeom prst="rect">
            <a:avLst/>
          </a:prstGeom>
          <a:noFill/>
          <a:ln/>
        </p:spPr>
        <p:txBody>
          <a:bodyPr wrap="square" lIns="0" tIns="0" rIns="0" bIns="0" rtlCol="0" anchor="ctr"/>
          <a:lstStyle/>
          <a:p>
            <a:pPr algn="ctr" indent="0" marL="0">
              <a:buNone/>
            </a:pPr>
            <a:r>
              <a:rPr lang="en-US" sz="1400" b="1" dirty="0">
                <a:solidFill>
                  <a:schemeClr val="accent1"/>
                </a:solidFill>
              </a:rPr>
              <a:t>v3</a:t>
            </a:r>
            <a:endParaRPr lang="en-US" sz="1400" dirty="0"/>
          </a:p>
        </p:txBody>
      </p:sp>
      <p:sp>
        <p:nvSpPr>
          <p:cNvPr id="20" name="version-card"/>
          <p:cNvSpPr/>
          <p:nvPr/>
        </p:nvSpPr>
        <p:spPr>
          <a:xfrm>
            <a:off x="8074152" y="2468880"/>
            <a:ext cx="3566160" cy="3383280"/>
          </a:xfrm>
          <a:prstGeom prst="roundRect">
            <a:avLst>
              <a:gd name="adj" fmla="val 2162"/>
            </a:avLst>
          </a:prstGeom>
          <a:solidFill>
            <a:schemeClr val="bg2"/>
          </a:solidFill>
          <a:ln w="9525">
            <a:solidFill>
              <a:schemeClr val="accent3"/>
            </a:solidFill>
            <a:prstDash val="solid"/>
          </a:ln>
        </p:spPr>
      </p:sp>
      <p:sp>
        <p:nvSpPr>
          <p:cNvPr id="21" name="Text 18"/>
          <p:cNvSpPr txBox="1"/>
          <p:nvPr/>
        </p:nvSpPr>
        <p:spPr>
          <a:xfrm>
            <a:off x="8302752" y="2633472"/>
            <a:ext cx="310896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NEXT</a:t>
            </a:r>
            <a:endParaRPr lang="en-US" sz="1000" dirty="0"/>
          </a:p>
        </p:txBody>
      </p:sp>
      <p:sp>
        <p:nvSpPr>
          <p:cNvPr id="22" name="Text 19"/>
          <p:cNvSpPr txBox="1"/>
          <p:nvPr/>
        </p:nvSpPr>
        <p:spPr>
          <a:xfrm>
            <a:off x="8302752" y="2926080"/>
            <a:ext cx="3108960" cy="411480"/>
          </a:xfrm>
          <a:prstGeom prst="rect">
            <a:avLst/>
          </a:prstGeom>
          <a:noFill/>
          <a:ln/>
        </p:spPr>
        <p:txBody>
          <a:bodyPr wrap="square" lIns="0" tIns="0" rIns="0" bIns="0" rtlCol="0" anchor="t"/>
          <a:lstStyle/>
          <a:p>
            <a:pPr indent="0" marL="0">
              <a:buNone/>
            </a:pPr>
            <a:r>
              <a:rPr lang="en-US" sz="2100" b="1" dirty="0">
                <a:solidFill>
                  <a:schemeClr val="tx1"/>
                </a:solidFill>
                <a:latin typeface="Cambria" pitchFamily="34" charset="0"/>
                <a:ea typeface="Cambria" pitchFamily="34" charset="-122"/>
                <a:cs typeface="Cambria" pitchFamily="34" charset="-120"/>
              </a:rPr>
              <a:t>Autonomous Agent</a:t>
            </a:r>
            <a:endParaRPr lang="en-US" sz="2100" dirty="0"/>
          </a:p>
        </p:txBody>
      </p:sp>
      <p:sp>
        <p:nvSpPr>
          <p:cNvPr id="23" name="Text 20"/>
          <p:cNvSpPr txBox="1"/>
          <p:nvPr/>
        </p:nvSpPr>
        <p:spPr>
          <a:xfrm>
            <a:off x="8302752" y="3520440"/>
            <a:ext cx="3154680" cy="2606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Iterative plan → act → observe loop</a:t>
            </a:r>
            <a:endParaRPr lang="en-US" sz="1400" dirty="0"/>
          </a:p>
          <a:p>
            <a:pPr marL="342900" indent="-342900">
              <a:spcAft>
                <a:spcPts val="600"/>
              </a:spcAft>
              <a:buSzPct val="100000"/>
              <a:buChar char="•"/>
            </a:pPr>
            <a:r>
              <a:rPr lang="en-US" sz="1400" dirty="0">
                <a:solidFill>
                  <a:schemeClr val="tx2"/>
                </a:solidFill>
              </a:rPr>
              <a:t>Confirmation for risky actions</a:t>
            </a:r>
            <a:endParaRPr lang="en-US" sz="1400" dirty="0"/>
          </a:p>
          <a:p>
            <a:pPr marL="342900" indent="-342900">
              <a:spcAft>
                <a:spcPts val="600"/>
              </a:spcAft>
              <a:buSzPct val="100000"/>
              <a:buChar char="•"/>
            </a:pPr>
            <a:r>
              <a:rPr lang="en-US" sz="1400" dirty="0">
                <a:solidFill>
                  <a:schemeClr val="tx2"/>
                </a:solidFill>
              </a:rPr>
              <a:t>Persistent memory &amp; gesture control</a:t>
            </a:r>
            <a:endParaRPr lang="en-US" sz="1400" dirty="0"/>
          </a:p>
          <a:p>
            <a:pPr marL="342900" indent="-342900">
              <a:spcAft>
                <a:spcPts val="600"/>
              </a:spcAft>
              <a:buSzPct val="100000"/>
              <a:buChar char="•"/>
            </a:pPr>
            <a:r>
              <a:rPr lang="en-US" sz="1400" dirty="0">
                <a:solidFill>
                  <a:schemeClr val="tx2"/>
                </a:solidFill>
              </a:rPr>
              <a:t>Screen vision &amp; Android control</a:t>
            </a:r>
            <a:endParaRPr lang="en-US" sz="1400" dirty="0"/>
          </a:p>
        </p:txBody>
      </p:sp>
      <p:sp>
        <p:nvSpPr>
          <p:cNvPr id="25" name="Slide Number Placeholder 0"/>
          <p:cNvSpPr>
            <a:spLocks noGrp="1"/>
          </p:cNvSpPr>
          <p:nvPr>
            <p:ph type="sldNum" sz="quarter" idx="4294967295"/>
          </p:nvPr>
        </p:nvSpPr>
        <p:spPr>
          <a:xfrm>
            <a:off x="10972800" y="6437376"/>
            <a:ext cx="667512"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t"/>
          <a:lstStyle/>
          <a:p>
            <a:pPr indent="0" marL="0">
              <a:buNone/>
            </a:pPr>
            <a:r>
              <a:rPr lang="en-US" sz="1100" b="1" spc="300" kern="0" dirty="0">
                <a:solidFill>
                  <a:schemeClr val="accent1"/>
                </a:solidFill>
              </a:rPr>
              <a:t>HONEST ASSESSMENT</a:t>
            </a:r>
            <a:endParaRPr lang="en-US" sz="1100" dirty="0"/>
          </a:p>
        </p:txBody>
      </p:sp>
      <p:sp>
        <p:nvSpPr>
          <p:cNvPr id="3" name="Text 0"/>
          <p:cNvSpPr/>
          <p:nvPr>
            <p:ph idx="101" type="title" hasCustomPrompt="1"/>
          </p:nvPr>
        </p:nvSpPr>
        <p:spPr>
          <a:xfrm>
            <a:off x="548640" y="640080"/>
            <a:ext cx="11091672" cy="685800"/>
          </a:xfrm>
          <a:prstGeom prst="rect">
            <a:avLst/>
          </a:prstGeom>
          <a:noFill/>
          <a:ln/>
        </p:spPr>
        <p:txBody>
          <a:bodyPr wrap="square" lIns="0" tIns="0" rIns="0" bIns="0" rtlCol="0" anchor="t"/>
          <a:lstStyle/>
          <a:p>
            <a:pPr algn="l" indent="0" marL="0">
              <a:buNone/>
            </a:pPr>
            <a:r>
              <a:rPr lang="en-US" sz="3400" b="1" dirty="0">
                <a:solidFill>
                  <a:schemeClr val="tx1"/>
                </a:solidFill>
              </a:rPr>
              <a:t>Current Limitations &amp; Planned Fixes</a:t>
            </a:r>
            <a:endParaRPr lang="en-US" sz="3400" dirty="0"/>
          </a:p>
        </p:txBody>
      </p:sp>
      <p:sp>
        <p:nvSpPr>
          <p:cNvPr id="5" name="Text 2"/>
          <p:cNvSpPr txBox="1"/>
          <p:nvPr/>
        </p:nvSpPr>
        <p:spPr>
          <a:xfrm>
            <a:off x="777240" y="1481328"/>
            <a:ext cx="2743200" cy="228600"/>
          </a:xfrm>
          <a:prstGeom prst="rect">
            <a:avLst/>
          </a:prstGeom>
          <a:noFill/>
          <a:ln/>
        </p:spPr>
        <p:txBody>
          <a:bodyPr wrap="square" lIns="0" tIns="0" rIns="0" bIns="0" rtlCol="0" anchor="t"/>
          <a:lstStyle/>
          <a:p>
            <a:pPr indent="0" marL="0">
              <a:buNone/>
            </a:pPr>
            <a:r>
              <a:rPr lang="en-US" sz="1000" b="1" spc="200" kern="0" dirty="0">
                <a:solidFill>
                  <a:schemeClr val="accent6"/>
                </a:solidFill>
              </a:rPr>
              <a:t>TODAY</a:t>
            </a:r>
            <a:endParaRPr lang="en-US" sz="1000" dirty="0"/>
          </a:p>
        </p:txBody>
      </p:sp>
      <p:sp>
        <p:nvSpPr>
          <p:cNvPr id="6" name="Text 3"/>
          <p:cNvSpPr txBox="1"/>
          <p:nvPr/>
        </p:nvSpPr>
        <p:spPr>
          <a:xfrm>
            <a:off x="6537960" y="1481328"/>
            <a:ext cx="2743200" cy="228600"/>
          </a:xfrm>
          <a:prstGeom prst="rect">
            <a:avLst/>
          </a:prstGeom>
          <a:noFill/>
          <a:ln/>
        </p:spPr>
        <p:txBody>
          <a:bodyPr wrap="square" lIns="0" tIns="0" rIns="0" bIns="0" rtlCol="0" anchor="t"/>
          <a:lstStyle/>
          <a:p>
            <a:pPr indent="0" marL="0">
              <a:buNone/>
            </a:pPr>
            <a:r>
              <a:rPr lang="en-US" sz="1000" b="1" spc="200" kern="0" dirty="0">
                <a:solidFill>
                  <a:schemeClr val="accent5"/>
                </a:solidFill>
              </a:rPr>
              <a:t>PLANNED FIX</a:t>
            </a:r>
            <a:endParaRPr lang="en-US" sz="1000" dirty="0"/>
          </a:p>
        </p:txBody>
      </p:sp>
      <p:sp>
        <p:nvSpPr>
          <p:cNvPr id="7" name="limit-row"/>
          <p:cNvSpPr/>
          <p:nvPr/>
        </p:nvSpPr>
        <p:spPr>
          <a:xfrm>
            <a:off x="548640" y="1783080"/>
            <a:ext cx="11091672" cy="621792"/>
          </a:xfrm>
          <a:prstGeom prst="roundRect">
            <a:avLst>
              <a:gd name="adj" fmla="val 11765"/>
            </a:avLst>
          </a:prstGeom>
          <a:solidFill>
            <a:schemeClr val="bg2"/>
          </a:solidFill>
          <a:ln w="9525">
            <a:solidFill>
              <a:schemeClr val="accent3"/>
            </a:solidFill>
            <a:prstDash val="solid"/>
          </a:ln>
        </p:spPr>
      </p:sp>
      <p:sp>
        <p:nvSpPr>
          <p:cNvPr id="8" name="Text 5"/>
          <p:cNvSpPr txBox="1"/>
          <p:nvPr/>
        </p:nvSpPr>
        <p:spPr>
          <a:xfrm>
            <a:off x="777240" y="1783080"/>
            <a:ext cx="5394960" cy="621792"/>
          </a:xfrm>
          <a:prstGeom prst="rect">
            <a:avLst/>
          </a:prstGeom>
          <a:noFill/>
          <a:ln/>
        </p:spPr>
        <p:txBody>
          <a:bodyPr wrap="square" lIns="0" tIns="0" rIns="0" bIns="0" rtlCol="0" anchor="ctr"/>
          <a:lstStyle/>
          <a:p>
            <a:pPr indent="0" marL="0">
              <a:buNone/>
            </a:pPr>
            <a:r>
              <a:rPr lang="en-US" sz="1400" dirty="0">
                <a:solidFill>
                  <a:schemeClr val="tx1"/>
                </a:solidFill>
              </a:rPr>
              <a:t>delete_path and run_powershell run without asking</a:t>
            </a:r>
            <a:endParaRPr lang="en-US" sz="1400" dirty="0"/>
          </a:p>
        </p:txBody>
      </p:sp>
      <p:sp>
        <p:nvSpPr>
          <p:cNvPr id="9" name="arrow"/>
          <p:cNvSpPr/>
          <p:nvPr/>
        </p:nvSpPr>
        <p:spPr>
          <a:xfrm>
            <a:off x="5989320" y="2093976"/>
            <a:ext cx="320040" cy="0"/>
          </a:xfrm>
          <a:prstGeom prst="line">
            <a:avLst/>
          </a:prstGeom>
          <a:noFill/>
          <a:ln w="22225">
            <a:solidFill>
              <a:schemeClr val="accent1"/>
            </a:solidFill>
            <a:prstDash val="solid"/>
            <a:tailEnd type="triangle"/>
          </a:ln>
        </p:spPr>
      </p:sp>
      <p:sp>
        <p:nvSpPr>
          <p:cNvPr id="10" name="Text 7"/>
          <p:cNvSpPr txBox="1"/>
          <p:nvPr/>
        </p:nvSpPr>
        <p:spPr>
          <a:xfrm>
            <a:off x="6537960" y="1783080"/>
            <a:ext cx="4937760" cy="621792"/>
          </a:xfrm>
          <a:prstGeom prst="rect">
            <a:avLst/>
          </a:prstGeom>
          <a:noFill/>
          <a:ln/>
        </p:spPr>
        <p:txBody>
          <a:bodyPr wrap="square" lIns="0" tIns="0" rIns="0" bIns="0" rtlCol="0" anchor="ctr"/>
          <a:lstStyle/>
          <a:p>
            <a:pPr indent="0" marL="0">
              <a:buNone/>
            </a:pPr>
            <a:r>
              <a:rPr lang="en-US" sz="1400" b="1" dirty="0">
                <a:solidFill>
                  <a:schemeClr val="accent2"/>
                </a:solidFill>
              </a:rPr>
              <a:t>Confirmation dialog and an allow-list for risky actions</a:t>
            </a:r>
            <a:endParaRPr lang="en-US" sz="1400" dirty="0"/>
          </a:p>
        </p:txBody>
      </p:sp>
      <p:sp>
        <p:nvSpPr>
          <p:cNvPr id="11" name="limit-row"/>
          <p:cNvSpPr/>
          <p:nvPr/>
        </p:nvSpPr>
        <p:spPr>
          <a:xfrm>
            <a:off x="548640" y="2514600"/>
            <a:ext cx="11091672" cy="621792"/>
          </a:xfrm>
          <a:prstGeom prst="roundRect">
            <a:avLst>
              <a:gd name="adj" fmla="val 11765"/>
            </a:avLst>
          </a:prstGeom>
          <a:solidFill>
            <a:schemeClr val="bg2"/>
          </a:solidFill>
          <a:ln w="9525">
            <a:solidFill>
              <a:schemeClr val="accent3"/>
            </a:solidFill>
            <a:prstDash val="solid"/>
          </a:ln>
        </p:spPr>
      </p:sp>
      <p:sp>
        <p:nvSpPr>
          <p:cNvPr id="12" name="Text 9"/>
          <p:cNvSpPr txBox="1"/>
          <p:nvPr/>
        </p:nvSpPr>
        <p:spPr>
          <a:xfrm>
            <a:off x="777240" y="2514600"/>
            <a:ext cx="5394960" cy="621792"/>
          </a:xfrm>
          <a:prstGeom prst="rect">
            <a:avLst/>
          </a:prstGeom>
          <a:noFill/>
          <a:ln/>
        </p:spPr>
        <p:txBody>
          <a:bodyPr wrap="square" lIns="0" tIns="0" rIns="0" bIns="0" rtlCol="0" anchor="ctr"/>
          <a:lstStyle/>
          <a:p>
            <a:pPr indent="0" marL="0">
              <a:buNone/>
            </a:pPr>
            <a:r>
              <a:rPr lang="en-US" sz="1400" dirty="0">
                <a:solidFill>
                  <a:schemeClr val="tx1"/>
                </a:solidFill>
              </a:rPr>
              <a:t>volume_set is approximate (simulated key presses)</a:t>
            </a:r>
            <a:endParaRPr lang="en-US" sz="1400" dirty="0"/>
          </a:p>
        </p:txBody>
      </p:sp>
      <p:sp>
        <p:nvSpPr>
          <p:cNvPr id="13" name="arrow"/>
          <p:cNvSpPr/>
          <p:nvPr/>
        </p:nvSpPr>
        <p:spPr>
          <a:xfrm>
            <a:off x="5989320" y="2825496"/>
            <a:ext cx="320040" cy="0"/>
          </a:xfrm>
          <a:prstGeom prst="line">
            <a:avLst/>
          </a:prstGeom>
          <a:noFill/>
          <a:ln w="22225">
            <a:solidFill>
              <a:schemeClr val="accent1"/>
            </a:solidFill>
            <a:prstDash val="solid"/>
            <a:tailEnd type="triangle"/>
          </a:ln>
        </p:spPr>
      </p:sp>
      <p:sp>
        <p:nvSpPr>
          <p:cNvPr id="14" name="Text 11"/>
          <p:cNvSpPr txBox="1"/>
          <p:nvPr/>
        </p:nvSpPr>
        <p:spPr>
          <a:xfrm>
            <a:off x="6537960" y="2514600"/>
            <a:ext cx="4937760" cy="621792"/>
          </a:xfrm>
          <a:prstGeom prst="rect">
            <a:avLst/>
          </a:prstGeom>
          <a:noFill/>
          <a:ln/>
        </p:spPr>
        <p:txBody>
          <a:bodyPr wrap="square" lIns="0" tIns="0" rIns="0" bIns="0" rtlCol="0" anchor="ctr"/>
          <a:lstStyle/>
          <a:p>
            <a:pPr indent="0" marL="0">
              <a:buNone/>
            </a:pPr>
            <a:r>
              <a:rPr lang="en-US" sz="1400" b="1" dirty="0">
                <a:solidFill>
                  <a:schemeClr val="accent2"/>
                </a:solidFill>
              </a:rPr>
              <a:t>Use the Windows Core Audio API for exact levels</a:t>
            </a:r>
            <a:endParaRPr lang="en-US" sz="1400" dirty="0"/>
          </a:p>
        </p:txBody>
      </p:sp>
      <p:sp>
        <p:nvSpPr>
          <p:cNvPr id="15" name="limit-row"/>
          <p:cNvSpPr/>
          <p:nvPr/>
        </p:nvSpPr>
        <p:spPr>
          <a:xfrm>
            <a:off x="548640" y="3246120"/>
            <a:ext cx="11091672" cy="621792"/>
          </a:xfrm>
          <a:prstGeom prst="roundRect">
            <a:avLst>
              <a:gd name="adj" fmla="val 11765"/>
            </a:avLst>
          </a:prstGeom>
          <a:solidFill>
            <a:schemeClr val="bg2"/>
          </a:solidFill>
          <a:ln w="9525">
            <a:solidFill>
              <a:schemeClr val="accent3"/>
            </a:solidFill>
            <a:prstDash val="solid"/>
          </a:ln>
        </p:spPr>
      </p:sp>
      <p:sp>
        <p:nvSpPr>
          <p:cNvPr id="16" name="Text 13"/>
          <p:cNvSpPr txBox="1"/>
          <p:nvPr/>
        </p:nvSpPr>
        <p:spPr>
          <a:xfrm>
            <a:off x="777240" y="3246120"/>
            <a:ext cx="5394960" cy="621792"/>
          </a:xfrm>
          <a:prstGeom prst="rect">
            <a:avLst/>
          </a:prstGeom>
          <a:noFill/>
          <a:ln/>
        </p:spPr>
        <p:txBody>
          <a:bodyPr wrap="square" lIns="0" tIns="0" rIns="0" bIns="0" rtlCol="0" anchor="ctr"/>
          <a:lstStyle/>
          <a:p>
            <a:pPr indent="0" marL="0">
              <a:buNone/>
            </a:pPr>
            <a:r>
              <a:rPr lang="en-US" sz="1400" dirty="0">
                <a:solidFill>
                  <a:schemeClr val="tx1"/>
                </a:solidFill>
              </a:rPr>
              <a:t>Spotify and alarm tools only open the app</a:t>
            </a:r>
            <a:endParaRPr lang="en-US" sz="1400" dirty="0"/>
          </a:p>
        </p:txBody>
      </p:sp>
      <p:sp>
        <p:nvSpPr>
          <p:cNvPr id="17" name="arrow"/>
          <p:cNvSpPr/>
          <p:nvPr/>
        </p:nvSpPr>
        <p:spPr>
          <a:xfrm>
            <a:off x="5989320" y="3557016"/>
            <a:ext cx="320040" cy="0"/>
          </a:xfrm>
          <a:prstGeom prst="line">
            <a:avLst/>
          </a:prstGeom>
          <a:noFill/>
          <a:ln w="22225">
            <a:solidFill>
              <a:schemeClr val="accent1"/>
            </a:solidFill>
            <a:prstDash val="solid"/>
            <a:tailEnd type="triangle"/>
          </a:ln>
        </p:spPr>
      </p:sp>
      <p:sp>
        <p:nvSpPr>
          <p:cNvPr id="18" name="Text 15"/>
          <p:cNvSpPr txBox="1"/>
          <p:nvPr/>
        </p:nvSpPr>
        <p:spPr>
          <a:xfrm>
            <a:off x="6537960" y="3246120"/>
            <a:ext cx="4937760" cy="621792"/>
          </a:xfrm>
          <a:prstGeom prst="rect">
            <a:avLst/>
          </a:prstGeom>
          <a:noFill/>
          <a:ln/>
        </p:spPr>
        <p:txBody>
          <a:bodyPr wrap="square" lIns="0" tIns="0" rIns="0" bIns="0" rtlCol="0" anchor="ctr"/>
          <a:lstStyle/>
          <a:p>
            <a:pPr indent="0" marL="0">
              <a:buNone/>
            </a:pPr>
            <a:r>
              <a:rPr lang="en-US" sz="1400" b="1" dirty="0">
                <a:solidFill>
                  <a:schemeClr val="accent2"/>
                </a:solidFill>
              </a:rPr>
              <a:t>Deep links / Spotify API and real alarm creation</a:t>
            </a:r>
            <a:endParaRPr lang="en-US" sz="1400" dirty="0"/>
          </a:p>
        </p:txBody>
      </p:sp>
      <p:sp>
        <p:nvSpPr>
          <p:cNvPr id="19" name="limit-row"/>
          <p:cNvSpPr/>
          <p:nvPr/>
        </p:nvSpPr>
        <p:spPr>
          <a:xfrm>
            <a:off x="548640" y="3977640"/>
            <a:ext cx="11091672" cy="621792"/>
          </a:xfrm>
          <a:prstGeom prst="roundRect">
            <a:avLst>
              <a:gd name="adj" fmla="val 11765"/>
            </a:avLst>
          </a:prstGeom>
          <a:solidFill>
            <a:schemeClr val="bg2"/>
          </a:solidFill>
          <a:ln w="9525">
            <a:solidFill>
              <a:schemeClr val="accent3"/>
            </a:solidFill>
            <a:prstDash val="solid"/>
          </a:ln>
        </p:spPr>
      </p:sp>
      <p:sp>
        <p:nvSpPr>
          <p:cNvPr id="20" name="Text 17"/>
          <p:cNvSpPr txBox="1"/>
          <p:nvPr/>
        </p:nvSpPr>
        <p:spPr>
          <a:xfrm>
            <a:off x="777240" y="3977640"/>
            <a:ext cx="5394960" cy="621792"/>
          </a:xfrm>
          <a:prstGeom prst="rect">
            <a:avLst/>
          </a:prstGeom>
          <a:noFill/>
          <a:ln/>
        </p:spPr>
        <p:txBody>
          <a:bodyPr wrap="square" lIns="0" tIns="0" rIns="0" bIns="0" rtlCol="0" anchor="ctr"/>
          <a:lstStyle/>
          <a:p>
            <a:pPr indent="0" marL="0">
              <a:buNone/>
            </a:pPr>
            <a:r>
              <a:rPr lang="en-US" sz="1400" dirty="0">
                <a:solidFill>
                  <a:schemeClr val="tx1"/>
                </a:solidFill>
              </a:rPr>
              <a:t>Window layouts are best-effort (Win + Arrow keys)</a:t>
            </a:r>
            <a:endParaRPr lang="en-US" sz="1400" dirty="0"/>
          </a:p>
        </p:txBody>
      </p:sp>
      <p:sp>
        <p:nvSpPr>
          <p:cNvPr id="21" name="arrow"/>
          <p:cNvSpPr/>
          <p:nvPr/>
        </p:nvSpPr>
        <p:spPr>
          <a:xfrm>
            <a:off x="5989320" y="4288536"/>
            <a:ext cx="320040" cy="0"/>
          </a:xfrm>
          <a:prstGeom prst="line">
            <a:avLst/>
          </a:prstGeom>
          <a:noFill/>
          <a:ln w="22225">
            <a:solidFill>
              <a:schemeClr val="accent1"/>
            </a:solidFill>
            <a:prstDash val="solid"/>
            <a:tailEnd type="triangle"/>
          </a:ln>
        </p:spPr>
      </p:sp>
      <p:sp>
        <p:nvSpPr>
          <p:cNvPr id="22" name="Text 19"/>
          <p:cNvSpPr txBox="1"/>
          <p:nvPr/>
        </p:nvSpPr>
        <p:spPr>
          <a:xfrm>
            <a:off x="6537960" y="3977640"/>
            <a:ext cx="4937760" cy="621792"/>
          </a:xfrm>
          <a:prstGeom prst="rect">
            <a:avLst/>
          </a:prstGeom>
          <a:noFill/>
          <a:ln/>
        </p:spPr>
        <p:txBody>
          <a:bodyPr wrap="square" lIns="0" tIns="0" rIns="0" bIns="0" rtlCol="0" anchor="ctr"/>
          <a:lstStyle/>
          <a:p>
            <a:pPr indent="0" marL="0">
              <a:buNone/>
            </a:pPr>
            <a:r>
              <a:rPr lang="en-US" sz="1400" b="1" dirty="0">
                <a:solidFill>
                  <a:schemeClr val="accent2"/>
                </a:solidFill>
              </a:rPr>
              <a:t>Win32 window-placement APIs for true tiling</a:t>
            </a:r>
            <a:endParaRPr lang="en-US" sz="1400" dirty="0"/>
          </a:p>
        </p:txBody>
      </p:sp>
      <p:sp>
        <p:nvSpPr>
          <p:cNvPr id="23" name="limit-row"/>
          <p:cNvSpPr/>
          <p:nvPr/>
        </p:nvSpPr>
        <p:spPr>
          <a:xfrm>
            <a:off x="548640" y="4709160"/>
            <a:ext cx="11091672" cy="621792"/>
          </a:xfrm>
          <a:prstGeom prst="roundRect">
            <a:avLst>
              <a:gd name="adj" fmla="val 11765"/>
            </a:avLst>
          </a:prstGeom>
          <a:solidFill>
            <a:schemeClr val="bg2"/>
          </a:solidFill>
          <a:ln w="9525">
            <a:solidFill>
              <a:schemeClr val="accent3"/>
            </a:solidFill>
            <a:prstDash val="solid"/>
          </a:ln>
        </p:spPr>
      </p:sp>
      <p:sp>
        <p:nvSpPr>
          <p:cNvPr id="24" name="Text 21"/>
          <p:cNvSpPr txBox="1"/>
          <p:nvPr/>
        </p:nvSpPr>
        <p:spPr>
          <a:xfrm>
            <a:off x="777240" y="4709160"/>
            <a:ext cx="5394960" cy="621792"/>
          </a:xfrm>
          <a:prstGeom prst="rect">
            <a:avLst/>
          </a:prstGeom>
          <a:noFill/>
          <a:ln/>
        </p:spPr>
        <p:txBody>
          <a:bodyPr wrap="square" lIns="0" tIns="0" rIns="0" bIns="0" rtlCol="0" anchor="ctr"/>
          <a:lstStyle/>
          <a:p>
            <a:pPr indent="0" marL="0">
              <a:buNone/>
            </a:pPr>
            <a:r>
              <a:rPr lang="en-US" sz="1400" dirty="0">
                <a:solidFill>
                  <a:schemeClr val="tx1"/>
                </a:solidFill>
              </a:rPr>
              <a:t>One tool-call round per message; history lost on quit</a:t>
            </a:r>
            <a:endParaRPr lang="en-US" sz="1400" dirty="0"/>
          </a:p>
        </p:txBody>
      </p:sp>
      <p:sp>
        <p:nvSpPr>
          <p:cNvPr id="25" name="arrow"/>
          <p:cNvSpPr/>
          <p:nvPr/>
        </p:nvSpPr>
        <p:spPr>
          <a:xfrm>
            <a:off x="5989320" y="5020056"/>
            <a:ext cx="320040" cy="0"/>
          </a:xfrm>
          <a:prstGeom prst="line">
            <a:avLst/>
          </a:prstGeom>
          <a:noFill/>
          <a:ln w="22225">
            <a:solidFill>
              <a:schemeClr val="accent1"/>
            </a:solidFill>
            <a:prstDash val="solid"/>
            <a:tailEnd type="triangle"/>
          </a:ln>
        </p:spPr>
      </p:sp>
      <p:sp>
        <p:nvSpPr>
          <p:cNvPr id="26" name="Text 23"/>
          <p:cNvSpPr txBox="1"/>
          <p:nvPr/>
        </p:nvSpPr>
        <p:spPr>
          <a:xfrm>
            <a:off x="6537960" y="4709160"/>
            <a:ext cx="4937760" cy="621792"/>
          </a:xfrm>
          <a:prstGeom prst="rect">
            <a:avLst/>
          </a:prstGeom>
          <a:noFill/>
          <a:ln/>
        </p:spPr>
        <p:txBody>
          <a:bodyPr wrap="square" lIns="0" tIns="0" rIns="0" bIns="0" rtlCol="0" anchor="ctr"/>
          <a:lstStyle/>
          <a:p>
            <a:pPr indent="0" marL="0">
              <a:buNone/>
            </a:pPr>
            <a:r>
              <a:rPr lang="en-US" sz="1400" b="1" dirty="0">
                <a:solidFill>
                  <a:schemeClr val="accent2"/>
                </a:solidFill>
              </a:rPr>
              <a:t>Loop until the task is done; persist memory in SQLite</a:t>
            </a:r>
            <a:endParaRPr lang="en-US" sz="1400" dirty="0"/>
          </a:p>
        </p:txBody>
      </p:sp>
      <p:sp>
        <p:nvSpPr>
          <p:cNvPr id="27" name="limit-row"/>
          <p:cNvSpPr/>
          <p:nvPr/>
        </p:nvSpPr>
        <p:spPr>
          <a:xfrm>
            <a:off x="548640" y="5440680"/>
            <a:ext cx="11091672" cy="621792"/>
          </a:xfrm>
          <a:prstGeom prst="roundRect">
            <a:avLst>
              <a:gd name="adj" fmla="val 11765"/>
            </a:avLst>
          </a:prstGeom>
          <a:solidFill>
            <a:schemeClr val="bg2"/>
          </a:solidFill>
          <a:ln w="9525">
            <a:solidFill>
              <a:schemeClr val="accent3"/>
            </a:solidFill>
            <a:prstDash val="solid"/>
          </a:ln>
        </p:spPr>
      </p:sp>
      <p:sp>
        <p:nvSpPr>
          <p:cNvPr id="28" name="Text 25"/>
          <p:cNvSpPr txBox="1"/>
          <p:nvPr/>
        </p:nvSpPr>
        <p:spPr>
          <a:xfrm>
            <a:off x="777240" y="5440680"/>
            <a:ext cx="5394960" cy="621792"/>
          </a:xfrm>
          <a:prstGeom prst="rect">
            <a:avLst/>
          </a:prstGeom>
          <a:noFill/>
          <a:ln/>
        </p:spPr>
        <p:txBody>
          <a:bodyPr wrap="square" lIns="0" tIns="0" rIns="0" bIns="0" rtlCol="0" anchor="ctr"/>
          <a:lstStyle/>
          <a:p>
            <a:pPr indent="0" marL="0">
              <a:buNone/>
            </a:pPr>
            <a:r>
              <a:rPr lang="en-US" sz="1400" dirty="0">
                <a:solidFill>
                  <a:schemeClr val="tx1"/>
                </a:solidFill>
              </a:rPr>
              <a:t>API key is read from a local .env file</a:t>
            </a:r>
            <a:endParaRPr lang="en-US" sz="1400" dirty="0"/>
          </a:p>
        </p:txBody>
      </p:sp>
      <p:sp>
        <p:nvSpPr>
          <p:cNvPr id="29" name="arrow"/>
          <p:cNvSpPr/>
          <p:nvPr/>
        </p:nvSpPr>
        <p:spPr>
          <a:xfrm>
            <a:off x="5989320" y="5751576"/>
            <a:ext cx="320040" cy="0"/>
          </a:xfrm>
          <a:prstGeom prst="line">
            <a:avLst/>
          </a:prstGeom>
          <a:noFill/>
          <a:ln w="22225">
            <a:solidFill>
              <a:schemeClr val="accent1"/>
            </a:solidFill>
            <a:prstDash val="solid"/>
            <a:tailEnd type="triangle"/>
          </a:ln>
        </p:spPr>
      </p:sp>
      <p:sp>
        <p:nvSpPr>
          <p:cNvPr id="30" name="Text 27"/>
          <p:cNvSpPr txBox="1"/>
          <p:nvPr/>
        </p:nvSpPr>
        <p:spPr>
          <a:xfrm>
            <a:off x="6537960" y="5440680"/>
            <a:ext cx="4937760" cy="621792"/>
          </a:xfrm>
          <a:prstGeom prst="rect">
            <a:avLst/>
          </a:prstGeom>
          <a:noFill/>
          <a:ln/>
        </p:spPr>
        <p:txBody>
          <a:bodyPr wrap="square" lIns="0" tIns="0" rIns="0" bIns="0" rtlCol="0" anchor="ctr"/>
          <a:lstStyle/>
          <a:p>
            <a:pPr indent="0" marL="0">
              <a:buNone/>
            </a:pPr>
            <a:r>
              <a:rPr lang="en-US" sz="1400" b="1" dirty="0">
                <a:solidFill>
                  <a:schemeClr val="accent2"/>
                </a:solidFill>
              </a:rPr>
              <a:t>Keep it out of version control; use a secure store</a:t>
            </a:r>
            <a:endParaRPr lang="en-US" sz="1400" dirty="0"/>
          </a:p>
        </p:txBody>
      </p:sp>
      <p:sp>
        <p:nvSpPr>
          <p:cNvPr id="25" name="Slide Number Placeholder 0"/>
          <p:cNvSpPr>
            <a:spLocks noGrp="1"/>
          </p:cNvSpPr>
          <p:nvPr>
            <p:ph type="sldNum" sz="quarter" idx="4294967295"/>
          </p:nvPr>
        </p:nvSpPr>
        <p:spPr>
          <a:xfrm>
            <a:off x="10972800" y="6437376"/>
            <a:ext cx="667512"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t"/>
          <a:lstStyle/>
          <a:p>
            <a:pPr indent="0" marL="0">
              <a:buNone/>
            </a:pPr>
            <a:r>
              <a:rPr lang="en-US" sz="1100" b="1" spc="300" kern="0" dirty="0">
                <a:solidFill>
                  <a:schemeClr val="accent1"/>
                </a:solidFill>
              </a:rPr>
              <a:t>LIVE DEMONSTRATION</a:t>
            </a:r>
            <a:endParaRPr lang="en-US" sz="1100" dirty="0"/>
          </a:p>
        </p:txBody>
      </p:sp>
      <p:sp>
        <p:nvSpPr>
          <p:cNvPr id="3" name="Text 0"/>
          <p:cNvSpPr/>
          <p:nvPr>
            <p:ph idx="101" type="title" hasCustomPrompt="1"/>
          </p:nvPr>
        </p:nvSpPr>
        <p:spPr>
          <a:xfrm>
            <a:off x="548640" y="640080"/>
            <a:ext cx="11091672" cy="685800"/>
          </a:xfrm>
          <a:prstGeom prst="rect">
            <a:avLst/>
          </a:prstGeom>
          <a:noFill/>
          <a:ln/>
        </p:spPr>
        <p:txBody>
          <a:bodyPr wrap="square" lIns="0" tIns="0" rIns="0" bIns="0" rtlCol="0" anchor="t"/>
          <a:lstStyle/>
          <a:p>
            <a:pPr algn="l" indent="0" marL="0">
              <a:buNone/>
            </a:pPr>
            <a:r>
              <a:rPr lang="en-US" sz="3400" b="1" dirty="0">
                <a:solidFill>
                  <a:schemeClr val="tx1"/>
                </a:solidFill>
              </a:rPr>
              <a:t>Demo Plan</a:t>
            </a:r>
            <a:endParaRPr lang="en-US" sz="3400" dirty="0"/>
          </a:p>
        </p:txBody>
      </p:sp>
      <p:sp>
        <p:nvSpPr>
          <p:cNvPr id="5" name="demo-row"/>
          <p:cNvSpPr/>
          <p:nvPr/>
        </p:nvSpPr>
        <p:spPr>
          <a:xfrm>
            <a:off x="548640" y="1554480"/>
            <a:ext cx="11091672" cy="521208"/>
          </a:xfrm>
          <a:prstGeom prst="roundRect">
            <a:avLst>
              <a:gd name="adj" fmla="val 14035"/>
            </a:avLst>
          </a:prstGeom>
          <a:solidFill>
            <a:schemeClr val="bg2"/>
          </a:solidFill>
          <a:ln w="9525">
            <a:solidFill>
              <a:schemeClr val="accent3"/>
            </a:solidFill>
            <a:prstDash val="solid"/>
          </a:ln>
        </p:spPr>
      </p:sp>
      <p:sp>
        <p:nvSpPr>
          <p:cNvPr id="6" name="step-number"/>
          <p:cNvSpPr/>
          <p:nvPr/>
        </p:nvSpPr>
        <p:spPr>
          <a:xfrm>
            <a:off x="731520" y="1623060"/>
            <a:ext cx="384048" cy="384048"/>
          </a:xfrm>
          <a:prstGeom prst="ellipse">
            <a:avLst/>
          </a:prstGeom>
          <a:solidFill>
            <a:schemeClr val="accent1"/>
          </a:solidFill>
          <a:ln w="6350">
            <a:solidFill>
              <a:schemeClr val="accent1"/>
            </a:solidFill>
            <a:prstDash val="solid"/>
          </a:ln>
        </p:spPr>
      </p:sp>
      <p:sp>
        <p:nvSpPr>
          <p:cNvPr id="7" name="Text 4"/>
          <p:cNvSpPr txBox="1"/>
          <p:nvPr/>
        </p:nvSpPr>
        <p:spPr>
          <a:xfrm>
            <a:off x="731520" y="16230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ext 5"/>
          <p:cNvSpPr txBox="1"/>
          <p:nvPr/>
        </p:nvSpPr>
        <p:spPr>
          <a:xfrm>
            <a:off x="1325880" y="1554480"/>
            <a:ext cx="5120640" cy="521208"/>
          </a:xfrm>
          <a:prstGeom prst="rect">
            <a:avLst/>
          </a:prstGeom>
          <a:noFill/>
          <a:ln/>
        </p:spPr>
        <p:txBody>
          <a:bodyPr wrap="square" lIns="0" tIns="0" rIns="0" bIns="0" rtlCol="0" anchor="ctr"/>
          <a:lstStyle/>
          <a:p>
            <a:pPr indent="0" marL="0">
              <a:buNone/>
            </a:pPr>
            <a:r>
              <a:rPr lang="en-US" sz="1500" b="1" dirty="0">
                <a:solidFill>
                  <a:schemeClr val="accent2"/>
                </a:solidFill>
              </a:rPr>
              <a:t>Chrome open చెయ్</a:t>
            </a:r>
            <a:endParaRPr lang="en-US" sz="1500" dirty="0"/>
          </a:p>
        </p:txBody>
      </p:sp>
      <p:sp>
        <p:nvSpPr>
          <p:cNvPr id="9" name="arrow"/>
          <p:cNvSpPr/>
          <p:nvPr/>
        </p:nvSpPr>
        <p:spPr>
          <a:xfrm>
            <a:off x="6492240" y="1815084"/>
            <a:ext cx="274320" cy="0"/>
          </a:xfrm>
          <a:prstGeom prst="line">
            <a:avLst/>
          </a:prstGeom>
          <a:noFill/>
          <a:ln w="22225">
            <a:solidFill>
              <a:schemeClr val="accent1"/>
            </a:solidFill>
            <a:prstDash val="solid"/>
            <a:tailEnd type="triangle"/>
          </a:ln>
        </p:spPr>
      </p:sp>
      <p:sp>
        <p:nvSpPr>
          <p:cNvPr id="10" name="Text 7"/>
          <p:cNvSpPr txBox="1"/>
          <p:nvPr/>
        </p:nvSpPr>
        <p:spPr>
          <a:xfrm>
            <a:off x="6949440" y="1554480"/>
            <a:ext cx="4572000" cy="521208"/>
          </a:xfrm>
          <a:prstGeom prst="rect">
            <a:avLst/>
          </a:prstGeom>
          <a:noFill/>
          <a:ln/>
        </p:spPr>
        <p:txBody>
          <a:bodyPr wrap="square" lIns="0" tIns="0" rIns="0" bIns="0" rtlCol="0" anchor="ctr"/>
          <a:lstStyle/>
          <a:p>
            <a:pPr indent="0" marL="0">
              <a:buNone/>
            </a:pPr>
            <a:r>
              <a:rPr lang="en-US" sz="1400" dirty="0">
                <a:solidFill>
                  <a:schemeClr val="tx1"/>
                </a:solidFill>
              </a:rPr>
              <a:t>Chrome launches</a:t>
            </a:r>
            <a:endParaRPr lang="en-US" sz="1400" dirty="0"/>
          </a:p>
        </p:txBody>
      </p:sp>
      <p:sp>
        <p:nvSpPr>
          <p:cNvPr id="11" name="demo-row"/>
          <p:cNvSpPr/>
          <p:nvPr/>
        </p:nvSpPr>
        <p:spPr>
          <a:xfrm>
            <a:off x="548640" y="2167128"/>
            <a:ext cx="11091672" cy="521208"/>
          </a:xfrm>
          <a:prstGeom prst="roundRect">
            <a:avLst>
              <a:gd name="adj" fmla="val 14035"/>
            </a:avLst>
          </a:prstGeom>
          <a:solidFill>
            <a:schemeClr val="bg2"/>
          </a:solidFill>
          <a:ln w="9525">
            <a:solidFill>
              <a:schemeClr val="accent3"/>
            </a:solidFill>
            <a:prstDash val="solid"/>
          </a:ln>
        </p:spPr>
      </p:sp>
      <p:sp>
        <p:nvSpPr>
          <p:cNvPr id="12" name="step-number"/>
          <p:cNvSpPr/>
          <p:nvPr/>
        </p:nvSpPr>
        <p:spPr>
          <a:xfrm>
            <a:off x="731520" y="2235708"/>
            <a:ext cx="384048" cy="384048"/>
          </a:xfrm>
          <a:prstGeom prst="ellipse">
            <a:avLst/>
          </a:prstGeom>
          <a:solidFill>
            <a:schemeClr val="accent1"/>
          </a:solidFill>
          <a:ln w="6350">
            <a:solidFill>
              <a:schemeClr val="accent1"/>
            </a:solidFill>
            <a:prstDash val="solid"/>
          </a:ln>
        </p:spPr>
      </p:sp>
      <p:sp>
        <p:nvSpPr>
          <p:cNvPr id="13" name="Text 10"/>
          <p:cNvSpPr txBox="1"/>
          <p:nvPr/>
        </p:nvSpPr>
        <p:spPr>
          <a:xfrm>
            <a:off x="731520" y="223570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Text 11"/>
          <p:cNvSpPr txBox="1"/>
          <p:nvPr/>
        </p:nvSpPr>
        <p:spPr>
          <a:xfrm>
            <a:off x="1325880" y="2167128"/>
            <a:ext cx="5120640" cy="521208"/>
          </a:xfrm>
          <a:prstGeom prst="rect">
            <a:avLst/>
          </a:prstGeom>
          <a:noFill/>
          <a:ln/>
        </p:spPr>
        <p:txBody>
          <a:bodyPr wrap="square" lIns="0" tIns="0" rIns="0" bIns="0" rtlCol="0" anchor="ctr"/>
          <a:lstStyle/>
          <a:p>
            <a:pPr indent="0" marL="0">
              <a:buNone/>
            </a:pPr>
            <a:r>
              <a:rPr lang="en-US" sz="1500" b="1" dirty="0">
                <a:solidFill>
                  <a:schemeClr val="accent2"/>
                </a:solidFill>
              </a:rPr>
              <a:t>Notepad open చేసి hello రాయి</a:t>
            </a:r>
            <a:endParaRPr lang="en-US" sz="1500" dirty="0"/>
          </a:p>
        </p:txBody>
      </p:sp>
      <p:sp>
        <p:nvSpPr>
          <p:cNvPr id="15" name="arrow"/>
          <p:cNvSpPr/>
          <p:nvPr/>
        </p:nvSpPr>
        <p:spPr>
          <a:xfrm>
            <a:off x="6492240" y="2427732"/>
            <a:ext cx="274320" cy="0"/>
          </a:xfrm>
          <a:prstGeom prst="line">
            <a:avLst/>
          </a:prstGeom>
          <a:noFill/>
          <a:ln w="22225">
            <a:solidFill>
              <a:schemeClr val="accent1"/>
            </a:solidFill>
            <a:prstDash val="solid"/>
            <a:tailEnd type="triangle"/>
          </a:ln>
        </p:spPr>
      </p:sp>
      <p:sp>
        <p:nvSpPr>
          <p:cNvPr id="16" name="Text 13"/>
          <p:cNvSpPr txBox="1"/>
          <p:nvPr/>
        </p:nvSpPr>
        <p:spPr>
          <a:xfrm>
            <a:off x="6949440" y="2167128"/>
            <a:ext cx="4572000" cy="521208"/>
          </a:xfrm>
          <a:prstGeom prst="rect">
            <a:avLst/>
          </a:prstGeom>
          <a:noFill/>
          <a:ln/>
        </p:spPr>
        <p:txBody>
          <a:bodyPr wrap="square" lIns="0" tIns="0" rIns="0" bIns="0" rtlCol="0" anchor="ctr"/>
          <a:lstStyle/>
          <a:p>
            <a:pPr indent="0" marL="0">
              <a:buNone/>
            </a:pPr>
            <a:r>
              <a:rPr lang="en-US" sz="1400" dirty="0">
                <a:solidFill>
                  <a:schemeClr val="tx1"/>
                </a:solidFill>
              </a:rPr>
              <a:t>Notepad opens with “hello”</a:t>
            </a:r>
            <a:endParaRPr lang="en-US" sz="1400" dirty="0"/>
          </a:p>
        </p:txBody>
      </p:sp>
      <p:sp>
        <p:nvSpPr>
          <p:cNvPr id="17" name="demo-row"/>
          <p:cNvSpPr/>
          <p:nvPr/>
        </p:nvSpPr>
        <p:spPr>
          <a:xfrm>
            <a:off x="548640" y="2779776"/>
            <a:ext cx="11091672" cy="521208"/>
          </a:xfrm>
          <a:prstGeom prst="roundRect">
            <a:avLst>
              <a:gd name="adj" fmla="val 14035"/>
            </a:avLst>
          </a:prstGeom>
          <a:solidFill>
            <a:schemeClr val="bg2"/>
          </a:solidFill>
          <a:ln w="9525">
            <a:solidFill>
              <a:schemeClr val="accent3"/>
            </a:solidFill>
            <a:prstDash val="solid"/>
          </a:ln>
        </p:spPr>
      </p:sp>
      <p:sp>
        <p:nvSpPr>
          <p:cNvPr id="18" name="step-number"/>
          <p:cNvSpPr/>
          <p:nvPr/>
        </p:nvSpPr>
        <p:spPr>
          <a:xfrm>
            <a:off x="731520" y="2848356"/>
            <a:ext cx="384048" cy="384048"/>
          </a:xfrm>
          <a:prstGeom prst="ellipse">
            <a:avLst/>
          </a:prstGeom>
          <a:solidFill>
            <a:schemeClr val="accent1"/>
          </a:solidFill>
          <a:ln w="6350">
            <a:solidFill>
              <a:schemeClr val="accent1"/>
            </a:solidFill>
            <a:prstDash val="solid"/>
          </a:ln>
        </p:spPr>
      </p:sp>
      <p:sp>
        <p:nvSpPr>
          <p:cNvPr id="19" name="Text 16"/>
          <p:cNvSpPr txBox="1"/>
          <p:nvPr/>
        </p:nvSpPr>
        <p:spPr>
          <a:xfrm>
            <a:off x="731520" y="284835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0" name="Text 17"/>
          <p:cNvSpPr txBox="1"/>
          <p:nvPr/>
        </p:nvSpPr>
        <p:spPr>
          <a:xfrm>
            <a:off x="1325880" y="2779776"/>
            <a:ext cx="5120640" cy="521208"/>
          </a:xfrm>
          <a:prstGeom prst="rect">
            <a:avLst/>
          </a:prstGeom>
          <a:noFill/>
          <a:ln/>
        </p:spPr>
        <p:txBody>
          <a:bodyPr wrap="square" lIns="0" tIns="0" rIns="0" bIns="0" rtlCol="0" anchor="ctr"/>
          <a:lstStyle/>
          <a:p>
            <a:pPr indent="0" marL="0">
              <a:buNone/>
            </a:pPr>
            <a:r>
              <a:rPr lang="en-US" sz="1500" b="1" dirty="0">
                <a:solidFill>
                  <a:schemeClr val="accent2"/>
                </a:solidFill>
              </a:rPr>
              <a:t>Desktop మీద Projects folder create చెయ్</a:t>
            </a:r>
            <a:endParaRPr lang="en-US" sz="1500" dirty="0"/>
          </a:p>
        </p:txBody>
      </p:sp>
      <p:sp>
        <p:nvSpPr>
          <p:cNvPr id="21" name="arrow"/>
          <p:cNvSpPr/>
          <p:nvPr/>
        </p:nvSpPr>
        <p:spPr>
          <a:xfrm>
            <a:off x="6492240" y="3040380"/>
            <a:ext cx="274320" cy="0"/>
          </a:xfrm>
          <a:prstGeom prst="line">
            <a:avLst/>
          </a:prstGeom>
          <a:noFill/>
          <a:ln w="22225">
            <a:solidFill>
              <a:schemeClr val="accent1"/>
            </a:solidFill>
            <a:prstDash val="solid"/>
            <a:tailEnd type="triangle"/>
          </a:ln>
        </p:spPr>
      </p:sp>
      <p:sp>
        <p:nvSpPr>
          <p:cNvPr id="22" name="Text 19"/>
          <p:cNvSpPr txBox="1"/>
          <p:nvPr/>
        </p:nvSpPr>
        <p:spPr>
          <a:xfrm>
            <a:off x="6949440" y="2779776"/>
            <a:ext cx="4572000" cy="521208"/>
          </a:xfrm>
          <a:prstGeom prst="rect">
            <a:avLst/>
          </a:prstGeom>
          <a:noFill/>
          <a:ln/>
        </p:spPr>
        <p:txBody>
          <a:bodyPr wrap="square" lIns="0" tIns="0" rIns="0" bIns="0" rtlCol="0" anchor="ctr"/>
          <a:lstStyle/>
          <a:p>
            <a:pPr indent="0" marL="0">
              <a:buNone/>
            </a:pPr>
            <a:r>
              <a:rPr lang="en-US" sz="1400" dirty="0">
                <a:solidFill>
                  <a:schemeClr val="tx1"/>
                </a:solidFill>
              </a:rPr>
              <a:t>New folder appears on the Desktop</a:t>
            </a:r>
            <a:endParaRPr lang="en-US" sz="1400" dirty="0"/>
          </a:p>
        </p:txBody>
      </p:sp>
      <p:sp>
        <p:nvSpPr>
          <p:cNvPr id="23" name="demo-row"/>
          <p:cNvSpPr/>
          <p:nvPr/>
        </p:nvSpPr>
        <p:spPr>
          <a:xfrm>
            <a:off x="548640" y="3392424"/>
            <a:ext cx="11091672" cy="521208"/>
          </a:xfrm>
          <a:prstGeom prst="roundRect">
            <a:avLst>
              <a:gd name="adj" fmla="val 14035"/>
            </a:avLst>
          </a:prstGeom>
          <a:solidFill>
            <a:schemeClr val="bg2"/>
          </a:solidFill>
          <a:ln w="9525">
            <a:solidFill>
              <a:schemeClr val="accent3"/>
            </a:solidFill>
            <a:prstDash val="solid"/>
          </a:ln>
        </p:spPr>
      </p:sp>
      <p:sp>
        <p:nvSpPr>
          <p:cNvPr id="24" name="step-number"/>
          <p:cNvSpPr/>
          <p:nvPr/>
        </p:nvSpPr>
        <p:spPr>
          <a:xfrm>
            <a:off x="731520" y="3461004"/>
            <a:ext cx="384048" cy="384048"/>
          </a:xfrm>
          <a:prstGeom prst="ellipse">
            <a:avLst/>
          </a:prstGeom>
          <a:solidFill>
            <a:schemeClr val="accent1"/>
          </a:solidFill>
          <a:ln w="6350">
            <a:solidFill>
              <a:schemeClr val="accent1"/>
            </a:solidFill>
            <a:prstDash val="solid"/>
          </a:ln>
        </p:spPr>
      </p:sp>
      <p:sp>
        <p:nvSpPr>
          <p:cNvPr id="25" name="Text 22"/>
          <p:cNvSpPr txBox="1"/>
          <p:nvPr/>
        </p:nvSpPr>
        <p:spPr>
          <a:xfrm>
            <a:off x="731520" y="346100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6" name="Text 23"/>
          <p:cNvSpPr txBox="1"/>
          <p:nvPr/>
        </p:nvSpPr>
        <p:spPr>
          <a:xfrm>
            <a:off x="1325880" y="3392424"/>
            <a:ext cx="5120640" cy="521208"/>
          </a:xfrm>
          <a:prstGeom prst="rect">
            <a:avLst/>
          </a:prstGeom>
          <a:noFill/>
          <a:ln/>
        </p:spPr>
        <p:txBody>
          <a:bodyPr wrap="square" lIns="0" tIns="0" rIns="0" bIns="0" rtlCol="0" anchor="ctr"/>
          <a:lstStyle/>
          <a:p>
            <a:pPr indent="0" marL="0">
              <a:buNone/>
            </a:pPr>
            <a:r>
              <a:rPr lang="en-US" sz="1500" b="1" dirty="0">
                <a:solidFill>
                  <a:schemeClr val="accent2"/>
                </a:solidFill>
              </a:rPr>
              <a:t>YouTube లో Telugu songs search చెయ్</a:t>
            </a:r>
            <a:endParaRPr lang="en-US" sz="1500" dirty="0"/>
          </a:p>
        </p:txBody>
      </p:sp>
      <p:sp>
        <p:nvSpPr>
          <p:cNvPr id="27" name="arrow"/>
          <p:cNvSpPr/>
          <p:nvPr/>
        </p:nvSpPr>
        <p:spPr>
          <a:xfrm>
            <a:off x="6492240" y="3653028"/>
            <a:ext cx="274320" cy="0"/>
          </a:xfrm>
          <a:prstGeom prst="line">
            <a:avLst/>
          </a:prstGeom>
          <a:noFill/>
          <a:ln w="22225">
            <a:solidFill>
              <a:schemeClr val="accent1"/>
            </a:solidFill>
            <a:prstDash val="solid"/>
            <a:tailEnd type="triangle"/>
          </a:ln>
        </p:spPr>
      </p:sp>
      <p:sp>
        <p:nvSpPr>
          <p:cNvPr id="28" name="Text 25"/>
          <p:cNvSpPr txBox="1"/>
          <p:nvPr/>
        </p:nvSpPr>
        <p:spPr>
          <a:xfrm>
            <a:off x="6949440" y="3392424"/>
            <a:ext cx="4572000" cy="521208"/>
          </a:xfrm>
          <a:prstGeom prst="rect">
            <a:avLst/>
          </a:prstGeom>
          <a:noFill/>
          <a:ln/>
        </p:spPr>
        <p:txBody>
          <a:bodyPr wrap="square" lIns="0" tIns="0" rIns="0" bIns="0" rtlCol="0" anchor="ctr"/>
          <a:lstStyle/>
          <a:p>
            <a:pPr indent="0" marL="0">
              <a:buNone/>
            </a:pPr>
            <a:r>
              <a:rPr lang="en-US" sz="1400" dirty="0">
                <a:solidFill>
                  <a:schemeClr val="tx1"/>
                </a:solidFill>
              </a:rPr>
              <a:t>Search results open in the browser</a:t>
            </a:r>
            <a:endParaRPr lang="en-US" sz="1400" dirty="0"/>
          </a:p>
        </p:txBody>
      </p:sp>
      <p:sp>
        <p:nvSpPr>
          <p:cNvPr id="29" name="demo-row"/>
          <p:cNvSpPr/>
          <p:nvPr/>
        </p:nvSpPr>
        <p:spPr>
          <a:xfrm>
            <a:off x="548640" y="4005072"/>
            <a:ext cx="11091672" cy="521208"/>
          </a:xfrm>
          <a:prstGeom prst="roundRect">
            <a:avLst>
              <a:gd name="adj" fmla="val 14035"/>
            </a:avLst>
          </a:prstGeom>
          <a:solidFill>
            <a:schemeClr val="bg2"/>
          </a:solidFill>
          <a:ln w="9525">
            <a:solidFill>
              <a:schemeClr val="accent3"/>
            </a:solidFill>
            <a:prstDash val="solid"/>
          </a:ln>
        </p:spPr>
      </p:sp>
      <p:sp>
        <p:nvSpPr>
          <p:cNvPr id="30" name="step-number"/>
          <p:cNvSpPr/>
          <p:nvPr/>
        </p:nvSpPr>
        <p:spPr>
          <a:xfrm>
            <a:off x="731520" y="4073652"/>
            <a:ext cx="384048" cy="384048"/>
          </a:xfrm>
          <a:prstGeom prst="ellipse">
            <a:avLst/>
          </a:prstGeom>
          <a:solidFill>
            <a:schemeClr val="accent1"/>
          </a:solidFill>
          <a:ln w="6350">
            <a:solidFill>
              <a:schemeClr val="accent1"/>
            </a:solidFill>
            <a:prstDash val="solid"/>
          </a:ln>
        </p:spPr>
      </p:sp>
      <p:sp>
        <p:nvSpPr>
          <p:cNvPr id="31" name="Text 28"/>
          <p:cNvSpPr txBox="1"/>
          <p:nvPr/>
        </p:nvSpPr>
        <p:spPr>
          <a:xfrm>
            <a:off x="731520" y="407365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2" name="Text 29"/>
          <p:cNvSpPr txBox="1"/>
          <p:nvPr/>
        </p:nvSpPr>
        <p:spPr>
          <a:xfrm>
            <a:off x="1325880" y="4005072"/>
            <a:ext cx="5120640" cy="521208"/>
          </a:xfrm>
          <a:prstGeom prst="rect">
            <a:avLst/>
          </a:prstGeom>
          <a:noFill/>
          <a:ln/>
        </p:spPr>
        <p:txBody>
          <a:bodyPr wrap="square" lIns="0" tIns="0" rIns="0" bIns="0" rtlCol="0" anchor="ctr"/>
          <a:lstStyle/>
          <a:p>
            <a:pPr indent="0" marL="0">
              <a:buNone/>
            </a:pPr>
            <a:r>
              <a:rPr lang="en-US" sz="1500" b="1" dirty="0">
                <a:solidFill>
                  <a:schemeClr val="accent2"/>
                </a:solidFill>
              </a:rPr>
              <a:t>Running apps చూపించు</a:t>
            </a:r>
            <a:endParaRPr lang="en-US" sz="1500" dirty="0"/>
          </a:p>
        </p:txBody>
      </p:sp>
      <p:sp>
        <p:nvSpPr>
          <p:cNvPr id="33" name="arrow"/>
          <p:cNvSpPr/>
          <p:nvPr/>
        </p:nvSpPr>
        <p:spPr>
          <a:xfrm>
            <a:off x="6492240" y="4265676"/>
            <a:ext cx="274320" cy="0"/>
          </a:xfrm>
          <a:prstGeom prst="line">
            <a:avLst/>
          </a:prstGeom>
          <a:noFill/>
          <a:ln w="22225">
            <a:solidFill>
              <a:schemeClr val="accent1"/>
            </a:solidFill>
            <a:prstDash val="solid"/>
            <a:tailEnd type="triangle"/>
          </a:ln>
        </p:spPr>
      </p:sp>
      <p:sp>
        <p:nvSpPr>
          <p:cNvPr id="34" name="Text 31"/>
          <p:cNvSpPr txBox="1"/>
          <p:nvPr/>
        </p:nvSpPr>
        <p:spPr>
          <a:xfrm>
            <a:off x="6949440" y="4005072"/>
            <a:ext cx="4572000" cy="521208"/>
          </a:xfrm>
          <a:prstGeom prst="rect">
            <a:avLst/>
          </a:prstGeom>
          <a:noFill/>
          <a:ln/>
        </p:spPr>
        <p:txBody>
          <a:bodyPr wrap="square" lIns="0" tIns="0" rIns="0" bIns="0" rtlCol="0" anchor="ctr"/>
          <a:lstStyle/>
          <a:p>
            <a:pPr indent="0" marL="0">
              <a:buNone/>
            </a:pPr>
            <a:r>
              <a:rPr lang="en-US" sz="1400" dirty="0">
                <a:solidFill>
                  <a:schemeClr val="tx1"/>
                </a:solidFill>
              </a:rPr>
              <a:t>Lists running windows — Chrome, Notepad</a:t>
            </a:r>
            <a:endParaRPr lang="en-US" sz="1400" dirty="0"/>
          </a:p>
        </p:txBody>
      </p:sp>
      <p:sp>
        <p:nvSpPr>
          <p:cNvPr id="35" name="demo-row"/>
          <p:cNvSpPr/>
          <p:nvPr/>
        </p:nvSpPr>
        <p:spPr>
          <a:xfrm>
            <a:off x="548640" y="4617720"/>
            <a:ext cx="11091672" cy="521208"/>
          </a:xfrm>
          <a:prstGeom prst="roundRect">
            <a:avLst>
              <a:gd name="adj" fmla="val 14035"/>
            </a:avLst>
          </a:prstGeom>
          <a:solidFill>
            <a:schemeClr val="bg2"/>
          </a:solidFill>
          <a:ln w="9525">
            <a:solidFill>
              <a:schemeClr val="accent3"/>
            </a:solidFill>
            <a:prstDash val="solid"/>
          </a:ln>
        </p:spPr>
      </p:sp>
      <p:sp>
        <p:nvSpPr>
          <p:cNvPr id="36" name="step-number"/>
          <p:cNvSpPr/>
          <p:nvPr/>
        </p:nvSpPr>
        <p:spPr>
          <a:xfrm>
            <a:off x="731520" y="4686300"/>
            <a:ext cx="384048" cy="384048"/>
          </a:xfrm>
          <a:prstGeom prst="ellipse">
            <a:avLst/>
          </a:prstGeom>
          <a:solidFill>
            <a:schemeClr val="accent1"/>
          </a:solidFill>
          <a:ln w="6350">
            <a:solidFill>
              <a:schemeClr val="accent1"/>
            </a:solidFill>
            <a:prstDash val="solid"/>
          </a:ln>
        </p:spPr>
      </p:sp>
      <p:sp>
        <p:nvSpPr>
          <p:cNvPr id="37" name="Text 34"/>
          <p:cNvSpPr txBox="1"/>
          <p:nvPr/>
        </p:nvSpPr>
        <p:spPr>
          <a:xfrm>
            <a:off x="731520" y="46863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8" name="Text 35"/>
          <p:cNvSpPr txBox="1"/>
          <p:nvPr/>
        </p:nvSpPr>
        <p:spPr>
          <a:xfrm>
            <a:off x="1325880" y="4617720"/>
            <a:ext cx="5120640" cy="521208"/>
          </a:xfrm>
          <a:prstGeom prst="rect">
            <a:avLst/>
          </a:prstGeom>
          <a:noFill/>
          <a:ln/>
        </p:spPr>
        <p:txBody>
          <a:bodyPr wrap="square" lIns="0" tIns="0" rIns="0" bIns="0" rtlCol="0" anchor="ctr"/>
          <a:lstStyle/>
          <a:p>
            <a:pPr indent="0" marL="0">
              <a:buNone/>
            </a:pPr>
            <a:r>
              <a:rPr lang="en-US" sz="1500" b="1" dirty="0">
                <a:solidFill>
                  <a:schemeClr val="accent2"/>
                </a:solidFill>
              </a:rPr>
              <a:t>Chrome close చెయ్</a:t>
            </a:r>
            <a:endParaRPr lang="en-US" sz="1500" dirty="0"/>
          </a:p>
        </p:txBody>
      </p:sp>
      <p:sp>
        <p:nvSpPr>
          <p:cNvPr id="39" name="arrow"/>
          <p:cNvSpPr/>
          <p:nvPr/>
        </p:nvSpPr>
        <p:spPr>
          <a:xfrm>
            <a:off x="6492240" y="4878324"/>
            <a:ext cx="274320" cy="0"/>
          </a:xfrm>
          <a:prstGeom prst="line">
            <a:avLst/>
          </a:prstGeom>
          <a:noFill/>
          <a:ln w="22225">
            <a:solidFill>
              <a:schemeClr val="accent1"/>
            </a:solidFill>
            <a:prstDash val="solid"/>
            <a:tailEnd type="triangle"/>
          </a:ln>
        </p:spPr>
      </p:sp>
      <p:sp>
        <p:nvSpPr>
          <p:cNvPr id="40" name="Text 37"/>
          <p:cNvSpPr txBox="1"/>
          <p:nvPr/>
        </p:nvSpPr>
        <p:spPr>
          <a:xfrm>
            <a:off x="6949440" y="4617720"/>
            <a:ext cx="4572000" cy="521208"/>
          </a:xfrm>
          <a:prstGeom prst="rect">
            <a:avLst/>
          </a:prstGeom>
          <a:noFill/>
          <a:ln/>
        </p:spPr>
        <p:txBody>
          <a:bodyPr wrap="square" lIns="0" tIns="0" rIns="0" bIns="0" rtlCol="0" anchor="ctr"/>
          <a:lstStyle/>
          <a:p>
            <a:pPr indent="0" marL="0">
              <a:buNone/>
            </a:pPr>
            <a:r>
              <a:rPr lang="en-US" sz="1400" dirty="0">
                <a:solidFill>
                  <a:schemeClr val="tx1"/>
                </a:solidFill>
              </a:rPr>
              <a:t>Chrome is closed</a:t>
            </a:r>
            <a:endParaRPr lang="en-US" sz="1400" dirty="0"/>
          </a:p>
        </p:txBody>
      </p:sp>
      <p:sp>
        <p:nvSpPr>
          <p:cNvPr id="41" name="demo-row"/>
          <p:cNvSpPr/>
          <p:nvPr/>
        </p:nvSpPr>
        <p:spPr>
          <a:xfrm>
            <a:off x="548640" y="5230368"/>
            <a:ext cx="11091672" cy="521208"/>
          </a:xfrm>
          <a:prstGeom prst="roundRect">
            <a:avLst>
              <a:gd name="adj" fmla="val 14035"/>
            </a:avLst>
          </a:prstGeom>
          <a:solidFill>
            <a:schemeClr val="bg2"/>
          </a:solidFill>
          <a:ln w="9525">
            <a:solidFill>
              <a:schemeClr val="accent3"/>
            </a:solidFill>
            <a:prstDash val="solid"/>
          </a:ln>
        </p:spPr>
      </p:sp>
      <p:sp>
        <p:nvSpPr>
          <p:cNvPr id="42" name="step-number"/>
          <p:cNvSpPr/>
          <p:nvPr/>
        </p:nvSpPr>
        <p:spPr>
          <a:xfrm>
            <a:off x="731520" y="5298948"/>
            <a:ext cx="384048" cy="384048"/>
          </a:xfrm>
          <a:prstGeom prst="ellipse">
            <a:avLst/>
          </a:prstGeom>
          <a:solidFill>
            <a:schemeClr val="accent1"/>
          </a:solidFill>
          <a:ln w="6350">
            <a:solidFill>
              <a:schemeClr val="accent1"/>
            </a:solidFill>
            <a:prstDash val="solid"/>
          </a:ln>
        </p:spPr>
      </p:sp>
      <p:sp>
        <p:nvSpPr>
          <p:cNvPr id="43" name="Text 40"/>
          <p:cNvSpPr txBox="1"/>
          <p:nvPr/>
        </p:nvSpPr>
        <p:spPr>
          <a:xfrm>
            <a:off x="731520" y="52989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44" name="Text 41"/>
          <p:cNvSpPr txBox="1"/>
          <p:nvPr/>
        </p:nvSpPr>
        <p:spPr>
          <a:xfrm>
            <a:off x="1325880" y="5230368"/>
            <a:ext cx="5120640" cy="521208"/>
          </a:xfrm>
          <a:prstGeom prst="rect">
            <a:avLst/>
          </a:prstGeom>
          <a:noFill/>
          <a:ln/>
        </p:spPr>
        <p:txBody>
          <a:bodyPr wrap="square" lIns="0" tIns="0" rIns="0" bIns="0" rtlCol="0" anchor="ctr"/>
          <a:lstStyle/>
          <a:p>
            <a:pPr indent="0" marL="0">
              <a:buNone/>
            </a:pPr>
            <a:r>
              <a:rPr lang="en-US" sz="1500" b="1" dirty="0">
                <a:solidFill>
                  <a:schemeClr val="accent2"/>
                </a:solidFill>
              </a:rPr>
              <a:t>Screenshot తీసేయ్</a:t>
            </a:r>
            <a:endParaRPr lang="en-US" sz="1500" dirty="0"/>
          </a:p>
        </p:txBody>
      </p:sp>
      <p:sp>
        <p:nvSpPr>
          <p:cNvPr id="45" name="arrow"/>
          <p:cNvSpPr/>
          <p:nvPr/>
        </p:nvSpPr>
        <p:spPr>
          <a:xfrm>
            <a:off x="6492240" y="5490972"/>
            <a:ext cx="274320" cy="0"/>
          </a:xfrm>
          <a:prstGeom prst="line">
            <a:avLst/>
          </a:prstGeom>
          <a:noFill/>
          <a:ln w="22225">
            <a:solidFill>
              <a:schemeClr val="accent1"/>
            </a:solidFill>
            <a:prstDash val="solid"/>
            <a:tailEnd type="triangle"/>
          </a:ln>
        </p:spPr>
      </p:sp>
      <p:sp>
        <p:nvSpPr>
          <p:cNvPr id="46" name="Text 43"/>
          <p:cNvSpPr txBox="1"/>
          <p:nvPr/>
        </p:nvSpPr>
        <p:spPr>
          <a:xfrm>
            <a:off x="6949440" y="5230368"/>
            <a:ext cx="4572000" cy="521208"/>
          </a:xfrm>
          <a:prstGeom prst="rect">
            <a:avLst/>
          </a:prstGeom>
          <a:noFill/>
          <a:ln/>
        </p:spPr>
        <p:txBody>
          <a:bodyPr wrap="square" lIns="0" tIns="0" rIns="0" bIns="0" rtlCol="0" anchor="ctr"/>
          <a:lstStyle/>
          <a:p>
            <a:pPr indent="0" marL="0">
              <a:buNone/>
            </a:pPr>
            <a:r>
              <a:rPr lang="en-US" sz="1400" dirty="0">
                <a:solidFill>
                  <a:schemeClr val="tx1"/>
                </a:solidFill>
              </a:rPr>
              <a:t>PNG saved to the Desktop</a:t>
            </a:r>
            <a:endParaRPr lang="en-US" sz="1400" dirty="0"/>
          </a:p>
        </p:txBody>
      </p:sp>
      <p:sp>
        <p:nvSpPr>
          <p:cNvPr id="47" name="Text 44"/>
          <p:cNvSpPr txBox="1"/>
          <p:nvPr/>
        </p:nvSpPr>
        <p:spPr>
          <a:xfrm>
            <a:off x="548640" y="5897880"/>
            <a:ext cx="11091672" cy="274320"/>
          </a:xfrm>
          <a:prstGeom prst="rect">
            <a:avLst/>
          </a:prstGeom>
          <a:noFill/>
          <a:ln/>
        </p:spPr>
        <p:txBody>
          <a:bodyPr wrap="square" lIns="0" tIns="0" rIns="0" bIns="0" rtlCol="0" anchor="t"/>
          <a:lstStyle/>
          <a:p>
            <a:pPr indent="0" marL="0">
              <a:buNone/>
            </a:pPr>
            <a:r>
              <a:rPr lang="en-US" sz="1200" dirty="0">
                <a:solidFill>
                  <a:schemeClr val="tx2"/>
                </a:solidFill>
              </a:rPr>
              <a:t>Before the demo:  GEMINI_API_KEY in .env  ·  npm install  ·  npm run dev  (or the packaged portable .exe)</a:t>
            </a:r>
            <a:endParaRPr lang="en-US" sz="1200" dirty="0"/>
          </a:p>
        </p:txBody>
      </p:sp>
      <p:sp>
        <p:nvSpPr>
          <p:cNvPr id="48" name="Text 45"/>
          <p:cNvSpPr txBox="1"/>
          <p:nvPr/>
        </p:nvSpPr>
        <p:spPr>
          <a:xfrm>
            <a:off x="548640" y="6144768"/>
            <a:ext cx="11091672" cy="274320"/>
          </a:xfrm>
          <a:prstGeom prst="rect">
            <a:avLst/>
          </a:prstGeom>
          <a:noFill/>
          <a:ln/>
        </p:spPr>
        <p:txBody>
          <a:bodyPr wrap="square" lIns="0" tIns="0" rIns="0" bIns="0" rtlCol="0" anchor="t"/>
          <a:lstStyle/>
          <a:p>
            <a:pPr indent="0" marL="0">
              <a:buNone/>
            </a:pPr>
            <a:r>
              <a:rPr lang="en-US" sz="1200" dirty="0">
                <a:solidFill>
                  <a:schemeClr val="tx2"/>
                </a:solidFill>
              </a:rPr>
              <a:t>Source code:  </a:t>
            </a:r>
            <a:pPr indent="0" marL="0">
              <a:buNone/>
            </a:pPr>
            <a:r>
              <a:rPr lang="en-US" sz="1200" b="1" u="sng" dirty="0">
                <a:solidFill>
                  <a:schemeClr val="accent2"/>
                </a:solidFill>
                <a:hlinkClick r:id="rId1" invalidUrl="" action="" tgtFrame="" tooltip="Open the ULTRON repository" history="1" highlightClick="0" endSnd="0">
                  <a:extLst>
                    <a:ext uri="{A12FA001-AC4F-418D-AE19-62706E023703}">
                      <ahyp:hlinkClr xmlns:ahyp="http://schemas.microsoft.com/office/drawing/2018/hyperlinkcolor" val="tx"/>
                    </a:ext>
                  </a:extLst>
                </a:hlinkClick>
              </a:rPr>
              <a:t>github.com/ZAHEER-R/Ultron</a:t>
            </a:r>
            <a:endParaRPr lang="en-US" sz="1200" dirty="0"/>
          </a:p>
        </p:txBody>
      </p:sp>
      <p:sp>
        <p:nvSpPr>
          <p:cNvPr id="25" name="Slide Number Placeholder 0"/>
          <p:cNvSpPr>
            <a:spLocks noGrp="1"/>
          </p:cNvSpPr>
          <p:nvPr>
            <p:ph type="sldNum" sz="quarter" idx="4294967295"/>
          </p:nvPr>
        </p:nvSpPr>
        <p:spPr>
          <a:xfrm>
            <a:off x="10972800" y="6437376"/>
            <a:ext cx="667512"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t"/>
          <a:lstStyle/>
          <a:p>
            <a:pPr indent="0" marL="0">
              <a:buNone/>
            </a:pPr>
            <a:r>
              <a:rPr lang="en-US" sz="1100" b="1" spc="300" kern="0" dirty="0">
                <a:solidFill>
                  <a:schemeClr val="accent1"/>
                </a:solidFill>
              </a:rPr>
              <a:t>FUTURE SCOPE</a:t>
            </a:r>
            <a:endParaRPr lang="en-US" sz="1100" dirty="0"/>
          </a:p>
        </p:txBody>
      </p:sp>
      <p:sp>
        <p:nvSpPr>
          <p:cNvPr id="3" name="Text 0"/>
          <p:cNvSpPr/>
          <p:nvPr>
            <p:ph idx="101" type="title" hasCustomPrompt="1"/>
          </p:nvPr>
        </p:nvSpPr>
        <p:spPr>
          <a:xfrm>
            <a:off x="548640" y="640080"/>
            <a:ext cx="11091672" cy="685800"/>
          </a:xfrm>
          <a:prstGeom prst="rect">
            <a:avLst/>
          </a:prstGeom>
          <a:noFill/>
          <a:ln/>
        </p:spPr>
        <p:txBody>
          <a:bodyPr wrap="square" lIns="0" tIns="0" rIns="0" bIns="0" rtlCol="0" anchor="t"/>
          <a:lstStyle/>
          <a:p>
            <a:pPr algn="l" indent="0" marL="0">
              <a:buNone/>
            </a:pPr>
            <a:r>
              <a:rPr lang="en-US" sz="3400" b="1" dirty="0">
                <a:solidFill>
                  <a:schemeClr val="tx1"/>
                </a:solidFill>
              </a:rPr>
              <a:t>What Comes Next</a:t>
            </a:r>
            <a:endParaRPr lang="en-US" sz="3400" dirty="0"/>
          </a:p>
        </p:txBody>
      </p:sp>
      <p:sp>
        <p:nvSpPr>
          <p:cNvPr id="5" name="future-card"/>
          <p:cNvSpPr/>
          <p:nvPr/>
        </p:nvSpPr>
        <p:spPr>
          <a:xfrm>
            <a:off x="548640" y="1554480"/>
            <a:ext cx="3566160" cy="2240280"/>
          </a:xfrm>
          <a:prstGeom prst="roundRect">
            <a:avLst>
              <a:gd name="adj" fmla="val 3265"/>
            </a:avLst>
          </a:prstGeom>
          <a:solidFill>
            <a:schemeClr val="bg2"/>
          </a:solidFill>
          <a:ln w="9525">
            <a:solidFill>
              <a:schemeClr val="accent3"/>
            </a:solidFill>
            <a:prstDash val="solid"/>
          </a:ln>
        </p:spPr>
      </p:sp>
      <p:sp>
        <p:nvSpPr>
          <p:cNvPr id="6" name="icon-circle"/>
          <p:cNvSpPr/>
          <p:nvPr/>
        </p:nvSpPr>
        <p:spPr>
          <a:xfrm>
            <a:off x="777240" y="1783080"/>
            <a:ext cx="548640" cy="548640"/>
          </a:xfrm>
          <a:prstGeom prst="ellipse">
            <a:avLst/>
          </a:prstGeom>
          <a:solidFill>
            <a:schemeClr val="accent4"/>
          </a:solidFill>
          <a:ln w="9525">
            <a:solidFill>
              <a:schemeClr val="accent3"/>
            </a:solidFill>
            <a:prstDash val="solid"/>
          </a:ln>
        </p:spPr>
      </p:sp>
      <p:pic>
        <p:nvPicPr>
          <p:cNvPr id="7" name="Image 0" descr="Repeat icon">    </p:cNvPr>
          <p:cNvPicPr>
            <a:picLocks noChangeAspect="1"/>
          </p:cNvPicPr>
          <p:nvPr/>
        </p:nvPicPr>
        <p:blipFill>
          <a:blip r:embed="rId1"/>
          <a:stretch>
            <a:fillRect/>
          </a:stretch>
        </p:blipFill>
        <p:spPr>
          <a:xfrm>
            <a:off x="908914" y="1914754"/>
            <a:ext cx="285293" cy="285293"/>
          </a:xfrm>
          <a:prstGeom prst="rect">
            <a:avLst/>
          </a:prstGeom>
        </p:spPr>
      </p:pic>
      <p:sp>
        <p:nvSpPr>
          <p:cNvPr id="8" name="Text 4"/>
          <p:cNvSpPr txBox="1"/>
          <p:nvPr/>
        </p:nvSpPr>
        <p:spPr>
          <a:xfrm>
            <a:off x="1463040" y="1783080"/>
            <a:ext cx="2514600" cy="54864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Iterative planning</a:t>
            </a:r>
            <a:endParaRPr lang="en-US" sz="1800" dirty="0"/>
          </a:p>
        </p:txBody>
      </p:sp>
      <p:sp>
        <p:nvSpPr>
          <p:cNvPr id="9" name="Text 5"/>
          <p:cNvSpPr txBox="1"/>
          <p:nvPr/>
        </p:nvSpPr>
        <p:spPr>
          <a:xfrm>
            <a:off x="777240" y="2514600"/>
            <a:ext cx="3154680" cy="1188720"/>
          </a:xfrm>
          <a:prstGeom prst="rect">
            <a:avLst/>
          </a:prstGeom>
          <a:noFill/>
          <a:ln/>
        </p:spPr>
        <p:txBody>
          <a:bodyPr wrap="square" lIns="0" tIns="0" rIns="0" bIns="0" rtlCol="0" anchor="t"/>
          <a:lstStyle/>
          <a:p>
            <a:pPr indent="0" marL="0">
              <a:buNone/>
            </a:pPr>
            <a:r>
              <a:rPr lang="en-US" sz="1400" dirty="0">
                <a:solidFill>
                  <a:schemeClr val="tx2"/>
                </a:solidFill>
              </a:rPr>
              <a:t>Plan → act → observe in a loop until the goal is met, re-planning after each result.</a:t>
            </a:r>
            <a:endParaRPr lang="en-US" sz="1400" dirty="0"/>
          </a:p>
        </p:txBody>
      </p:sp>
      <p:sp>
        <p:nvSpPr>
          <p:cNvPr id="10" name="future-card"/>
          <p:cNvSpPr/>
          <p:nvPr/>
        </p:nvSpPr>
        <p:spPr>
          <a:xfrm>
            <a:off x="4311396" y="1554480"/>
            <a:ext cx="3566160" cy="2240280"/>
          </a:xfrm>
          <a:prstGeom prst="roundRect">
            <a:avLst>
              <a:gd name="adj" fmla="val 3265"/>
            </a:avLst>
          </a:prstGeom>
          <a:solidFill>
            <a:schemeClr val="bg2"/>
          </a:solidFill>
          <a:ln w="9525">
            <a:solidFill>
              <a:schemeClr val="accent3"/>
            </a:solidFill>
            <a:prstDash val="solid"/>
          </a:ln>
        </p:spPr>
      </p:sp>
      <p:sp>
        <p:nvSpPr>
          <p:cNvPr id="11" name="icon-circle"/>
          <p:cNvSpPr/>
          <p:nvPr/>
        </p:nvSpPr>
        <p:spPr>
          <a:xfrm>
            <a:off x="4539996" y="1783080"/>
            <a:ext cx="548640" cy="548640"/>
          </a:xfrm>
          <a:prstGeom prst="ellipse">
            <a:avLst/>
          </a:prstGeom>
          <a:solidFill>
            <a:schemeClr val="accent4"/>
          </a:solidFill>
          <a:ln w="9525">
            <a:solidFill>
              <a:schemeClr val="accent3"/>
            </a:solidFill>
            <a:prstDash val="solid"/>
          </a:ln>
        </p:spPr>
      </p:sp>
      <p:pic>
        <p:nvPicPr>
          <p:cNvPr id="12" name="Image 1" descr="ShieldCheck icon">    </p:cNvPr>
          <p:cNvPicPr>
            <a:picLocks noChangeAspect="1"/>
          </p:cNvPicPr>
          <p:nvPr/>
        </p:nvPicPr>
        <p:blipFill>
          <a:blip r:embed="rId2"/>
          <a:stretch>
            <a:fillRect/>
          </a:stretch>
        </p:blipFill>
        <p:spPr>
          <a:xfrm>
            <a:off x="4671670" y="1914754"/>
            <a:ext cx="285293" cy="285293"/>
          </a:xfrm>
          <a:prstGeom prst="rect">
            <a:avLst/>
          </a:prstGeom>
        </p:spPr>
      </p:pic>
      <p:sp>
        <p:nvSpPr>
          <p:cNvPr id="13" name="Text 8"/>
          <p:cNvSpPr txBox="1"/>
          <p:nvPr/>
        </p:nvSpPr>
        <p:spPr>
          <a:xfrm>
            <a:off x="5225796" y="1783080"/>
            <a:ext cx="2514600" cy="54864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Safety guardrails</a:t>
            </a:r>
            <a:endParaRPr lang="en-US" sz="1800" dirty="0"/>
          </a:p>
        </p:txBody>
      </p:sp>
      <p:sp>
        <p:nvSpPr>
          <p:cNvPr id="14" name="Text 9"/>
          <p:cNvSpPr txBox="1"/>
          <p:nvPr/>
        </p:nvSpPr>
        <p:spPr>
          <a:xfrm>
            <a:off x="4539996" y="2514600"/>
            <a:ext cx="3154680" cy="1188720"/>
          </a:xfrm>
          <a:prstGeom prst="rect">
            <a:avLst/>
          </a:prstGeom>
          <a:noFill/>
          <a:ln/>
        </p:spPr>
        <p:txBody>
          <a:bodyPr wrap="square" lIns="0" tIns="0" rIns="0" bIns="0" rtlCol="0" anchor="t"/>
          <a:lstStyle/>
          <a:p>
            <a:pPr indent="0" marL="0">
              <a:buNone/>
            </a:pPr>
            <a:r>
              <a:rPr lang="en-US" sz="1400" dirty="0">
                <a:solidFill>
                  <a:schemeClr val="tx2"/>
                </a:solidFill>
              </a:rPr>
              <a:t>Ask before deleting, running raw PowerShell, or other risky actions.</a:t>
            </a:r>
            <a:endParaRPr lang="en-US" sz="1400" dirty="0"/>
          </a:p>
        </p:txBody>
      </p:sp>
      <p:sp>
        <p:nvSpPr>
          <p:cNvPr id="15" name="future-card"/>
          <p:cNvSpPr/>
          <p:nvPr/>
        </p:nvSpPr>
        <p:spPr>
          <a:xfrm>
            <a:off x="8074152" y="1554480"/>
            <a:ext cx="3566160" cy="2240280"/>
          </a:xfrm>
          <a:prstGeom prst="roundRect">
            <a:avLst>
              <a:gd name="adj" fmla="val 3265"/>
            </a:avLst>
          </a:prstGeom>
          <a:solidFill>
            <a:schemeClr val="bg2"/>
          </a:solidFill>
          <a:ln w="9525">
            <a:solidFill>
              <a:schemeClr val="accent3"/>
            </a:solidFill>
            <a:prstDash val="solid"/>
          </a:ln>
        </p:spPr>
      </p:sp>
      <p:sp>
        <p:nvSpPr>
          <p:cNvPr id="16" name="icon-circle"/>
          <p:cNvSpPr/>
          <p:nvPr/>
        </p:nvSpPr>
        <p:spPr>
          <a:xfrm>
            <a:off x="8302752" y="1783080"/>
            <a:ext cx="548640" cy="548640"/>
          </a:xfrm>
          <a:prstGeom prst="ellipse">
            <a:avLst/>
          </a:prstGeom>
          <a:solidFill>
            <a:schemeClr val="accent4"/>
          </a:solidFill>
          <a:ln w="9525">
            <a:solidFill>
              <a:schemeClr val="accent3"/>
            </a:solidFill>
            <a:prstDash val="solid"/>
          </a:ln>
        </p:spPr>
      </p:sp>
      <p:pic>
        <p:nvPicPr>
          <p:cNvPr id="17" name="Image 2" descr="Database icon">    </p:cNvPr>
          <p:cNvPicPr>
            <a:picLocks noChangeAspect="1"/>
          </p:cNvPicPr>
          <p:nvPr/>
        </p:nvPicPr>
        <p:blipFill>
          <a:blip r:embed="rId3"/>
          <a:stretch>
            <a:fillRect/>
          </a:stretch>
        </p:blipFill>
        <p:spPr>
          <a:xfrm>
            <a:off x="8434426" y="1914754"/>
            <a:ext cx="285293" cy="285293"/>
          </a:xfrm>
          <a:prstGeom prst="rect">
            <a:avLst/>
          </a:prstGeom>
        </p:spPr>
      </p:pic>
      <p:sp>
        <p:nvSpPr>
          <p:cNvPr id="18" name="Text 12"/>
          <p:cNvSpPr txBox="1"/>
          <p:nvPr/>
        </p:nvSpPr>
        <p:spPr>
          <a:xfrm>
            <a:off x="8988552" y="1783080"/>
            <a:ext cx="2514600" cy="54864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Persistent memory</a:t>
            </a:r>
            <a:endParaRPr lang="en-US" sz="1800" dirty="0"/>
          </a:p>
        </p:txBody>
      </p:sp>
      <p:sp>
        <p:nvSpPr>
          <p:cNvPr id="19" name="Text 13"/>
          <p:cNvSpPr txBox="1"/>
          <p:nvPr/>
        </p:nvSpPr>
        <p:spPr>
          <a:xfrm>
            <a:off x="8302752" y="2514600"/>
            <a:ext cx="3154680" cy="1188720"/>
          </a:xfrm>
          <a:prstGeom prst="rect">
            <a:avLst/>
          </a:prstGeom>
          <a:noFill/>
          <a:ln/>
        </p:spPr>
        <p:txBody>
          <a:bodyPr wrap="square" lIns="0" tIns="0" rIns="0" bIns="0" rtlCol="0" anchor="t"/>
          <a:lstStyle/>
          <a:p>
            <a:pPr indent="0" marL="0">
              <a:buNone/>
            </a:pPr>
            <a:r>
              <a:rPr lang="en-US" sz="1400" dirty="0">
                <a:solidFill>
                  <a:schemeClr val="tx2"/>
                </a:solidFill>
              </a:rPr>
              <a:t>Bring back SQLite memory so ULTRON remembers facts and history across sessions.</a:t>
            </a:r>
            <a:endParaRPr lang="en-US" sz="1400" dirty="0"/>
          </a:p>
        </p:txBody>
      </p:sp>
      <p:sp>
        <p:nvSpPr>
          <p:cNvPr id="20" name="future-card"/>
          <p:cNvSpPr/>
          <p:nvPr/>
        </p:nvSpPr>
        <p:spPr>
          <a:xfrm>
            <a:off x="548640" y="3931920"/>
            <a:ext cx="3566160" cy="2240280"/>
          </a:xfrm>
          <a:prstGeom prst="roundRect">
            <a:avLst>
              <a:gd name="adj" fmla="val 3265"/>
            </a:avLst>
          </a:prstGeom>
          <a:solidFill>
            <a:schemeClr val="bg2"/>
          </a:solidFill>
          <a:ln w="9525">
            <a:solidFill>
              <a:schemeClr val="accent3"/>
            </a:solidFill>
            <a:prstDash val="solid"/>
          </a:ln>
        </p:spPr>
      </p:sp>
      <p:sp>
        <p:nvSpPr>
          <p:cNvPr id="21" name="icon-circle"/>
          <p:cNvSpPr/>
          <p:nvPr/>
        </p:nvSpPr>
        <p:spPr>
          <a:xfrm>
            <a:off x="777240" y="4160520"/>
            <a:ext cx="548640" cy="548640"/>
          </a:xfrm>
          <a:prstGeom prst="ellipse">
            <a:avLst/>
          </a:prstGeom>
          <a:solidFill>
            <a:schemeClr val="accent4"/>
          </a:solidFill>
          <a:ln w="9525">
            <a:solidFill>
              <a:schemeClr val="accent3"/>
            </a:solidFill>
            <a:prstDash val="solid"/>
          </a:ln>
        </p:spPr>
      </p:sp>
      <p:pic>
        <p:nvPicPr>
          <p:cNvPr id="22" name="Image 3" descr="Hand icon">    </p:cNvPr>
          <p:cNvPicPr>
            <a:picLocks noChangeAspect="1"/>
          </p:cNvPicPr>
          <p:nvPr/>
        </p:nvPicPr>
        <p:blipFill>
          <a:blip r:embed="rId4"/>
          <a:stretch>
            <a:fillRect/>
          </a:stretch>
        </p:blipFill>
        <p:spPr>
          <a:xfrm>
            <a:off x="908914" y="4292194"/>
            <a:ext cx="285293" cy="285293"/>
          </a:xfrm>
          <a:prstGeom prst="rect">
            <a:avLst/>
          </a:prstGeom>
        </p:spPr>
      </p:pic>
      <p:sp>
        <p:nvSpPr>
          <p:cNvPr id="23" name="Text 16"/>
          <p:cNvSpPr txBox="1"/>
          <p:nvPr/>
        </p:nvSpPr>
        <p:spPr>
          <a:xfrm>
            <a:off x="1463040" y="4160520"/>
            <a:ext cx="2514600" cy="54864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Hands-free control</a:t>
            </a:r>
            <a:endParaRPr lang="en-US" sz="1800" dirty="0"/>
          </a:p>
        </p:txBody>
      </p:sp>
      <p:sp>
        <p:nvSpPr>
          <p:cNvPr id="24" name="Text 17"/>
          <p:cNvSpPr txBox="1"/>
          <p:nvPr/>
        </p:nvSpPr>
        <p:spPr>
          <a:xfrm>
            <a:off x="777240" y="4892040"/>
            <a:ext cx="3154680" cy="1188720"/>
          </a:xfrm>
          <a:prstGeom prst="rect">
            <a:avLst/>
          </a:prstGeom>
          <a:noFill/>
          <a:ln/>
        </p:spPr>
        <p:txBody>
          <a:bodyPr wrap="square" lIns="0" tIns="0" rIns="0" bIns="0" rtlCol="0" anchor="t"/>
          <a:lstStyle/>
          <a:p>
            <a:pPr indent="0" marL="0">
              <a:buNone/>
            </a:pPr>
            <a:r>
              <a:rPr lang="en-US" sz="1400" dirty="0">
                <a:solidFill>
                  <a:schemeClr val="tx2"/>
                </a:solidFill>
              </a:rPr>
              <a:t>Revive MediaPipe gestures and add wake-word voice in Telugu (te-IN).</a:t>
            </a:r>
            <a:endParaRPr lang="en-US" sz="1400" dirty="0"/>
          </a:p>
        </p:txBody>
      </p:sp>
      <p:sp>
        <p:nvSpPr>
          <p:cNvPr id="25" name="future-card"/>
          <p:cNvSpPr/>
          <p:nvPr/>
        </p:nvSpPr>
        <p:spPr>
          <a:xfrm>
            <a:off x="4311396" y="3931920"/>
            <a:ext cx="3566160" cy="2240280"/>
          </a:xfrm>
          <a:prstGeom prst="roundRect">
            <a:avLst>
              <a:gd name="adj" fmla="val 3265"/>
            </a:avLst>
          </a:prstGeom>
          <a:solidFill>
            <a:schemeClr val="bg2"/>
          </a:solidFill>
          <a:ln w="9525">
            <a:solidFill>
              <a:schemeClr val="accent3"/>
            </a:solidFill>
            <a:prstDash val="solid"/>
          </a:ln>
        </p:spPr>
      </p:sp>
      <p:sp>
        <p:nvSpPr>
          <p:cNvPr id="26" name="icon-circle"/>
          <p:cNvSpPr/>
          <p:nvPr/>
        </p:nvSpPr>
        <p:spPr>
          <a:xfrm>
            <a:off x="4539996" y="4160520"/>
            <a:ext cx="548640" cy="548640"/>
          </a:xfrm>
          <a:prstGeom prst="ellipse">
            <a:avLst/>
          </a:prstGeom>
          <a:solidFill>
            <a:schemeClr val="accent4"/>
          </a:solidFill>
          <a:ln w="9525">
            <a:solidFill>
              <a:schemeClr val="accent3"/>
            </a:solidFill>
            <a:prstDash val="solid"/>
          </a:ln>
        </p:spPr>
      </p:sp>
      <p:pic>
        <p:nvPicPr>
          <p:cNvPr id="27" name="Image 4" descr="ScanEye icon">    </p:cNvPr>
          <p:cNvPicPr>
            <a:picLocks noChangeAspect="1"/>
          </p:cNvPicPr>
          <p:nvPr/>
        </p:nvPicPr>
        <p:blipFill>
          <a:blip r:embed="rId5"/>
          <a:stretch>
            <a:fillRect/>
          </a:stretch>
        </p:blipFill>
        <p:spPr>
          <a:xfrm>
            <a:off x="4671670" y="4292194"/>
            <a:ext cx="285293" cy="285293"/>
          </a:xfrm>
          <a:prstGeom prst="rect">
            <a:avLst/>
          </a:prstGeom>
        </p:spPr>
      </p:pic>
      <p:sp>
        <p:nvSpPr>
          <p:cNvPr id="28" name="Text 20"/>
          <p:cNvSpPr txBox="1"/>
          <p:nvPr/>
        </p:nvSpPr>
        <p:spPr>
          <a:xfrm>
            <a:off x="5225796" y="4160520"/>
            <a:ext cx="2514600" cy="54864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Screen vision</a:t>
            </a:r>
            <a:endParaRPr lang="en-US" sz="1800" dirty="0"/>
          </a:p>
        </p:txBody>
      </p:sp>
      <p:sp>
        <p:nvSpPr>
          <p:cNvPr id="29" name="Text 21"/>
          <p:cNvSpPr txBox="1"/>
          <p:nvPr/>
        </p:nvSpPr>
        <p:spPr>
          <a:xfrm>
            <a:off x="4539996" y="4892040"/>
            <a:ext cx="3154680" cy="1188720"/>
          </a:xfrm>
          <a:prstGeom prst="rect">
            <a:avLst/>
          </a:prstGeom>
          <a:noFill/>
          <a:ln/>
        </p:spPr>
        <p:txBody>
          <a:bodyPr wrap="square" lIns="0" tIns="0" rIns="0" bIns="0" rtlCol="0" anchor="t"/>
          <a:lstStyle/>
          <a:p>
            <a:pPr indent="0" marL="0">
              <a:buNone/>
            </a:pPr>
            <a:r>
              <a:rPr lang="en-US" sz="1400" dirty="0">
                <a:solidFill>
                  <a:schemeClr val="tx2"/>
                </a:solidFill>
              </a:rPr>
              <a:t>Send screenshots to Gemini so the agent can see and act on what is on screen.</a:t>
            </a:r>
            <a:endParaRPr lang="en-US" sz="1400" dirty="0"/>
          </a:p>
        </p:txBody>
      </p:sp>
      <p:sp>
        <p:nvSpPr>
          <p:cNvPr id="30" name="future-card"/>
          <p:cNvSpPr/>
          <p:nvPr/>
        </p:nvSpPr>
        <p:spPr>
          <a:xfrm>
            <a:off x="8074152" y="3931920"/>
            <a:ext cx="3566160" cy="2240280"/>
          </a:xfrm>
          <a:prstGeom prst="roundRect">
            <a:avLst>
              <a:gd name="adj" fmla="val 3265"/>
            </a:avLst>
          </a:prstGeom>
          <a:solidFill>
            <a:schemeClr val="bg2"/>
          </a:solidFill>
          <a:ln w="9525">
            <a:solidFill>
              <a:schemeClr val="accent3"/>
            </a:solidFill>
            <a:prstDash val="solid"/>
          </a:ln>
        </p:spPr>
      </p:sp>
      <p:sp>
        <p:nvSpPr>
          <p:cNvPr id="31" name="icon-circle"/>
          <p:cNvSpPr/>
          <p:nvPr/>
        </p:nvSpPr>
        <p:spPr>
          <a:xfrm>
            <a:off x="8302752" y="4160520"/>
            <a:ext cx="548640" cy="548640"/>
          </a:xfrm>
          <a:prstGeom prst="ellipse">
            <a:avLst/>
          </a:prstGeom>
          <a:solidFill>
            <a:schemeClr val="accent4"/>
          </a:solidFill>
          <a:ln w="9525">
            <a:solidFill>
              <a:schemeClr val="accent3"/>
            </a:solidFill>
            <a:prstDash val="solid"/>
          </a:ln>
        </p:spPr>
      </p:sp>
      <p:pic>
        <p:nvPicPr>
          <p:cNvPr id="32" name="Image 5" descr="Smartphone icon">    </p:cNvPr>
          <p:cNvPicPr>
            <a:picLocks noChangeAspect="1"/>
          </p:cNvPicPr>
          <p:nvPr/>
        </p:nvPicPr>
        <p:blipFill>
          <a:blip r:embed="rId6"/>
          <a:stretch>
            <a:fillRect/>
          </a:stretch>
        </p:blipFill>
        <p:spPr>
          <a:xfrm>
            <a:off x="8434426" y="4292194"/>
            <a:ext cx="285293" cy="285293"/>
          </a:xfrm>
          <a:prstGeom prst="rect">
            <a:avLst/>
          </a:prstGeom>
        </p:spPr>
      </p:pic>
      <p:sp>
        <p:nvSpPr>
          <p:cNvPr id="33" name="Text 24"/>
          <p:cNvSpPr txBox="1"/>
          <p:nvPr/>
        </p:nvSpPr>
        <p:spPr>
          <a:xfrm>
            <a:off x="8988552" y="4160520"/>
            <a:ext cx="2514600" cy="54864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Android control</a:t>
            </a:r>
            <a:endParaRPr lang="en-US" sz="1800" dirty="0"/>
          </a:p>
        </p:txBody>
      </p:sp>
      <p:sp>
        <p:nvSpPr>
          <p:cNvPr id="34" name="Text 25"/>
          <p:cNvSpPr txBox="1"/>
          <p:nvPr/>
        </p:nvSpPr>
        <p:spPr>
          <a:xfrm>
            <a:off x="8302752" y="4892040"/>
            <a:ext cx="3154680" cy="1188720"/>
          </a:xfrm>
          <a:prstGeom prst="rect">
            <a:avLst/>
          </a:prstGeom>
          <a:noFill/>
          <a:ln/>
        </p:spPr>
        <p:txBody>
          <a:bodyPr wrap="square" lIns="0" tIns="0" rIns="0" bIns="0" rtlCol="0" anchor="t"/>
          <a:lstStyle/>
          <a:p>
            <a:pPr indent="0" marL="0">
              <a:buNone/>
            </a:pPr>
            <a:r>
              <a:rPr lang="en-US" sz="1400" dirty="0">
                <a:solidFill>
                  <a:schemeClr val="tx2"/>
                </a:solidFill>
              </a:rPr>
              <a:t>Extend the same tool-calling design to Android devices.</a:t>
            </a:r>
            <a:endParaRPr lang="en-US" sz="1400" dirty="0"/>
          </a:p>
        </p:txBody>
      </p:sp>
      <p:sp>
        <p:nvSpPr>
          <p:cNvPr id="25" name="Slide Number Placeholder 0"/>
          <p:cNvSpPr>
            <a:spLocks noGrp="1"/>
          </p:cNvSpPr>
          <p:nvPr>
            <p:ph type="sldNum" sz="quarter" idx="4294967295"/>
          </p:nvPr>
        </p:nvSpPr>
        <p:spPr>
          <a:xfrm>
            <a:off x="10972800" y="6437376"/>
            <a:ext cx="667512"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0"/>
          <p:cNvSpPr txBox="1"/>
          <p:nvPr/>
        </p:nvSpPr>
        <p:spPr>
          <a:xfrm>
            <a:off x="731520" y="2103120"/>
            <a:ext cx="6400800" cy="914400"/>
          </a:xfrm>
          <a:prstGeom prst="rect">
            <a:avLst/>
          </a:prstGeom>
          <a:noFill/>
          <a:ln/>
        </p:spPr>
        <p:txBody>
          <a:bodyPr wrap="square" lIns="0" tIns="0" rIns="0" bIns="0" rtlCol="0" anchor="t"/>
          <a:lstStyle/>
          <a:p>
            <a:pPr indent="0" marL="0">
              <a:buNone/>
            </a:pPr>
            <a:r>
              <a:rPr lang="en-US" sz="5400" b="1" dirty="0">
                <a:solidFill>
                  <a:schemeClr val="tx1"/>
                </a:solidFill>
                <a:latin typeface="Cambria" pitchFamily="34" charset="0"/>
                <a:ea typeface="Cambria" pitchFamily="34" charset="-122"/>
                <a:cs typeface="Cambria" pitchFamily="34" charset="-120"/>
              </a:rPr>
              <a:t>Thank You</a:t>
            </a:r>
            <a:endParaRPr lang="en-US" sz="5400" dirty="0"/>
          </a:p>
        </p:txBody>
      </p:sp>
      <p:sp>
        <p:nvSpPr>
          <p:cNvPr id="4" name="Text 1"/>
          <p:cNvSpPr txBox="1"/>
          <p:nvPr/>
        </p:nvSpPr>
        <p:spPr>
          <a:xfrm>
            <a:off x="731520" y="3108960"/>
            <a:ext cx="6400800" cy="457200"/>
          </a:xfrm>
          <a:prstGeom prst="rect">
            <a:avLst/>
          </a:prstGeom>
          <a:noFill/>
          <a:ln/>
        </p:spPr>
        <p:txBody>
          <a:bodyPr wrap="square" lIns="0" tIns="0" rIns="0" bIns="0" rtlCol="0" anchor="t"/>
          <a:lstStyle/>
          <a:p>
            <a:pPr indent="0" marL="0">
              <a:buNone/>
            </a:pPr>
            <a:r>
              <a:rPr lang="en-US" sz="2200" b="1" dirty="0">
                <a:solidFill>
                  <a:schemeClr val="accent2"/>
                </a:solidFill>
              </a:rPr>
              <a:t>Questions &amp; Feedback Welcome</a:t>
            </a:r>
            <a:endParaRPr lang="en-US" sz="2200" dirty="0"/>
          </a:p>
        </p:txBody>
      </p:sp>
      <p:sp>
        <p:nvSpPr>
          <p:cNvPr id="5" name="Text 2"/>
          <p:cNvSpPr txBox="1"/>
          <p:nvPr/>
        </p:nvSpPr>
        <p:spPr>
          <a:xfrm>
            <a:off x="731520" y="4343400"/>
            <a:ext cx="2926080" cy="731520"/>
          </a:xfrm>
          <a:prstGeom prst="rect">
            <a:avLst/>
          </a:prstGeom>
          <a:noFill/>
          <a:ln/>
        </p:spPr>
        <p:txBody>
          <a:bodyPr wrap="square" lIns="0" tIns="0" rIns="0" bIns="0" rtlCol="0" anchor="t"/>
          <a:lstStyle/>
          <a:p>
            <a:pPr indent="0" marL="0">
              <a:buNone/>
            </a:pPr>
            <a:r>
              <a:rPr lang="en-US" sz="1600" b="1" dirty="0">
                <a:solidFill>
                  <a:schemeClr val="tx1"/>
                </a:solidFill>
              </a:rPr>
              <a:t>Rachakula Zaheer</a:t>
            </a:r>
            <a:endParaRPr lang="en-US" sz="1600" dirty="0"/>
          </a:p>
          <a:p>
            <a:pPr indent="0" marL="0">
              <a:buNone/>
            </a:pPr>
            <a:r>
              <a:rPr lang="en-US" sz="1600" dirty="0">
                <a:solidFill>
                  <a:schemeClr val="tx2"/>
                </a:solidFill>
              </a:rPr>
              <a:t>24MIS0203</a:t>
            </a:r>
            <a:endParaRPr lang="en-US" sz="1600" dirty="0"/>
          </a:p>
        </p:txBody>
      </p:sp>
      <p:sp>
        <p:nvSpPr>
          <p:cNvPr id="6" name="Text 3"/>
          <p:cNvSpPr txBox="1"/>
          <p:nvPr/>
        </p:nvSpPr>
        <p:spPr>
          <a:xfrm>
            <a:off x="3840480" y="4343400"/>
            <a:ext cx="2926080" cy="731520"/>
          </a:xfrm>
          <a:prstGeom prst="rect">
            <a:avLst/>
          </a:prstGeom>
          <a:noFill/>
          <a:ln/>
        </p:spPr>
        <p:txBody>
          <a:bodyPr wrap="square" lIns="0" tIns="0" rIns="0" bIns="0" rtlCol="0" anchor="t"/>
          <a:lstStyle/>
          <a:p>
            <a:pPr indent="0" marL="0">
              <a:buNone/>
            </a:pPr>
            <a:r>
              <a:rPr lang="en-US" sz="1600" b="1" dirty="0">
                <a:solidFill>
                  <a:schemeClr val="tx1"/>
                </a:solidFill>
              </a:rPr>
              <a:t>S. Manoj Goud</a:t>
            </a:r>
            <a:endParaRPr lang="en-US" sz="1600" dirty="0"/>
          </a:p>
          <a:p>
            <a:pPr indent="0" marL="0">
              <a:buNone/>
            </a:pPr>
            <a:r>
              <a:rPr lang="en-US" sz="1600" dirty="0">
                <a:solidFill>
                  <a:schemeClr val="tx2"/>
                </a:solidFill>
              </a:rPr>
              <a:t>24MIS0267</a:t>
            </a:r>
            <a:endParaRPr lang="en-US" sz="1600" dirty="0"/>
          </a:p>
        </p:txBody>
      </p:sp>
      <p:sp>
        <p:nvSpPr>
          <p:cNvPr id="7" name="Text 4"/>
          <p:cNvSpPr txBox="1"/>
          <p:nvPr/>
        </p:nvSpPr>
        <p:spPr>
          <a:xfrm>
            <a:off x="731520" y="5440680"/>
            <a:ext cx="6400800" cy="274320"/>
          </a:xfrm>
          <a:prstGeom prst="rect">
            <a:avLst/>
          </a:prstGeom>
          <a:noFill/>
          <a:ln/>
        </p:spPr>
        <p:txBody>
          <a:bodyPr wrap="square" lIns="0" tIns="0" rIns="0" bIns="0" rtlCol="0" anchor="t"/>
          <a:lstStyle/>
          <a:p>
            <a:pPr indent="0" marL="0">
              <a:buNone/>
            </a:pPr>
            <a:r>
              <a:rPr lang="en-US" sz="1600" dirty="0">
                <a:solidFill>
                  <a:schemeClr val="tx2"/>
                </a:solidFill>
              </a:rPr>
              <a:t>GitHub:  </a:t>
            </a:r>
            <a:pPr indent="0" marL="0">
              <a:buNone/>
            </a:pPr>
            <a:r>
              <a:rPr lang="en-US" sz="1600" b="1" u="sng" dirty="0">
                <a:solidFill>
                  <a:schemeClr val="accent2"/>
                </a:solidFill>
                <a:hlinkClick r:id="rId1" invalidUrl="" action="" tgtFrame="" tooltip="Open the ULTRON repository" history="1" highlightClick="0" endSnd="0">
                  <a:extLst>
                    <a:ext uri="{A12FA001-AC4F-418D-AE19-62706E023703}">
                      <ahyp:hlinkClr xmlns:ahyp="http://schemas.microsoft.com/office/drawing/2018/hyperlinkcolor" val="tx"/>
                    </a:ext>
                  </a:extLst>
                </a:hlinkClick>
              </a:rPr>
              <a:t>github.com/ZAHEER-R/Ultron</a:t>
            </a:r>
            <a:endParaRPr lang="en-US" sz="1600" dirty="0"/>
          </a:p>
        </p:txBody>
      </p:sp>
      <p:sp>
        <p:nvSpPr>
          <p:cNvPr id="8" name="orb-ring"/>
          <p:cNvSpPr/>
          <p:nvPr/>
        </p:nvSpPr>
        <p:spPr>
          <a:xfrm>
            <a:off x="8115300" y="1851660"/>
            <a:ext cx="3154680" cy="3154680"/>
          </a:xfrm>
          <a:prstGeom prst="ellipse">
            <a:avLst/>
          </a:prstGeom>
          <a:ln w="12700">
            <a:solidFill>
              <a:schemeClr val="accent1">
                <a:alpha val="20000"/>
              </a:schemeClr>
            </a:solidFill>
            <a:prstDash val="solid"/>
          </a:ln>
        </p:spPr>
      </p:sp>
      <p:sp>
        <p:nvSpPr>
          <p:cNvPr id="9" name="orb-ring"/>
          <p:cNvSpPr/>
          <p:nvPr/>
        </p:nvSpPr>
        <p:spPr>
          <a:xfrm>
            <a:off x="8423910" y="2160270"/>
            <a:ext cx="2537460" cy="2537460"/>
          </a:xfrm>
          <a:prstGeom prst="ellipse">
            <a:avLst/>
          </a:prstGeom>
          <a:ln w="12700">
            <a:solidFill>
              <a:schemeClr val="accent1">
                <a:alpha val="35000"/>
              </a:schemeClr>
            </a:solidFill>
            <a:prstDash val="solid"/>
          </a:ln>
        </p:spPr>
      </p:sp>
      <p:sp>
        <p:nvSpPr>
          <p:cNvPr id="10" name="orb-ring"/>
          <p:cNvSpPr/>
          <p:nvPr/>
        </p:nvSpPr>
        <p:spPr>
          <a:xfrm>
            <a:off x="8732520" y="2468880"/>
            <a:ext cx="1920240" cy="1920240"/>
          </a:xfrm>
          <a:prstGeom prst="ellipse">
            <a:avLst/>
          </a:prstGeom>
          <a:ln w="12700">
            <a:solidFill>
              <a:schemeClr val="accent1">
                <a:alpha val="55000"/>
              </a:schemeClr>
            </a:solidFill>
            <a:prstDash val="solid"/>
          </a:ln>
        </p:spPr>
      </p:sp>
      <p:sp>
        <p:nvSpPr>
          <p:cNvPr id="11" name="orb-glow"/>
          <p:cNvSpPr/>
          <p:nvPr/>
        </p:nvSpPr>
        <p:spPr>
          <a:xfrm>
            <a:off x="8595360" y="2331720"/>
            <a:ext cx="2194560" cy="2194560"/>
          </a:xfrm>
          <a:prstGeom prst="ellipse">
            <a:avLst/>
          </a:prstGeom>
          <a:solidFill>
            <a:schemeClr val="accent1">
              <a:alpha val="12000"/>
            </a:schemeClr>
          </a:solidFill>
          <a:ln/>
        </p:spPr>
      </p:sp>
      <p:sp>
        <p:nvSpPr>
          <p:cNvPr id="12" name="orb-core"/>
          <p:cNvSpPr/>
          <p:nvPr/>
        </p:nvSpPr>
        <p:spPr>
          <a:xfrm>
            <a:off x="9006840" y="2743200"/>
            <a:ext cx="1371600" cy="1371600"/>
          </a:xfrm>
          <a:prstGeom prst="ellipse">
            <a:avLst/>
          </a:prstGeom>
          <a:solidFill>
            <a:schemeClr val="accent1"/>
          </a:solidFill>
          <a:ln w="19050">
            <a:solidFill>
              <a:schemeClr val="accent2"/>
            </a:solidFill>
            <a:prstDash val="solid"/>
          </a:ln>
        </p:spPr>
      </p:sp>
    </p:spTree>
  </p:cSld>
  <p:clrMapOvr>
    <a:masterClrMapping/>
  </p:clrMapOvr>
</p:sld>
</file>

<file path=ppt/theme/theme1.xml><?xml version="1.0" encoding="utf-8"?>
<a:theme xmlns:a="http://schemas.openxmlformats.org/drawingml/2006/main" name="ULTRON Review 2">
  <a:themeElements>
    <a:clrScheme name="ULTRON Review 2">
      <a:dk1>
        <a:srgbClr val="F5F3EF"/>
      </a:dk1>
      <a:lt1>
        <a:srgbClr val="0A0A0C"/>
      </a:lt1>
      <a:dk2>
        <a:srgbClr val="A6A2AA"/>
      </a:dk2>
      <a:lt2>
        <a:srgbClr val="15151A"/>
      </a:lt2>
      <a:accent1>
        <a:srgbClr val="FF8C1A"/>
      </a:accent1>
      <a:accent2>
        <a:srgbClr val="FFC24C"/>
      </a:accent2>
      <a:accent3>
        <a:srgbClr val="2B2B33"/>
      </a:accent3>
      <a:accent4>
        <a:srgbClr val="1F1A14"/>
      </a:accent4>
      <a:accent5>
        <a:srgbClr val="4ADE80"/>
      </a:accent5>
      <a:accent6>
        <a:srgbClr val="FF6B6B"/>
      </a:accent6>
      <a:hlink>
        <a:srgbClr val="FFC24C"/>
      </a:hlink>
      <a:folHlink>
        <a:srgbClr val="A6A2AA"/>
      </a:folHlink>
    </a:clrScheme>
    <a:fontScheme name="ULTRON Review 2">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ULTRON - Project Review 2</dc:title>
  <dc:subject>PptxGenJS Presentation</dc:subject>
  <dc:creator>Rachakula Zaheer, S. Manoj Goud</dc:creator>
  <cp:lastModifiedBy>Rachakula Zaheer, S. Manoj Goud</cp:lastModifiedBy>
  <cp:revision>1</cp:revision>
  <dcterms:created xsi:type="dcterms:W3CDTF">2026-10-04T15:30:37Z</dcterms:created>
  <dcterms:modified xsi:type="dcterms:W3CDTF">2026-10-04T15:30:37Z</dcterms:modified>
</cp:coreProperties>
</file>